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imes New Roman" charset="1" panose="02020603050405020304"/>
      <p:regular r:id="rId19"/>
    </p:embeddedFont>
    <p:embeddedFont>
      <p:font typeface="Times New Roman Bold" charset="1" panose="02020803070505020304"/>
      <p:regular r:id="rId20"/>
    </p:embeddedFont>
    <p:embeddedFont>
      <p:font typeface="Marcellus" charset="1" panose="020E0602050203020307"/>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28" Target="notesSlides/notesSlide9.xml" Type="http://schemas.openxmlformats.org/officeDocument/2006/relationships/notesSlide"/><Relationship Id="rId29" Target="notesSlides/notesSlide10.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12" Target="../media/image18.png" Type="http://schemas.openxmlformats.org/officeDocument/2006/relationships/image"/><Relationship Id="rId13" Target="../media/image19.svg" Type="http://schemas.openxmlformats.org/officeDocument/2006/relationships/image"/><Relationship Id="rId14" Target="../media/image20.png" Type="http://schemas.openxmlformats.org/officeDocument/2006/relationships/image"/><Relationship Id="rId15" Target="../media/image21.svg" Type="http://schemas.openxmlformats.org/officeDocument/2006/relationships/image"/><Relationship Id="rId2" Target="../notesSlides/notesSlide2.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2.pn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5.png" Type="http://schemas.openxmlformats.org/officeDocument/2006/relationships/image"/><Relationship Id="rId4" Target="../media/image26.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3.png" Type="http://schemas.openxmlformats.org/officeDocument/2006/relationships/image"/><Relationship Id="rId4" Target="../media/image2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8.png" Type="http://schemas.openxmlformats.org/officeDocument/2006/relationships/image"/><Relationship Id="rId4" Target="../media/image19.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2.pn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3.pn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 Id="rId6" Target="../media/image36.pn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https://gamma.app/?utm_source=made-with-gamma" TargetMode="External" Type="http://schemas.openxmlformats.org/officeDocument/2006/relationships/hyperlink"/><Relationship Id="rId4" Target="../media/image37.png" Type="http://schemas.openxmlformats.org/officeDocument/2006/relationships/image"/><Relationship Id="rId5" Target="../media/image3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59999">
            <a:off x="-88374" y="-158801"/>
            <a:ext cx="18464748" cy="10604603"/>
          </a:xfrm>
          <a:custGeom>
            <a:avLst/>
            <a:gdLst/>
            <a:ahLst/>
            <a:cxnLst/>
            <a:rect r="r" b="b" t="t" l="l"/>
            <a:pathLst>
              <a:path h="10604603" w="18464748">
                <a:moveTo>
                  <a:pt x="18464748" y="319169"/>
                </a:moveTo>
                <a:lnTo>
                  <a:pt x="179533" y="0"/>
                </a:lnTo>
                <a:lnTo>
                  <a:pt x="0" y="10285433"/>
                </a:lnTo>
                <a:lnTo>
                  <a:pt x="18285215" y="10604602"/>
                </a:lnTo>
                <a:lnTo>
                  <a:pt x="18464748" y="319169"/>
                </a:lnTo>
                <a:close/>
              </a:path>
            </a:pathLst>
          </a:custGeom>
          <a:blipFill>
            <a:blip r:embed="rId3"/>
            <a:stretch>
              <a:fillRect l="-1966" t="-84" r="-773" b="-19213"/>
            </a:stretch>
          </a:blipFill>
        </p:spPr>
      </p:sp>
      <p:grpSp>
        <p:nvGrpSpPr>
          <p:cNvPr name="Group 3" id="3"/>
          <p:cNvGrpSpPr/>
          <p:nvPr/>
        </p:nvGrpSpPr>
        <p:grpSpPr>
          <a:xfrm rot="0">
            <a:off x="4191521" y="3349077"/>
            <a:ext cx="9904959" cy="3588846"/>
            <a:chOff x="0" y="0"/>
            <a:chExt cx="2608713" cy="945211"/>
          </a:xfrm>
        </p:grpSpPr>
        <p:sp>
          <p:nvSpPr>
            <p:cNvPr name="Freeform 4" id="4"/>
            <p:cNvSpPr/>
            <p:nvPr/>
          </p:nvSpPr>
          <p:spPr>
            <a:xfrm flipH="false" flipV="false" rot="0">
              <a:off x="0" y="0"/>
              <a:ext cx="2608713" cy="945211"/>
            </a:xfrm>
            <a:custGeom>
              <a:avLst/>
              <a:gdLst/>
              <a:ahLst/>
              <a:cxnLst/>
              <a:rect r="r" b="b" t="t" l="l"/>
              <a:pathLst>
                <a:path h="945211" w="2608713">
                  <a:moveTo>
                    <a:pt x="0" y="0"/>
                  </a:moveTo>
                  <a:lnTo>
                    <a:pt x="2608713" y="0"/>
                  </a:lnTo>
                  <a:lnTo>
                    <a:pt x="2608713" y="945211"/>
                  </a:lnTo>
                  <a:lnTo>
                    <a:pt x="0" y="945211"/>
                  </a:lnTo>
                  <a:close/>
                </a:path>
              </a:pathLst>
            </a:custGeom>
            <a:solidFill>
              <a:srgbClr val="FFFFFF"/>
            </a:solidFill>
          </p:spPr>
        </p:sp>
        <p:sp>
          <p:nvSpPr>
            <p:cNvPr name="TextBox 5" id="5"/>
            <p:cNvSpPr txBox="true"/>
            <p:nvPr/>
          </p:nvSpPr>
          <p:spPr>
            <a:xfrm>
              <a:off x="0" y="-19050"/>
              <a:ext cx="2608713" cy="964261"/>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4237583" y="6937923"/>
            <a:ext cx="9904959" cy="680751"/>
          </a:xfrm>
          <a:custGeom>
            <a:avLst/>
            <a:gdLst/>
            <a:ahLst/>
            <a:cxnLst/>
            <a:rect r="r" b="b" t="t" l="l"/>
            <a:pathLst>
              <a:path h="680751" w="9904959">
                <a:moveTo>
                  <a:pt x="0" y="0"/>
                </a:moveTo>
                <a:lnTo>
                  <a:pt x="9904958" y="0"/>
                </a:lnTo>
                <a:lnTo>
                  <a:pt x="9904958" y="680752"/>
                </a:lnTo>
                <a:lnTo>
                  <a:pt x="0" y="680752"/>
                </a:lnTo>
                <a:lnTo>
                  <a:pt x="0" y="0"/>
                </a:lnTo>
                <a:close/>
              </a:path>
            </a:pathLst>
          </a:custGeom>
          <a:blipFill>
            <a:blip r:embed="rId4"/>
            <a:stretch>
              <a:fillRect l="0" t="-187363" r="0" b="0"/>
            </a:stretch>
          </a:blipFill>
        </p:spPr>
      </p:sp>
      <p:sp>
        <p:nvSpPr>
          <p:cNvPr name="Freeform 7" id="7"/>
          <p:cNvSpPr/>
          <p:nvPr/>
        </p:nvSpPr>
        <p:spPr>
          <a:xfrm flipH="false" flipV="false" rot="0">
            <a:off x="0" y="7744927"/>
            <a:ext cx="2603613" cy="2542073"/>
          </a:xfrm>
          <a:custGeom>
            <a:avLst/>
            <a:gdLst/>
            <a:ahLst/>
            <a:cxnLst/>
            <a:rect r="r" b="b" t="t" l="l"/>
            <a:pathLst>
              <a:path h="2542073" w="2603613">
                <a:moveTo>
                  <a:pt x="0" y="0"/>
                </a:moveTo>
                <a:lnTo>
                  <a:pt x="2603613" y="0"/>
                </a:lnTo>
                <a:lnTo>
                  <a:pt x="2603613" y="2542073"/>
                </a:lnTo>
                <a:lnTo>
                  <a:pt x="0" y="25420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828223" y="7744927"/>
            <a:ext cx="4459777" cy="2542073"/>
          </a:xfrm>
          <a:custGeom>
            <a:avLst/>
            <a:gdLst/>
            <a:ahLst/>
            <a:cxnLst/>
            <a:rect r="r" b="b" t="t" l="l"/>
            <a:pathLst>
              <a:path h="2542073" w="4459777">
                <a:moveTo>
                  <a:pt x="0" y="0"/>
                </a:moveTo>
                <a:lnTo>
                  <a:pt x="4459777" y="0"/>
                </a:lnTo>
                <a:lnTo>
                  <a:pt x="4459777" y="2542073"/>
                </a:lnTo>
                <a:lnTo>
                  <a:pt x="0" y="2542073"/>
                </a:lnTo>
                <a:lnTo>
                  <a:pt x="0" y="0"/>
                </a:lnTo>
                <a:close/>
              </a:path>
            </a:pathLst>
          </a:custGeom>
          <a:blipFill>
            <a:blip r:embed="rId7"/>
            <a:stretch>
              <a:fillRect l="0" t="0" r="0" b="0"/>
            </a:stretch>
          </a:blipFill>
        </p:spPr>
      </p:sp>
      <p:sp>
        <p:nvSpPr>
          <p:cNvPr name="Freeform 9" id="9"/>
          <p:cNvSpPr/>
          <p:nvPr/>
        </p:nvSpPr>
        <p:spPr>
          <a:xfrm flipH="false" flipV="false" rot="0">
            <a:off x="1301806" y="4692213"/>
            <a:ext cx="1015947" cy="1015947"/>
          </a:xfrm>
          <a:custGeom>
            <a:avLst/>
            <a:gdLst/>
            <a:ahLst/>
            <a:cxnLst/>
            <a:rect r="r" b="b" t="t" l="l"/>
            <a:pathLst>
              <a:path h="1015947" w="1015947">
                <a:moveTo>
                  <a:pt x="0" y="0"/>
                </a:moveTo>
                <a:lnTo>
                  <a:pt x="1015947" y="0"/>
                </a:lnTo>
                <a:lnTo>
                  <a:pt x="1015947" y="1015947"/>
                </a:lnTo>
                <a:lnTo>
                  <a:pt x="0" y="10159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8236495" y="9428805"/>
            <a:ext cx="1239270" cy="858195"/>
          </a:xfrm>
          <a:custGeom>
            <a:avLst/>
            <a:gdLst/>
            <a:ahLst/>
            <a:cxnLst/>
            <a:rect r="r" b="b" t="t" l="l"/>
            <a:pathLst>
              <a:path h="858195" w="1239270">
                <a:moveTo>
                  <a:pt x="0" y="0"/>
                </a:moveTo>
                <a:lnTo>
                  <a:pt x="1239270" y="0"/>
                </a:lnTo>
                <a:lnTo>
                  <a:pt x="1239270" y="858195"/>
                </a:lnTo>
                <a:lnTo>
                  <a:pt x="0" y="858195"/>
                </a:lnTo>
                <a:lnTo>
                  <a:pt x="0" y="0"/>
                </a:lnTo>
                <a:close/>
              </a:path>
            </a:pathLst>
          </a:custGeom>
          <a:blipFill>
            <a:blip r:embed="rId10"/>
            <a:stretch>
              <a:fillRect l="0" t="0" r="0" b="0"/>
            </a:stretch>
          </a:blipFill>
        </p:spPr>
      </p:sp>
      <p:sp>
        <p:nvSpPr>
          <p:cNvPr name="TextBox 11" id="11"/>
          <p:cNvSpPr txBox="true"/>
          <p:nvPr/>
        </p:nvSpPr>
        <p:spPr>
          <a:xfrm rot="0">
            <a:off x="4441321" y="3819062"/>
            <a:ext cx="9405358" cy="2638425"/>
          </a:xfrm>
          <a:prstGeom prst="rect">
            <a:avLst/>
          </a:prstGeom>
        </p:spPr>
        <p:txBody>
          <a:bodyPr anchor="t" rtlCol="false" tIns="0" lIns="0" bIns="0" rIns="0">
            <a:spAutoFit/>
          </a:bodyPr>
          <a:lstStyle/>
          <a:p>
            <a:pPr algn="ctr">
              <a:lnSpc>
                <a:spcPts val="6900"/>
              </a:lnSpc>
            </a:pPr>
            <a:r>
              <a:rPr lang="en-US" sz="5000" spc="70">
                <a:solidFill>
                  <a:srgbClr val="040506"/>
                </a:solidFill>
                <a:latin typeface="Times New Roman"/>
                <a:ea typeface="Times New Roman"/>
                <a:cs typeface="Times New Roman"/>
                <a:sym typeface="Times New Roman"/>
              </a:rPr>
              <a:t>NAME: KARAN NADAR</a:t>
            </a:r>
          </a:p>
          <a:p>
            <a:pPr algn="ctr">
              <a:lnSpc>
                <a:spcPts val="6900"/>
              </a:lnSpc>
            </a:pPr>
            <a:r>
              <a:rPr lang="en-US" sz="5000" spc="70">
                <a:solidFill>
                  <a:srgbClr val="040506"/>
                </a:solidFill>
                <a:latin typeface="Times New Roman"/>
                <a:ea typeface="Times New Roman"/>
                <a:cs typeface="Times New Roman"/>
                <a:sym typeface="Times New Roman"/>
              </a:rPr>
              <a:t>CWID: 20034735</a:t>
            </a:r>
          </a:p>
          <a:p>
            <a:pPr algn="ctr">
              <a:lnSpc>
                <a:spcPts val="6900"/>
              </a:lnSpc>
            </a:pPr>
            <a:r>
              <a:rPr lang="en-US" sz="5000" spc="70">
                <a:solidFill>
                  <a:srgbClr val="040506"/>
                </a:solidFill>
                <a:latin typeface="Times New Roman"/>
                <a:ea typeface="Times New Roman"/>
                <a:cs typeface="Times New Roman"/>
                <a:sym typeface="Times New Roman"/>
              </a:rPr>
              <a:t>FE 520 FINAL PROJECT</a:t>
            </a:r>
          </a:p>
        </p:txBody>
      </p:sp>
      <p:sp>
        <p:nvSpPr>
          <p:cNvPr name="TextBox 12" id="12"/>
          <p:cNvSpPr txBox="true"/>
          <p:nvPr/>
        </p:nvSpPr>
        <p:spPr>
          <a:xfrm rot="0">
            <a:off x="0" y="362526"/>
            <a:ext cx="18288000" cy="4081144"/>
          </a:xfrm>
          <a:prstGeom prst="rect">
            <a:avLst/>
          </a:prstGeom>
        </p:spPr>
        <p:txBody>
          <a:bodyPr anchor="t" rtlCol="false" tIns="0" lIns="0" bIns="0" rIns="0">
            <a:spAutoFit/>
          </a:bodyPr>
          <a:lstStyle/>
          <a:p>
            <a:pPr algn="ctr">
              <a:lnSpc>
                <a:spcPts val="10780"/>
              </a:lnSpc>
            </a:pPr>
            <a:r>
              <a:rPr lang="en-US" sz="7700" b="true">
                <a:solidFill>
                  <a:srgbClr val="040506"/>
                </a:solidFill>
                <a:latin typeface="Times New Roman Bold"/>
                <a:ea typeface="Times New Roman Bold"/>
                <a:cs typeface="Times New Roman Bold"/>
                <a:sym typeface="Times New Roman Bold"/>
              </a:rPr>
              <a:t>FinSight: </a:t>
            </a:r>
            <a:r>
              <a:rPr lang="en-US" b="true" sz="7700">
                <a:solidFill>
                  <a:srgbClr val="040506"/>
                </a:solidFill>
                <a:latin typeface="Times New Roman Bold"/>
                <a:ea typeface="Times New Roman Bold"/>
                <a:cs typeface="Times New Roman Bold"/>
                <a:sym typeface="Times New Roman Bold"/>
              </a:rPr>
              <a:t>A Python Package for Stock Market Analysis</a:t>
            </a:r>
          </a:p>
          <a:p>
            <a:pPr algn="ctr">
              <a:lnSpc>
                <a:spcPts val="10780"/>
              </a:lnSpc>
            </a:pPr>
          </a:p>
        </p:txBody>
      </p:sp>
      <p:sp>
        <p:nvSpPr>
          <p:cNvPr name="Freeform 13" id="13"/>
          <p:cNvSpPr/>
          <p:nvPr/>
        </p:nvSpPr>
        <p:spPr>
          <a:xfrm flipH="false" flipV="false" rot="0">
            <a:off x="16058112" y="4692213"/>
            <a:ext cx="1015947" cy="1015947"/>
          </a:xfrm>
          <a:custGeom>
            <a:avLst/>
            <a:gdLst/>
            <a:ahLst/>
            <a:cxnLst/>
            <a:rect r="r" b="b" t="t" l="l"/>
            <a:pathLst>
              <a:path h="1015947" w="1015947">
                <a:moveTo>
                  <a:pt x="0" y="0"/>
                </a:moveTo>
                <a:lnTo>
                  <a:pt x="1015947" y="0"/>
                </a:lnTo>
                <a:lnTo>
                  <a:pt x="1015947" y="1015947"/>
                </a:lnTo>
                <a:lnTo>
                  <a:pt x="0" y="10159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C8AB"/>
            </a:solidFill>
            <a:ln w="12700">
              <a:solidFill>
                <a:srgbClr val="000000"/>
              </a:solidFill>
            </a:ln>
          </p:spPr>
        </p:sp>
      </p:grpSp>
      <p:grpSp>
        <p:nvGrpSpPr>
          <p:cNvPr name="Group 4" id="4"/>
          <p:cNvGrpSpPr/>
          <p:nvPr/>
        </p:nvGrpSpPr>
        <p:grpSpPr>
          <a:xfrm rot="0">
            <a:off x="0" y="50899"/>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4">
                <a:alpha val="90196"/>
              </a:srgbClr>
            </a:solidFill>
            <a:ln w="12700">
              <a:solidFill>
                <a:srgbClr val="000000"/>
              </a:solidFill>
            </a:ln>
          </p:spPr>
        </p:sp>
      </p:grpSp>
      <p:grpSp>
        <p:nvGrpSpPr>
          <p:cNvPr name="Group 6" id="6"/>
          <p:cNvGrpSpPr>
            <a:grpSpLocks noChangeAspect="true"/>
          </p:cNvGrpSpPr>
          <p:nvPr/>
        </p:nvGrpSpPr>
        <p:grpSpPr>
          <a:xfrm rot="0">
            <a:off x="11985636" y="1944477"/>
            <a:ext cx="4549892" cy="6499846"/>
            <a:chOff x="0" y="0"/>
            <a:chExt cx="9601200" cy="13716000"/>
          </a:xfrm>
        </p:grpSpPr>
        <p:sp>
          <p:nvSpPr>
            <p:cNvPr name="Freeform 7" id="7" descr="preencoded.png"/>
            <p:cNvSpPr/>
            <p:nvPr/>
          </p:nvSpPr>
          <p:spPr>
            <a:xfrm flipH="false" flipV="false" rot="0">
              <a:off x="0" y="0"/>
              <a:ext cx="9601200" cy="13716000"/>
            </a:xfrm>
            <a:custGeom>
              <a:avLst/>
              <a:gdLst/>
              <a:ahLst/>
              <a:cxnLst/>
              <a:rect r="r" b="b" t="t" l="l"/>
              <a:pathLst>
                <a:path h="13716000" w="9601200">
                  <a:moveTo>
                    <a:pt x="0" y="0"/>
                  </a:moveTo>
                  <a:lnTo>
                    <a:pt x="9601200" y="0"/>
                  </a:lnTo>
                  <a:lnTo>
                    <a:pt x="96012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4327832" y="875483"/>
            <a:ext cx="9445526" cy="687994"/>
          </a:xfrm>
          <a:prstGeom prst="rect">
            <a:avLst/>
          </a:prstGeom>
        </p:spPr>
        <p:txBody>
          <a:bodyPr anchor="t" rtlCol="false" tIns="0" lIns="0" bIns="0" rIns="0">
            <a:spAutoFit/>
          </a:bodyPr>
          <a:lstStyle/>
          <a:p>
            <a:pPr algn="l">
              <a:lnSpc>
                <a:spcPts val="5472"/>
              </a:lnSpc>
            </a:pPr>
            <a:r>
              <a:rPr lang="en-US" sz="4200" b="true">
                <a:solidFill>
                  <a:srgbClr val="532418"/>
                </a:solidFill>
                <a:latin typeface="Times New Roman Bold"/>
                <a:ea typeface="Times New Roman Bold"/>
                <a:cs typeface="Times New Roman Bold"/>
                <a:sym typeface="Times New Roman Bold"/>
              </a:rPr>
              <a:t>Introduction and Project Objective</a:t>
            </a:r>
          </a:p>
        </p:txBody>
      </p:sp>
      <p:grpSp>
        <p:nvGrpSpPr>
          <p:cNvPr name="Group 9" id="9"/>
          <p:cNvGrpSpPr/>
          <p:nvPr/>
        </p:nvGrpSpPr>
        <p:grpSpPr>
          <a:xfrm rot="0">
            <a:off x="982712" y="3224808"/>
            <a:ext cx="9464576" cy="1124694"/>
            <a:chOff x="0" y="0"/>
            <a:chExt cx="12619435" cy="1499592"/>
          </a:xfrm>
        </p:grpSpPr>
        <p:sp>
          <p:nvSpPr>
            <p:cNvPr name="Freeform 10" id="10"/>
            <p:cNvSpPr/>
            <p:nvPr/>
          </p:nvSpPr>
          <p:spPr>
            <a:xfrm flipH="false" flipV="false" rot="0">
              <a:off x="12700" y="12700"/>
              <a:ext cx="12594082" cy="1474216"/>
            </a:xfrm>
            <a:custGeom>
              <a:avLst/>
              <a:gdLst/>
              <a:ahLst/>
              <a:cxnLst/>
              <a:rect r="r" b="b" t="t" l="l"/>
              <a:pathLst>
                <a:path h="1474216" w="12594082">
                  <a:moveTo>
                    <a:pt x="0" y="103251"/>
                  </a:moveTo>
                  <a:cubicBezTo>
                    <a:pt x="0" y="46228"/>
                    <a:pt x="46863" y="0"/>
                    <a:pt x="104775" y="0"/>
                  </a:cubicBezTo>
                  <a:lnTo>
                    <a:pt x="12489307" y="0"/>
                  </a:lnTo>
                  <a:cubicBezTo>
                    <a:pt x="12547219" y="0"/>
                    <a:pt x="12594082" y="46228"/>
                    <a:pt x="12594082" y="103251"/>
                  </a:cubicBezTo>
                  <a:lnTo>
                    <a:pt x="12594082" y="1370965"/>
                  </a:lnTo>
                  <a:cubicBezTo>
                    <a:pt x="12594082" y="1427988"/>
                    <a:pt x="12547219" y="1474216"/>
                    <a:pt x="12489307" y="1474216"/>
                  </a:cubicBezTo>
                  <a:lnTo>
                    <a:pt x="104775" y="1474216"/>
                  </a:lnTo>
                  <a:cubicBezTo>
                    <a:pt x="46863" y="1474216"/>
                    <a:pt x="0" y="1427988"/>
                    <a:pt x="0" y="1370965"/>
                  </a:cubicBezTo>
                  <a:close/>
                </a:path>
              </a:pathLst>
            </a:custGeom>
            <a:solidFill>
              <a:srgbClr val="FFFFF4">
                <a:alpha val="90196"/>
              </a:srgbClr>
            </a:solidFill>
            <a:ln w="12700">
              <a:solidFill>
                <a:srgbClr val="000000"/>
              </a:solidFill>
            </a:ln>
          </p:spPr>
        </p:sp>
        <p:sp>
          <p:nvSpPr>
            <p:cNvPr name="Freeform 11" id="11"/>
            <p:cNvSpPr/>
            <p:nvPr/>
          </p:nvSpPr>
          <p:spPr>
            <a:xfrm flipH="false" flipV="false" rot="0">
              <a:off x="0" y="0"/>
              <a:ext cx="12619482" cy="1499616"/>
            </a:xfrm>
            <a:custGeom>
              <a:avLst/>
              <a:gdLst/>
              <a:ahLst/>
              <a:cxnLst/>
              <a:rect r="r" b="b" t="t" l="l"/>
              <a:pathLst>
                <a:path h="1499616" w="12619482">
                  <a:moveTo>
                    <a:pt x="0" y="115951"/>
                  </a:moveTo>
                  <a:cubicBezTo>
                    <a:pt x="0" y="51689"/>
                    <a:pt x="52832" y="0"/>
                    <a:pt x="117475" y="0"/>
                  </a:cubicBezTo>
                  <a:lnTo>
                    <a:pt x="12502007" y="0"/>
                  </a:lnTo>
                  <a:lnTo>
                    <a:pt x="12502007" y="12700"/>
                  </a:lnTo>
                  <a:lnTo>
                    <a:pt x="12502007" y="0"/>
                  </a:lnTo>
                  <a:cubicBezTo>
                    <a:pt x="12566650" y="0"/>
                    <a:pt x="12619482" y="51689"/>
                    <a:pt x="12619482" y="115951"/>
                  </a:cubicBezTo>
                  <a:lnTo>
                    <a:pt x="12606782" y="115951"/>
                  </a:lnTo>
                  <a:lnTo>
                    <a:pt x="12619482" y="115951"/>
                  </a:lnTo>
                  <a:lnTo>
                    <a:pt x="12619482" y="1383665"/>
                  </a:lnTo>
                  <a:lnTo>
                    <a:pt x="12606782" y="1383665"/>
                  </a:lnTo>
                  <a:lnTo>
                    <a:pt x="12619482" y="1383665"/>
                  </a:lnTo>
                  <a:cubicBezTo>
                    <a:pt x="12619482" y="1447800"/>
                    <a:pt x="12566650" y="1499616"/>
                    <a:pt x="12502007" y="1499616"/>
                  </a:cubicBezTo>
                  <a:lnTo>
                    <a:pt x="12502007" y="1486916"/>
                  </a:lnTo>
                  <a:lnTo>
                    <a:pt x="12502007" y="1499616"/>
                  </a:lnTo>
                  <a:lnTo>
                    <a:pt x="117475" y="1499616"/>
                  </a:lnTo>
                  <a:lnTo>
                    <a:pt x="117475" y="1486916"/>
                  </a:lnTo>
                  <a:lnTo>
                    <a:pt x="117475" y="1499616"/>
                  </a:lnTo>
                  <a:cubicBezTo>
                    <a:pt x="52832" y="1499616"/>
                    <a:pt x="0" y="1447927"/>
                    <a:pt x="0" y="1383665"/>
                  </a:cubicBezTo>
                  <a:lnTo>
                    <a:pt x="0" y="115951"/>
                  </a:lnTo>
                  <a:lnTo>
                    <a:pt x="12700" y="115951"/>
                  </a:lnTo>
                  <a:lnTo>
                    <a:pt x="0" y="115951"/>
                  </a:lnTo>
                  <a:moveTo>
                    <a:pt x="25400" y="115951"/>
                  </a:moveTo>
                  <a:lnTo>
                    <a:pt x="25400" y="1383665"/>
                  </a:lnTo>
                  <a:lnTo>
                    <a:pt x="12700" y="1383665"/>
                  </a:lnTo>
                  <a:lnTo>
                    <a:pt x="25400" y="1383665"/>
                  </a:lnTo>
                  <a:cubicBezTo>
                    <a:pt x="25400" y="1433449"/>
                    <a:pt x="66421" y="1474216"/>
                    <a:pt x="117475" y="1474216"/>
                  </a:cubicBezTo>
                  <a:lnTo>
                    <a:pt x="12502007" y="1474216"/>
                  </a:lnTo>
                  <a:cubicBezTo>
                    <a:pt x="12553061" y="1474216"/>
                    <a:pt x="12594082" y="1433576"/>
                    <a:pt x="12594082" y="1383665"/>
                  </a:cubicBezTo>
                  <a:lnTo>
                    <a:pt x="12594082" y="115951"/>
                  </a:lnTo>
                  <a:cubicBezTo>
                    <a:pt x="12594082" y="66167"/>
                    <a:pt x="12553061" y="25400"/>
                    <a:pt x="12502007" y="25400"/>
                  </a:cubicBezTo>
                  <a:lnTo>
                    <a:pt x="117475" y="25400"/>
                  </a:lnTo>
                  <a:lnTo>
                    <a:pt x="117475" y="12700"/>
                  </a:lnTo>
                  <a:lnTo>
                    <a:pt x="117475" y="25400"/>
                  </a:lnTo>
                  <a:cubicBezTo>
                    <a:pt x="66421" y="25400"/>
                    <a:pt x="25400" y="66040"/>
                    <a:pt x="25400" y="115951"/>
                  </a:cubicBezTo>
                  <a:close/>
                </a:path>
              </a:pathLst>
            </a:custGeom>
            <a:solidFill>
              <a:srgbClr val="FFE0CC"/>
            </a:solidFill>
            <a:ln w="12700">
              <a:solidFill>
                <a:srgbClr val="000000"/>
              </a:solidFill>
            </a:ln>
          </p:spPr>
        </p:sp>
      </p:grpSp>
      <p:grpSp>
        <p:nvGrpSpPr>
          <p:cNvPr name="Group 12" id="12"/>
          <p:cNvGrpSpPr/>
          <p:nvPr/>
        </p:nvGrpSpPr>
        <p:grpSpPr>
          <a:xfrm rot="0">
            <a:off x="1011288" y="3253382"/>
            <a:ext cx="737146" cy="1067544"/>
            <a:chOff x="0" y="0"/>
            <a:chExt cx="982862" cy="1423392"/>
          </a:xfrm>
        </p:grpSpPr>
        <p:sp>
          <p:nvSpPr>
            <p:cNvPr name="Freeform 13" id="13"/>
            <p:cNvSpPr/>
            <p:nvPr/>
          </p:nvSpPr>
          <p:spPr>
            <a:xfrm flipH="false" flipV="false" rot="0">
              <a:off x="0" y="0"/>
              <a:ext cx="982853" cy="1423416"/>
            </a:xfrm>
            <a:custGeom>
              <a:avLst/>
              <a:gdLst/>
              <a:ahLst/>
              <a:cxnLst/>
              <a:rect r="r" b="b" t="t" l="l"/>
              <a:pathLst>
                <a:path h="1423416" w="982853">
                  <a:moveTo>
                    <a:pt x="0" y="72771"/>
                  </a:moveTo>
                  <a:cubicBezTo>
                    <a:pt x="0" y="32512"/>
                    <a:pt x="32512" y="0"/>
                    <a:pt x="72771" y="0"/>
                  </a:cubicBezTo>
                  <a:lnTo>
                    <a:pt x="910082" y="0"/>
                  </a:lnTo>
                  <a:cubicBezTo>
                    <a:pt x="950214" y="0"/>
                    <a:pt x="982853" y="32512"/>
                    <a:pt x="982853" y="72771"/>
                  </a:cubicBezTo>
                  <a:lnTo>
                    <a:pt x="982853" y="1350645"/>
                  </a:lnTo>
                  <a:cubicBezTo>
                    <a:pt x="982853" y="1390777"/>
                    <a:pt x="950341" y="1423416"/>
                    <a:pt x="910082" y="1423416"/>
                  </a:cubicBezTo>
                  <a:lnTo>
                    <a:pt x="72771" y="1423416"/>
                  </a:lnTo>
                  <a:cubicBezTo>
                    <a:pt x="32639" y="1423416"/>
                    <a:pt x="0" y="1390904"/>
                    <a:pt x="0" y="1350645"/>
                  </a:cubicBezTo>
                  <a:close/>
                </a:path>
              </a:pathLst>
            </a:custGeom>
            <a:solidFill>
              <a:srgbClr val="FFFFF4"/>
            </a:solidFill>
            <a:ln w="12700">
              <a:solidFill>
                <a:srgbClr val="000000"/>
              </a:solidFill>
            </a:ln>
          </p:spPr>
        </p:sp>
      </p:grpSp>
      <p:sp>
        <p:nvSpPr>
          <p:cNvPr name="Freeform 14" id="14" descr="preencoded.png"/>
          <p:cNvSpPr/>
          <p:nvPr/>
        </p:nvSpPr>
        <p:spPr>
          <a:xfrm flipH="false" flipV="false" rot="0">
            <a:off x="1232147" y="3648819"/>
            <a:ext cx="276374" cy="276374"/>
          </a:xfrm>
          <a:custGeom>
            <a:avLst/>
            <a:gdLst/>
            <a:ahLst/>
            <a:cxnLst/>
            <a:rect r="r" b="b" t="t" l="l"/>
            <a:pathLst>
              <a:path h="276374" w="276374">
                <a:moveTo>
                  <a:pt x="0" y="0"/>
                </a:moveTo>
                <a:lnTo>
                  <a:pt x="276374" y="0"/>
                </a:lnTo>
                <a:lnTo>
                  <a:pt x="276374" y="276373"/>
                </a:lnTo>
                <a:lnTo>
                  <a:pt x="0" y="276373"/>
                </a:lnTo>
                <a:lnTo>
                  <a:pt x="0" y="0"/>
                </a:lnTo>
                <a:close/>
              </a:path>
            </a:pathLst>
          </a:custGeom>
          <a:blipFill>
            <a:blip r:embed="rId4">
              <a:extLst>
                <a:ext uri="{96DAC541-7B7A-43D3-8B79-37D633B846F1}">
                  <asvg:svgBlip xmlns:asvg="http://schemas.microsoft.com/office/drawing/2016/SVG/main" r:embed="rId5"/>
                </a:ext>
              </a:extLst>
            </a:blip>
            <a:stretch>
              <a:fillRect l="-3333" t="0" r="-3333" b="0"/>
            </a:stretch>
          </a:blipFill>
        </p:spPr>
      </p:sp>
      <p:sp>
        <p:nvSpPr>
          <p:cNvPr name="TextBox 15" id="15"/>
          <p:cNvSpPr txBox="true"/>
          <p:nvPr/>
        </p:nvSpPr>
        <p:spPr>
          <a:xfrm rot="0">
            <a:off x="1932682" y="3399532"/>
            <a:ext cx="2649141" cy="335780"/>
          </a:xfrm>
          <a:prstGeom prst="rect">
            <a:avLst/>
          </a:prstGeom>
        </p:spPr>
        <p:txBody>
          <a:bodyPr anchor="t" rtlCol="false" tIns="0" lIns="0" bIns="0" rIns="0">
            <a:spAutoFit/>
          </a:bodyPr>
          <a:lstStyle/>
          <a:p>
            <a:pPr algn="l">
              <a:lnSpc>
                <a:spcPts val="2606"/>
              </a:lnSpc>
            </a:pPr>
            <a:r>
              <a:rPr lang="en-US" sz="2000" b="true">
                <a:solidFill>
                  <a:srgbClr val="67534F"/>
                </a:solidFill>
                <a:latin typeface="Times New Roman Bold"/>
                <a:ea typeface="Times New Roman Bold"/>
                <a:cs typeface="Times New Roman Bold"/>
                <a:sym typeface="Times New Roman Bold"/>
              </a:rPr>
              <a:t>Project Overview</a:t>
            </a:r>
          </a:p>
        </p:txBody>
      </p:sp>
      <p:sp>
        <p:nvSpPr>
          <p:cNvPr name="TextBox 16" id="16"/>
          <p:cNvSpPr txBox="true"/>
          <p:nvPr/>
        </p:nvSpPr>
        <p:spPr>
          <a:xfrm rot="0">
            <a:off x="1932683" y="3863876"/>
            <a:ext cx="8301781" cy="256347"/>
          </a:xfrm>
          <a:prstGeom prst="rect">
            <a:avLst/>
          </a:prstGeom>
        </p:spPr>
        <p:txBody>
          <a:bodyPr anchor="t" rtlCol="false" tIns="0" lIns="0" bIns="0" rIns="0">
            <a:spAutoFit/>
          </a:bodyPr>
          <a:lstStyle/>
          <a:p>
            <a:pPr algn="l">
              <a:lnSpc>
                <a:spcPts val="1956"/>
              </a:lnSpc>
            </a:pPr>
            <a:r>
              <a:rPr lang="en-US" sz="1500">
                <a:solidFill>
                  <a:srgbClr val="67534F"/>
                </a:solidFill>
                <a:latin typeface="Times New Roman"/>
                <a:ea typeface="Times New Roman"/>
                <a:cs typeface="Times New Roman"/>
                <a:sym typeface="Times New Roman"/>
              </a:rPr>
              <a:t>FinSight is an integrated Python package for effective stock market data analysis.</a:t>
            </a:r>
          </a:p>
        </p:txBody>
      </p:sp>
      <p:grpSp>
        <p:nvGrpSpPr>
          <p:cNvPr name="Group 17" id="17"/>
          <p:cNvGrpSpPr/>
          <p:nvPr/>
        </p:nvGrpSpPr>
        <p:grpSpPr>
          <a:xfrm rot="0">
            <a:off x="982712" y="4514701"/>
            <a:ext cx="9464576" cy="1359396"/>
            <a:chOff x="0" y="0"/>
            <a:chExt cx="12619435" cy="1812528"/>
          </a:xfrm>
        </p:grpSpPr>
        <p:sp>
          <p:nvSpPr>
            <p:cNvPr name="Freeform 18" id="18"/>
            <p:cNvSpPr/>
            <p:nvPr/>
          </p:nvSpPr>
          <p:spPr>
            <a:xfrm flipH="false" flipV="false" rot="0">
              <a:off x="12700" y="12700"/>
              <a:ext cx="12594082" cy="1787144"/>
            </a:xfrm>
            <a:custGeom>
              <a:avLst/>
              <a:gdLst/>
              <a:ahLst/>
              <a:cxnLst/>
              <a:rect r="r" b="b" t="t" l="l"/>
              <a:pathLst>
                <a:path h="1787144" w="12594082">
                  <a:moveTo>
                    <a:pt x="0" y="103251"/>
                  </a:moveTo>
                  <a:cubicBezTo>
                    <a:pt x="0" y="46228"/>
                    <a:pt x="46736" y="0"/>
                    <a:pt x="104521" y="0"/>
                  </a:cubicBezTo>
                  <a:lnTo>
                    <a:pt x="12489561" y="0"/>
                  </a:lnTo>
                  <a:cubicBezTo>
                    <a:pt x="12547219" y="0"/>
                    <a:pt x="12594082" y="46228"/>
                    <a:pt x="12594082" y="103251"/>
                  </a:cubicBezTo>
                  <a:lnTo>
                    <a:pt x="12594082" y="1683893"/>
                  </a:lnTo>
                  <a:cubicBezTo>
                    <a:pt x="12594082" y="1740916"/>
                    <a:pt x="12547346" y="1787144"/>
                    <a:pt x="12489561" y="1787144"/>
                  </a:cubicBezTo>
                  <a:lnTo>
                    <a:pt x="104521" y="1787144"/>
                  </a:lnTo>
                  <a:cubicBezTo>
                    <a:pt x="46863" y="1787144"/>
                    <a:pt x="0" y="1740916"/>
                    <a:pt x="0" y="1683893"/>
                  </a:cubicBezTo>
                  <a:close/>
                </a:path>
              </a:pathLst>
            </a:custGeom>
            <a:solidFill>
              <a:srgbClr val="FFFFF4">
                <a:alpha val="90196"/>
              </a:srgbClr>
            </a:solidFill>
            <a:ln w="12700">
              <a:solidFill>
                <a:srgbClr val="000000"/>
              </a:solidFill>
            </a:ln>
          </p:spPr>
        </p:sp>
        <p:sp>
          <p:nvSpPr>
            <p:cNvPr name="Freeform 19" id="19"/>
            <p:cNvSpPr/>
            <p:nvPr/>
          </p:nvSpPr>
          <p:spPr>
            <a:xfrm flipH="false" flipV="false" rot="0">
              <a:off x="0" y="0"/>
              <a:ext cx="12619482" cy="1812544"/>
            </a:xfrm>
            <a:custGeom>
              <a:avLst/>
              <a:gdLst/>
              <a:ahLst/>
              <a:cxnLst/>
              <a:rect r="r" b="b" t="t" l="l"/>
              <a:pathLst>
                <a:path h="1812544" w="12619482">
                  <a:moveTo>
                    <a:pt x="0" y="115951"/>
                  </a:moveTo>
                  <a:cubicBezTo>
                    <a:pt x="0" y="51689"/>
                    <a:pt x="52578" y="0"/>
                    <a:pt x="117221" y="0"/>
                  </a:cubicBezTo>
                  <a:lnTo>
                    <a:pt x="12502261" y="0"/>
                  </a:lnTo>
                  <a:lnTo>
                    <a:pt x="12502261" y="12700"/>
                  </a:lnTo>
                  <a:lnTo>
                    <a:pt x="12502261" y="0"/>
                  </a:lnTo>
                  <a:cubicBezTo>
                    <a:pt x="12566777" y="0"/>
                    <a:pt x="12619482" y="51689"/>
                    <a:pt x="12619482" y="115951"/>
                  </a:cubicBezTo>
                  <a:lnTo>
                    <a:pt x="12606782" y="115951"/>
                  </a:lnTo>
                  <a:lnTo>
                    <a:pt x="12619482" y="115951"/>
                  </a:lnTo>
                  <a:lnTo>
                    <a:pt x="12619482" y="1696593"/>
                  </a:lnTo>
                  <a:lnTo>
                    <a:pt x="12606782" y="1696593"/>
                  </a:lnTo>
                  <a:lnTo>
                    <a:pt x="12619482" y="1696593"/>
                  </a:lnTo>
                  <a:cubicBezTo>
                    <a:pt x="12619482" y="1760728"/>
                    <a:pt x="12566904" y="1812544"/>
                    <a:pt x="12502261" y="1812544"/>
                  </a:cubicBezTo>
                  <a:lnTo>
                    <a:pt x="12502261" y="1799844"/>
                  </a:lnTo>
                  <a:lnTo>
                    <a:pt x="12502261" y="1812544"/>
                  </a:lnTo>
                  <a:lnTo>
                    <a:pt x="117221" y="1812544"/>
                  </a:lnTo>
                  <a:lnTo>
                    <a:pt x="117221" y="1799844"/>
                  </a:lnTo>
                  <a:lnTo>
                    <a:pt x="117221" y="1812544"/>
                  </a:lnTo>
                  <a:cubicBezTo>
                    <a:pt x="52705" y="1812544"/>
                    <a:pt x="0" y="1760855"/>
                    <a:pt x="0" y="1696593"/>
                  </a:cubicBezTo>
                  <a:lnTo>
                    <a:pt x="0" y="115951"/>
                  </a:lnTo>
                  <a:lnTo>
                    <a:pt x="12700" y="115951"/>
                  </a:lnTo>
                  <a:lnTo>
                    <a:pt x="0" y="115951"/>
                  </a:lnTo>
                  <a:moveTo>
                    <a:pt x="25400" y="115951"/>
                  </a:moveTo>
                  <a:lnTo>
                    <a:pt x="25400" y="1696593"/>
                  </a:lnTo>
                  <a:lnTo>
                    <a:pt x="12700" y="1696593"/>
                  </a:lnTo>
                  <a:lnTo>
                    <a:pt x="25400" y="1696593"/>
                  </a:lnTo>
                  <a:cubicBezTo>
                    <a:pt x="25400" y="1746377"/>
                    <a:pt x="66294" y="1787144"/>
                    <a:pt x="117221" y="1787144"/>
                  </a:cubicBezTo>
                  <a:lnTo>
                    <a:pt x="12502261" y="1787144"/>
                  </a:lnTo>
                  <a:cubicBezTo>
                    <a:pt x="12553061" y="1787144"/>
                    <a:pt x="12594082" y="1746504"/>
                    <a:pt x="12594082" y="1696593"/>
                  </a:cubicBezTo>
                  <a:lnTo>
                    <a:pt x="12594082" y="115951"/>
                  </a:lnTo>
                  <a:cubicBezTo>
                    <a:pt x="12594082" y="66167"/>
                    <a:pt x="12553188" y="25400"/>
                    <a:pt x="12502261" y="25400"/>
                  </a:cubicBezTo>
                  <a:lnTo>
                    <a:pt x="117221" y="25400"/>
                  </a:lnTo>
                  <a:lnTo>
                    <a:pt x="117221" y="12700"/>
                  </a:lnTo>
                  <a:lnTo>
                    <a:pt x="117221" y="25400"/>
                  </a:lnTo>
                  <a:cubicBezTo>
                    <a:pt x="66294" y="25400"/>
                    <a:pt x="25400" y="66040"/>
                    <a:pt x="25400" y="115951"/>
                  </a:cubicBezTo>
                  <a:close/>
                </a:path>
              </a:pathLst>
            </a:custGeom>
            <a:solidFill>
              <a:srgbClr val="FFE0CC"/>
            </a:solidFill>
            <a:ln w="12700">
              <a:solidFill>
                <a:srgbClr val="000000"/>
              </a:solidFill>
            </a:ln>
          </p:spPr>
        </p:sp>
      </p:grpSp>
      <p:grpSp>
        <p:nvGrpSpPr>
          <p:cNvPr name="Group 20" id="20"/>
          <p:cNvGrpSpPr/>
          <p:nvPr/>
        </p:nvGrpSpPr>
        <p:grpSpPr>
          <a:xfrm rot="0">
            <a:off x="1011288" y="4543276"/>
            <a:ext cx="737146" cy="1302246"/>
            <a:chOff x="0" y="0"/>
            <a:chExt cx="982862" cy="1736328"/>
          </a:xfrm>
        </p:grpSpPr>
        <p:sp>
          <p:nvSpPr>
            <p:cNvPr name="Freeform 21" id="21"/>
            <p:cNvSpPr/>
            <p:nvPr/>
          </p:nvSpPr>
          <p:spPr>
            <a:xfrm flipH="false" flipV="false" rot="0">
              <a:off x="0" y="0"/>
              <a:ext cx="982853" cy="1736344"/>
            </a:xfrm>
            <a:custGeom>
              <a:avLst/>
              <a:gdLst/>
              <a:ahLst/>
              <a:cxnLst/>
              <a:rect r="r" b="b" t="t" l="l"/>
              <a:pathLst>
                <a:path h="1736344" w="982853">
                  <a:moveTo>
                    <a:pt x="0" y="72771"/>
                  </a:moveTo>
                  <a:cubicBezTo>
                    <a:pt x="0" y="32512"/>
                    <a:pt x="32512" y="0"/>
                    <a:pt x="72771" y="0"/>
                  </a:cubicBezTo>
                  <a:lnTo>
                    <a:pt x="910082" y="0"/>
                  </a:lnTo>
                  <a:cubicBezTo>
                    <a:pt x="950214" y="0"/>
                    <a:pt x="982853" y="32512"/>
                    <a:pt x="982853" y="72771"/>
                  </a:cubicBezTo>
                  <a:lnTo>
                    <a:pt x="982853" y="1663573"/>
                  </a:lnTo>
                  <a:cubicBezTo>
                    <a:pt x="982853" y="1703705"/>
                    <a:pt x="950341" y="1736344"/>
                    <a:pt x="910082" y="1736344"/>
                  </a:cubicBezTo>
                  <a:lnTo>
                    <a:pt x="72771" y="1736344"/>
                  </a:lnTo>
                  <a:cubicBezTo>
                    <a:pt x="32639" y="1736344"/>
                    <a:pt x="0" y="1703832"/>
                    <a:pt x="0" y="1663573"/>
                  </a:cubicBezTo>
                  <a:close/>
                </a:path>
              </a:pathLst>
            </a:custGeom>
            <a:solidFill>
              <a:srgbClr val="FFFFF4"/>
            </a:solidFill>
            <a:ln w="12700">
              <a:solidFill>
                <a:srgbClr val="000000"/>
              </a:solidFill>
            </a:ln>
          </p:spPr>
        </p:sp>
      </p:grpSp>
      <p:sp>
        <p:nvSpPr>
          <p:cNvPr name="Freeform 22" id="22" descr="preencoded.png"/>
          <p:cNvSpPr/>
          <p:nvPr/>
        </p:nvSpPr>
        <p:spPr>
          <a:xfrm flipH="false" flipV="false" rot="0">
            <a:off x="1232147" y="5056138"/>
            <a:ext cx="276374" cy="276374"/>
          </a:xfrm>
          <a:custGeom>
            <a:avLst/>
            <a:gdLst/>
            <a:ahLst/>
            <a:cxnLst/>
            <a:rect r="r" b="b" t="t" l="l"/>
            <a:pathLst>
              <a:path h="276374" w="276374">
                <a:moveTo>
                  <a:pt x="0" y="0"/>
                </a:moveTo>
                <a:lnTo>
                  <a:pt x="276374" y="0"/>
                </a:lnTo>
                <a:lnTo>
                  <a:pt x="276374" y="276373"/>
                </a:lnTo>
                <a:lnTo>
                  <a:pt x="0" y="2763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1932682" y="4689425"/>
            <a:ext cx="2649141" cy="335780"/>
          </a:xfrm>
          <a:prstGeom prst="rect">
            <a:avLst/>
          </a:prstGeom>
        </p:spPr>
        <p:txBody>
          <a:bodyPr anchor="t" rtlCol="false" tIns="0" lIns="0" bIns="0" rIns="0">
            <a:spAutoFit/>
          </a:bodyPr>
          <a:lstStyle/>
          <a:p>
            <a:pPr algn="l">
              <a:lnSpc>
                <a:spcPts val="2606"/>
              </a:lnSpc>
            </a:pPr>
            <a:r>
              <a:rPr lang="en-US" sz="2000" b="true">
                <a:solidFill>
                  <a:srgbClr val="67534F"/>
                </a:solidFill>
                <a:latin typeface="Times New Roman Bold"/>
                <a:ea typeface="Times New Roman Bold"/>
                <a:cs typeface="Times New Roman Bold"/>
                <a:sym typeface="Times New Roman Bold"/>
              </a:rPr>
              <a:t>Target Audience</a:t>
            </a:r>
          </a:p>
        </p:txBody>
      </p:sp>
      <p:sp>
        <p:nvSpPr>
          <p:cNvPr name="TextBox 24" id="24"/>
          <p:cNvSpPr txBox="true"/>
          <p:nvPr/>
        </p:nvSpPr>
        <p:spPr>
          <a:xfrm rot="0">
            <a:off x="1932683" y="5153769"/>
            <a:ext cx="8301781" cy="503997"/>
          </a:xfrm>
          <a:prstGeom prst="rect">
            <a:avLst/>
          </a:prstGeom>
        </p:spPr>
        <p:txBody>
          <a:bodyPr anchor="t" rtlCol="false" tIns="0" lIns="0" bIns="0" rIns="0">
            <a:spAutoFit/>
          </a:bodyPr>
          <a:lstStyle/>
          <a:p>
            <a:pPr algn="l">
              <a:lnSpc>
                <a:spcPts val="1956"/>
              </a:lnSpc>
            </a:pPr>
            <a:r>
              <a:rPr lang="en-US" sz="1500">
                <a:solidFill>
                  <a:srgbClr val="67534F"/>
                </a:solidFill>
                <a:latin typeface="Times New Roman"/>
                <a:ea typeface="Times New Roman"/>
                <a:cs typeface="Times New Roman"/>
                <a:sym typeface="Times New Roman"/>
              </a:rPr>
              <a:t>Targets quantitative analysts, retail investors, and financial data science students who need a lightweight, code-first solution.</a:t>
            </a:r>
          </a:p>
        </p:txBody>
      </p:sp>
      <p:grpSp>
        <p:nvGrpSpPr>
          <p:cNvPr name="Group 25" id="25"/>
          <p:cNvGrpSpPr/>
          <p:nvPr/>
        </p:nvGrpSpPr>
        <p:grpSpPr>
          <a:xfrm rot="0">
            <a:off x="982712" y="6039296"/>
            <a:ext cx="9464576" cy="1359396"/>
            <a:chOff x="0" y="0"/>
            <a:chExt cx="12619435" cy="1812528"/>
          </a:xfrm>
        </p:grpSpPr>
        <p:sp>
          <p:nvSpPr>
            <p:cNvPr name="Freeform 26" id="26"/>
            <p:cNvSpPr/>
            <p:nvPr/>
          </p:nvSpPr>
          <p:spPr>
            <a:xfrm flipH="false" flipV="false" rot="0">
              <a:off x="12700" y="12700"/>
              <a:ext cx="12594082" cy="1787144"/>
            </a:xfrm>
            <a:custGeom>
              <a:avLst/>
              <a:gdLst/>
              <a:ahLst/>
              <a:cxnLst/>
              <a:rect r="r" b="b" t="t" l="l"/>
              <a:pathLst>
                <a:path h="1787144" w="12594082">
                  <a:moveTo>
                    <a:pt x="0" y="103251"/>
                  </a:moveTo>
                  <a:cubicBezTo>
                    <a:pt x="0" y="46228"/>
                    <a:pt x="46736" y="0"/>
                    <a:pt x="104521" y="0"/>
                  </a:cubicBezTo>
                  <a:lnTo>
                    <a:pt x="12489561" y="0"/>
                  </a:lnTo>
                  <a:cubicBezTo>
                    <a:pt x="12547219" y="0"/>
                    <a:pt x="12594082" y="46228"/>
                    <a:pt x="12594082" y="103251"/>
                  </a:cubicBezTo>
                  <a:lnTo>
                    <a:pt x="12594082" y="1683893"/>
                  </a:lnTo>
                  <a:cubicBezTo>
                    <a:pt x="12594082" y="1740916"/>
                    <a:pt x="12547346" y="1787144"/>
                    <a:pt x="12489561" y="1787144"/>
                  </a:cubicBezTo>
                  <a:lnTo>
                    <a:pt x="104521" y="1787144"/>
                  </a:lnTo>
                  <a:cubicBezTo>
                    <a:pt x="46863" y="1787144"/>
                    <a:pt x="0" y="1740916"/>
                    <a:pt x="0" y="1683893"/>
                  </a:cubicBezTo>
                  <a:close/>
                </a:path>
              </a:pathLst>
            </a:custGeom>
            <a:solidFill>
              <a:srgbClr val="FFFFF4">
                <a:alpha val="90196"/>
              </a:srgbClr>
            </a:solidFill>
            <a:ln w="12700">
              <a:solidFill>
                <a:srgbClr val="000000"/>
              </a:solidFill>
            </a:ln>
          </p:spPr>
        </p:sp>
        <p:sp>
          <p:nvSpPr>
            <p:cNvPr name="Freeform 27" id="27"/>
            <p:cNvSpPr/>
            <p:nvPr/>
          </p:nvSpPr>
          <p:spPr>
            <a:xfrm flipH="false" flipV="false" rot="0">
              <a:off x="0" y="0"/>
              <a:ext cx="12619482" cy="1812544"/>
            </a:xfrm>
            <a:custGeom>
              <a:avLst/>
              <a:gdLst/>
              <a:ahLst/>
              <a:cxnLst/>
              <a:rect r="r" b="b" t="t" l="l"/>
              <a:pathLst>
                <a:path h="1812544" w="12619482">
                  <a:moveTo>
                    <a:pt x="0" y="115951"/>
                  </a:moveTo>
                  <a:cubicBezTo>
                    <a:pt x="0" y="51689"/>
                    <a:pt x="52578" y="0"/>
                    <a:pt x="117221" y="0"/>
                  </a:cubicBezTo>
                  <a:lnTo>
                    <a:pt x="12502261" y="0"/>
                  </a:lnTo>
                  <a:lnTo>
                    <a:pt x="12502261" y="12700"/>
                  </a:lnTo>
                  <a:lnTo>
                    <a:pt x="12502261" y="0"/>
                  </a:lnTo>
                  <a:cubicBezTo>
                    <a:pt x="12566777" y="0"/>
                    <a:pt x="12619482" y="51689"/>
                    <a:pt x="12619482" y="115951"/>
                  </a:cubicBezTo>
                  <a:lnTo>
                    <a:pt x="12606782" y="115951"/>
                  </a:lnTo>
                  <a:lnTo>
                    <a:pt x="12619482" y="115951"/>
                  </a:lnTo>
                  <a:lnTo>
                    <a:pt x="12619482" y="1696593"/>
                  </a:lnTo>
                  <a:lnTo>
                    <a:pt x="12606782" y="1696593"/>
                  </a:lnTo>
                  <a:lnTo>
                    <a:pt x="12619482" y="1696593"/>
                  </a:lnTo>
                  <a:cubicBezTo>
                    <a:pt x="12619482" y="1760728"/>
                    <a:pt x="12566904" y="1812544"/>
                    <a:pt x="12502261" y="1812544"/>
                  </a:cubicBezTo>
                  <a:lnTo>
                    <a:pt x="12502261" y="1799844"/>
                  </a:lnTo>
                  <a:lnTo>
                    <a:pt x="12502261" y="1812544"/>
                  </a:lnTo>
                  <a:lnTo>
                    <a:pt x="117221" y="1812544"/>
                  </a:lnTo>
                  <a:lnTo>
                    <a:pt x="117221" y="1799844"/>
                  </a:lnTo>
                  <a:lnTo>
                    <a:pt x="117221" y="1812544"/>
                  </a:lnTo>
                  <a:cubicBezTo>
                    <a:pt x="52705" y="1812544"/>
                    <a:pt x="0" y="1760855"/>
                    <a:pt x="0" y="1696593"/>
                  </a:cubicBezTo>
                  <a:lnTo>
                    <a:pt x="0" y="115951"/>
                  </a:lnTo>
                  <a:lnTo>
                    <a:pt x="12700" y="115951"/>
                  </a:lnTo>
                  <a:lnTo>
                    <a:pt x="0" y="115951"/>
                  </a:lnTo>
                  <a:moveTo>
                    <a:pt x="25400" y="115951"/>
                  </a:moveTo>
                  <a:lnTo>
                    <a:pt x="25400" y="1696593"/>
                  </a:lnTo>
                  <a:lnTo>
                    <a:pt x="12700" y="1696593"/>
                  </a:lnTo>
                  <a:lnTo>
                    <a:pt x="25400" y="1696593"/>
                  </a:lnTo>
                  <a:cubicBezTo>
                    <a:pt x="25400" y="1746377"/>
                    <a:pt x="66294" y="1787144"/>
                    <a:pt x="117221" y="1787144"/>
                  </a:cubicBezTo>
                  <a:lnTo>
                    <a:pt x="12502261" y="1787144"/>
                  </a:lnTo>
                  <a:cubicBezTo>
                    <a:pt x="12553061" y="1787144"/>
                    <a:pt x="12594082" y="1746504"/>
                    <a:pt x="12594082" y="1696593"/>
                  </a:cubicBezTo>
                  <a:lnTo>
                    <a:pt x="12594082" y="115951"/>
                  </a:lnTo>
                  <a:cubicBezTo>
                    <a:pt x="12594082" y="66167"/>
                    <a:pt x="12553188" y="25400"/>
                    <a:pt x="12502261" y="25400"/>
                  </a:cubicBezTo>
                  <a:lnTo>
                    <a:pt x="117221" y="25400"/>
                  </a:lnTo>
                  <a:lnTo>
                    <a:pt x="117221" y="12700"/>
                  </a:lnTo>
                  <a:lnTo>
                    <a:pt x="117221" y="25400"/>
                  </a:lnTo>
                  <a:cubicBezTo>
                    <a:pt x="66294" y="25400"/>
                    <a:pt x="25400" y="66040"/>
                    <a:pt x="25400" y="115951"/>
                  </a:cubicBezTo>
                  <a:close/>
                </a:path>
              </a:pathLst>
            </a:custGeom>
            <a:solidFill>
              <a:srgbClr val="FFE0CC"/>
            </a:solidFill>
            <a:ln w="12700">
              <a:solidFill>
                <a:srgbClr val="000000"/>
              </a:solidFill>
            </a:ln>
          </p:spPr>
        </p:sp>
      </p:grpSp>
      <p:grpSp>
        <p:nvGrpSpPr>
          <p:cNvPr name="Group 28" id="28"/>
          <p:cNvGrpSpPr/>
          <p:nvPr/>
        </p:nvGrpSpPr>
        <p:grpSpPr>
          <a:xfrm rot="0">
            <a:off x="1011288" y="6067871"/>
            <a:ext cx="737146" cy="1302246"/>
            <a:chOff x="0" y="0"/>
            <a:chExt cx="982862" cy="1736328"/>
          </a:xfrm>
        </p:grpSpPr>
        <p:sp>
          <p:nvSpPr>
            <p:cNvPr name="Freeform 29" id="29"/>
            <p:cNvSpPr/>
            <p:nvPr/>
          </p:nvSpPr>
          <p:spPr>
            <a:xfrm flipH="false" flipV="false" rot="0">
              <a:off x="0" y="0"/>
              <a:ext cx="982853" cy="1736344"/>
            </a:xfrm>
            <a:custGeom>
              <a:avLst/>
              <a:gdLst/>
              <a:ahLst/>
              <a:cxnLst/>
              <a:rect r="r" b="b" t="t" l="l"/>
              <a:pathLst>
                <a:path h="1736344" w="982853">
                  <a:moveTo>
                    <a:pt x="0" y="72771"/>
                  </a:moveTo>
                  <a:cubicBezTo>
                    <a:pt x="0" y="32512"/>
                    <a:pt x="32512" y="0"/>
                    <a:pt x="72771" y="0"/>
                  </a:cubicBezTo>
                  <a:lnTo>
                    <a:pt x="910082" y="0"/>
                  </a:lnTo>
                  <a:cubicBezTo>
                    <a:pt x="950214" y="0"/>
                    <a:pt x="982853" y="32512"/>
                    <a:pt x="982853" y="72771"/>
                  </a:cubicBezTo>
                  <a:lnTo>
                    <a:pt x="982853" y="1663573"/>
                  </a:lnTo>
                  <a:cubicBezTo>
                    <a:pt x="982853" y="1703705"/>
                    <a:pt x="950341" y="1736344"/>
                    <a:pt x="910082" y="1736344"/>
                  </a:cubicBezTo>
                  <a:lnTo>
                    <a:pt x="72771" y="1736344"/>
                  </a:lnTo>
                  <a:cubicBezTo>
                    <a:pt x="32639" y="1736344"/>
                    <a:pt x="0" y="1703832"/>
                    <a:pt x="0" y="1663573"/>
                  </a:cubicBezTo>
                  <a:close/>
                </a:path>
              </a:pathLst>
            </a:custGeom>
            <a:solidFill>
              <a:srgbClr val="FFFFF4"/>
            </a:solidFill>
            <a:ln w="12700">
              <a:solidFill>
                <a:srgbClr val="000000"/>
              </a:solidFill>
            </a:ln>
          </p:spPr>
        </p:sp>
      </p:grpSp>
      <p:sp>
        <p:nvSpPr>
          <p:cNvPr name="Freeform 30" id="30" descr="preencoded.png"/>
          <p:cNvSpPr/>
          <p:nvPr/>
        </p:nvSpPr>
        <p:spPr>
          <a:xfrm flipH="false" flipV="false" rot="0">
            <a:off x="1232147" y="6580734"/>
            <a:ext cx="276374" cy="276374"/>
          </a:xfrm>
          <a:custGeom>
            <a:avLst/>
            <a:gdLst/>
            <a:ahLst/>
            <a:cxnLst/>
            <a:rect r="r" b="b" t="t" l="l"/>
            <a:pathLst>
              <a:path h="276374" w="276374">
                <a:moveTo>
                  <a:pt x="0" y="0"/>
                </a:moveTo>
                <a:lnTo>
                  <a:pt x="276374" y="0"/>
                </a:lnTo>
                <a:lnTo>
                  <a:pt x="276374" y="276374"/>
                </a:lnTo>
                <a:lnTo>
                  <a:pt x="0" y="2763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1" id="31"/>
          <p:cNvSpPr txBox="true"/>
          <p:nvPr/>
        </p:nvSpPr>
        <p:spPr>
          <a:xfrm rot="0">
            <a:off x="1932682" y="6214021"/>
            <a:ext cx="2649141" cy="335780"/>
          </a:xfrm>
          <a:prstGeom prst="rect">
            <a:avLst/>
          </a:prstGeom>
        </p:spPr>
        <p:txBody>
          <a:bodyPr anchor="t" rtlCol="false" tIns="0" lIns="0" bIns="0" rIns="0">
            <a:spAutoFit/>
          </a:bodyPr>
          <a:lstStyle/>
          <a:p>
            <a:pPr algn="l">
              <a:lnSpc>
                <a:spcPts val="2606"/>
              </a:lnSpc>
            </a:pPr>
            <a:r>
              <a:rPr lang="en-US" sz="2000" b="true">
                <a:solidFill>
                  <a:srgbClr val="67534F"/>
                </a:solidFill>
                <a:latin typeface="Times New Roman Bold"/>
                <a:ea typeface="Times New Roman Bold"/>
                <a:cs typeface="Times New Roman Bold"/>
                <a:sym typeface="Times New Roman Bold"/>
              </a:rPr>
              <a:t>Problem Solved</a:t>
            </a:r>
          </a:p>
        </p:txBody>
      </p:sp>
      <p:sp>
        <p:nvSpPr>
          <p:cNvPr name="TextBox 32" id="32"/>
          <p:cNvSpPr txBox="true"/>
          <p:nvPr/>
        </p:nvSpPr>
        <p:spPr>
          <a:xfrm rot="0">
            <a:off x="1932683" y="6678365"/>
            <a:ext cx="8301781" cy="503997"/>
          </a:xfrm>
          <a:prstGeom prst="rect">
            <a:avLst/>
          </a:prstGeom>
        </p:spPr>
        <p:txBody>
          <a:bodyPr anchor="t" rtlCol="false" tIns="0" lIns="0" bIns="0" rIns="0">
            <a:spAutoFit/>
          </a:bodyPr>
          <a:lstStyle/>
          <a:p>
            <a:pPr algn="l">
              <a:lnSpc>
                <a:spcPts val="1956"/>
              </a:lnSpc>
            </a:pPr>
            <a:r>
              <a:rPr lang="en-US" sz="1500">
                <a:solidFill>
                  <a:srgbClr val="67534F"/>
                </a:solidFill>
                <a:latin typeface="Times New Roman"/>
                <a:ea typeface="Times New Roman"/>
                <a:cs typeface="Times New Roman"/>
                <a:sym typeface="Times New Roman"/>
              </a:rPr>
              <a:t>Eliminates the friction of manually downloading CSVs or calculating indicators in Excel, providing a programmatic way to visualize stock performance out of the box.</a:t>
            </a:r>
          </a:p>
        </p:txBody>
      </p:sp>
      <p:grpSp>
        <p:nvGrpSpPr>
          <p:cNvPr name="Group 33" id="33"/>
          <p:cNvGrpSpPr/>
          <p:nvPr/>
        </p:nvGrpSpPr>
        <p:grpSpPr>
          <a:xfrm rot="0">
            <a:off x="982712" y="7563891"/>
            <a:ext cx="9464576" cy="1598860"/>
            <a:chOff x="0" y="0"/>
            <a:chExt cx="12619435" cy="2131813"/>
          </a:xfrm>
        </p:grpSpPr>
        <p:sp>
          <p:nvSpPr>
            <p:cNvPr name="Freeform 34" id="34"/>
            <p:cNvSpPr/>
            <p:nvPr/>
          </p:nvSpPr>
          <p:spPr>
            <a:xfrm flipH="false" flipV="false" rot="0">
              <a:off x="12700" y="12700"/>
              <a:ext cx="12594082" cy="2106422"/>
            </a:xfrm>
            <a:custGeom>
              <a:avLst/>
              <a:gdLst/>
              <a:ahLst/>
              <a:cxnLst/>
              <a:rect r="r" b="b" t="t" l="l"/>
              <a:pathLst>
                <a:path h="2106422" w="12594082">
                  <a:moveTo>
                    <a:pt x="0" y="103251"/>
                  </a:moveTo>
                  <a:cubicBezTo>
                    <a:pt x="0" y="46228"/>
                    <a:pt x="46736" y="0"/>
                    <a:pt x="104267" y="0"/>
                  </a:cubicBezTo>
                  <a:lnTo>
                    <a:pt x="12489815" y="0"/>
                  </a:lnTo>
                  <a:cubicBezTo>
                    <a:pt x="12547347" y="0"/>
                    <a:pt x="12594082" y="46228"/>
                    <a:pt x="12594082" y="103251"/>
                  </a:cubicBezTo>
                  <a:lnTo>
                    <a:pt x="12594082" y="2003171"/>
                  </a:lnTo>
                  <a:cubicBezTo>
                    <a:pt x="12594082" y="2060194"/>
                    <a:pt x="12547347" y="2106422"/>
                    <a:pt x="12489815" y="2106422"/>
                  </a:cubicBezTo>
                  <a:lnTo>
                    <a:pt x="104267" y="2106422"/>
                  </a:lnTo>
                  <a:cubicBezTo>
                    <a:pt x="46736" y="2106422"/>
                    <a:pt x="0" y="2060194"/>
                    <a:pt x="0" y="2003171"/>
                  </a:cubicBezTo>
                  <a:close/>
                </a:path>
              </a:pathLst>
            </a:custGeom>
            <a:solidFill>
              <a:srgbClr val="FFFFF4">
                <a:alpha val="90196"/>
              </a:srgbClr>
            </a:solidFill>
            <a:ln w="12700">
              <a:solidFill>
                <a:srgbClr val="000000"/>
              </a:solidFill>
            </a:ln>
          </p:spPr>
        </p:sp>
        <p:sp>
          <p:nvSpPr>
            <p:cNvPr name="Freeform 35" id="35"/>
            <p:cNvSpPr/>
            <p:nvPr/>
          </p:nvSpPr>
          <p:spPr>
            <a:xfrm flipH="false" flipV="false" rot="0">
              <a:off x="0" y="0"/>
              <a:ext cx="12619482" cy="2131822"/>
            </a:xfrm>
            <a:custGeom>
              <a:avLst/>
              <a:gdLst/>
              <a:ahLst/>
              <a:cxnLst/>
              <a:rect r="r" b="b" t="t" l="l"/>
              <a:pathLst>
                <a:path h="2131822" w="12619482">
                  <a:moveTo>
                    <a:pt x="0" y="115951"/>
                  </a:moveTo>
                  <a:cubicBezTo>
                    <a:pt x="0" y="51816"/>
                    <a:pt x="52451" y="0"/>
                    <a:pt x="116967" y="0"/>
                  </a:cubicBezTo>
                  <a:lnTo>
                    <a:pt x="12502515" y="0"/>
                  </a:lnTo>
                  <a:lnTo>
                    <a:pt x="12502515" y="12700"/>
                  </a:lnTo>
                  <a:lnTo>
                    <a:pt x="12502515" y="0"/>
                  </a:lnTo>
                  <a:cubicBezTo>
                    <a:pt x="12567031" y="0"/>
                    <a:pt x="12619482" y="51816"/>
                    <a:pt x="12619482" y="115951"/>
                  </a:cubicBezTo>
                  <a:lnTo>
                    <a:pt x="12606782" y="115951"/>
                  </a:lnTo>
                  <a:lnTo>
                    <a:pt x="12619482" y="115951"/>
                  </a:lnTo>
                  <a:lnTo>
                    <a:pt x="12619482" y="2015871"/>
                  </a:lnTo>
                  <a:lnTo>
                    <a:pt x="12606782" y="2015871"/>
                  </a:lnTo>
                  <a:lnTo>
                    <a:pt x="12619482" y="2015871"/>
                  </a:lnTo>
                  <a:cubicBezTo>
                    <a:pt x="12619482" y="2080006"/>
                    <a:pt x="12567031" y="2131822"/>
                    <a:pt x="12502515" y="2131822"/>
                  </a:cubicBezTo>
                  <a:lnTo>
                    <a:pt x="12502515" y="2119122"/>
                  </a:lnTo>
                  <a:lnTo>
                    <a:pt x="12502515" y="2131822"/>
                  </a:lnTo>
                  <a:lnTo>
                    <a:pt x="116967" y="2131822"/>
                  </a:lnTo>
                  <a:lnTo>
                    <a:pt x="116967" y="2119122"/>
                  </a:lnTo>
                  <a:lnTo>
                    <a:pt x="116967" y="2131822"/>
                  </a:lnTo>
                  <a:cubicBezTo>
                    <a:pt x="52451" y="2131822"/>
                    <a:pt x="0" y="2080006"/>
                    <a:pt x="0" y="2015871"/>
                  </a:cubicBezTo>
                  <a:lnTo>
                    <a:pt x="0" y="115951"/>
                  </a:lnTo>
                  <a:lnTo>
                    <a:pt x="12700" y="115951"/>
                  </a:lnTo>
                  <a:lnTo>
                    <a:pt x="0" y="115951"/>
                  </a:lnTo>
                  <a:moveTo>
                    <a:pt x="25400" y="115951"/>
                  </a:moveTo>
                  <a:lnTo>
                    <a:pt x="25400" y="2015871"/>
                  </a:lnTo>
                  <a:lnTo>
                    <a:pt x="12700" y="2015871"/>
                  </a:lnTo>
                  <a:lnTo>
                    <a:pt x="25400" y="2015871"/>
                  </a:lnTo>
                  <a:cubicBezTo>
                    <a:pt x="25400" y="2065782"/>
                    <a:pt x="66294" y="2106422"/>
                    <a:pt x="116967" y="2106422"/>
                  </a:cubicBezTo>
                  <a:lnTo>
                    <a:pt x="12502515" y="2106422"/>
                  </a:lnTo>
                  <a:cubicBezTo>
                    <a:pt x="12553188" y="2106422"/>
                    <a:pt x="12594082" y="2065782"/>
                    <a:pt x="12594082" y="2015871"/>
                  </a:cubicBezTo>
                  <a:lnTo>
                    <a:pt x="12594082" y="115951"/>
                  </a:lnTo>
                  <a:cubicBezTo>
                    <a:pt x="12594082" y="66040"/>
                    <a:pt x="12553188" y="25400"/>
                    <a:pt x="12502515" y="25400"/>
                  </a:cubicBezTo>
                  <a:lnTo>
                    <a:pt x="116967" y="25400"/>
                  </a:lnTo>
                  <a:lnTo>
                    <a:pt x="116967" y="12700"/>
                  </a:lnTo>
                  <a:lnTo>
                    <a:pt x="116967" y="25400"/>
                  </a:lnTo>
                  <a:cubicBezTo>
                    <a:pt x="66294" y="25400"/>
                    <a:pt x="25400" y="66040"/>
                    <a:pt x="25400" y="115951"/>
                  </a:cubicBezTo>
                  <a:close/>
                </a:path>
              </a:pathLst>
            </a:custGeom>
            <a:solidFill>
              <a:srgbClr val="FFE0CC"/>
            </a:solidFill>
            <a:ln w="12700">
              <a:solidFill>
                <a:srgbClr val="000000"/>
              </a:solidFill>
            </a:ln>
          </p:spPr>
        </p:sp>
      </p:grpSp>
      <p:grpSp>
        <p:nvGrpSpPr>
          <p:cNvPr name="Group 36" id="36"/>
          <p:cNvGrpSpPr/>
          <p:nvPr/>
        </p:nvGrpSpPr>
        <p:grpSpPr>
          <a:xfrm rot="0">
            <a:off x="1011288" y="7592466"/>
            <a:ext cx="737146" cy="1541710"/>
            <a:chOff x="0" y="0"/>
            <a:chExt cx="982862" cy="2055613"/>
          </a:xfrm>
        </p:grpSpPr>
        <p:sp>
          <p:nvSpPr>
            <p:cNvPr name="Freeform 37" id="37"/>
            <p:cNvSpPr/>
            <p:nvPr/>
          </p:nvSpPr>
          <p:spPr>
            <a:xfrm flipH="false" flipV="false" rot="0">
              <a:off x="0" y="0"/>
              <a:ext cx="982853" cy="2055622"/>
            </a:xfrm>
            <a:custGeom>
              <a:avLst/>
              <a:gdLst/>
              <a:ahLst/>
              <a:cxnLst/>
              <a:rect r="r" b="b" t="t" l="l"/>
              <a:pathLst>
                <a:path h="2055622" w="982853">
                  <a:moveTo>
                    <a:pt x="0" y="72771"/>
                  </a:moveTo>
                  <a:cubicBezTo>
                    <a:pt x="0" y="32512"/>
                    <a:pt x="32512" y="0"/>
                    <a:pt x="72771" y="0"/>
                  </a:cubicBezTo>
                  <a:lnTo>
                    <a:pt x="910082" y="0"/>
                  </a:lnTo>
                  <a:cubicBezTo>
                    <a:pt x="950214" y="0"/>
                    <a:pt x="982853" y="32512"/>
                    <a:pt x="982853" y="72771"/>
                  </a:cubicBezTo>
                  <a:lnTo>
                    <a:pt x="982853" y="1982851"/>
                  </a:lnTo>
                  <a:cubicBezTo>
                    <a:pt x="982853" y="2022983"/>
                    <a:pt x="950341" y="2055622"/>
                    <a:pt x="910082" y="2055622"/>
                  </a:cubicBezTo>
                  <a:lnTo>
                    <a:pt x="72771" y="2055622"/>
                  </a:lnTo>
                  <a:cubicBezTo>
                    <a:pt x="32639" y="2055622"/>
                    <a:pt x="0" y="2023110"/>
                    <a:pt x="0" y="1982851"/>
                  </a:cubicBezTo>
                  <a:close/>
                </a:path>
              </a:pathLst>
            </a:custGeom>
            <a:solidFill>
              <a:srgbClr val="FFFFF4"/>
            </a:solidFill>
            <a:ln w="12700">
              <a:solidFill>
                <a:srgbClr val="000000"/>
              </a:solidFill>
            </a:ln>
          </p:spPr>
        </p:sp>
      </p:grpSp>
      <p:sp>
        <p:nvSpPr>
          <p:cNvPr name="Freeform 38" id="38" descr="preencoded.png"/>
          <p:cNvSpPr/>
          <p:nvPr/>
        </p:nvSpPr>
        <p:spPr>
          <a:xfrm flipH="false" flipV="false" rot="0">
            <a:off x="1232147" y="8224986"/>
            <a:ext cx="276374" cy="276374"/>
          </a:xfrm>
          <a:custGeom>
            <a:avLst/>
            <a:gdLst/>
            <a:ahLst/>
            <a:cxnLst/>
            <a:rect r="r" b="b" t="t" l="l"/>
            <a:pathLst>
              <a:path h="276374" w="276374">
                <a:moveTo>
                  <a:pt x="0" y="0"/>
                </a:moveTo>
                <a:lnTo>
                  <a:pt x="276374" y="0"/>
                </a:lnTo>
                <a:lnTo>
                  <a:pt x="276374" y="276374"/>
                </a:lnTo>
                <a:lnTo>
                  <a:pt x="0" y="2763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9" id="39"/>
          <p:cNvSpPr txBox="true"/>
          <p:nvPr/>
        </p:nvSpPr>
        <p:spPr>
          <a:xfrm rot="0">
            <a:off x="1932682" y="7738616"/>
            <a:ext cx="2649141" cy="335780"/>
          </a:xfrm>
          <a:prstGeom prst="rect">
            <a:avLst/>
          </a:prstGeom>
        </p:spPr>
        <p:txBody>
          <a:bodyPr anchor="t" rtlCol="false" tIns="0" lIns="0" bIns="0" rIns="0">
            <a:spAutoFit/>
          </a:bodyPr>
          <a:lstStyle/>
          <a:p>
            <a:pPr algn="l">
              <a:lnSpc>
                <a:spcPts val="2606"/>
              </a:lnSpc>
            </a:pPr>
            <a:r>
              <a:rPr lang="en-US" sz="2000" b="true">
                <a:solidFill>
                  <a:srgbClr val="67534F"/>
                </a:solidFill>
                <a:latin typeface="Times New Roman Bold"/>
                <a:ea typeface="Times New Roman Bold"/>
                <a:cs typeface="Times New Roman Bold"/>
                <a:sym typeface="Times New Roman Bold"/>
              </a:rPr>
              <a:t>Core Functions</a:t>
            </a:r>
          </a:p>
        </p:txBody>
      </p:sp>
      <p:sp>
        <p:nvSpPr>
          <p:cNvPr name="TextBox 40" id="40"/>
          <p:cNvSpPr txBox="true"/>
          <p:nvPr/>
        </p:nvSpPr>
        <p:spPr>
          <a:xfrm rot="0">
            <a:off x="1932683" y="8202960"/>
            <a:ext cx="8301781" cy="503997"/>
          </a:xfrm>
          <a:prstGeom prst="rect">
            <a:avLst/>
          </a:prstGeom>
        </p:spPr>
        <p:txBody>
          <a:bodyPr anchor="t" rtlCol="false" tIns="0" lIns="0" bIns="0" rIns="0">
            <a:spAutoFit/>
          </a:bodyPr>
          <a:lstStyle/>
          <a:p>
            <a:pPr algn="l">
              <a:lnSpc>
                <a:spcPts val="1956"/>
              </a:lnSpc>
            </a:pPr>
            <a:r>
              <a:rPr lang="en-US" sz="1500">
                <a:solidFill>
                  <a:srgbClr val="67534F"/>
                </a:solidFill>
                <a:latin typeface="Times New Roman"/>
                <a:ea typeface="Times New Roman"/>
                <a:cs typeface="Times New Roman"/>
                <a:sym typeface="Times New Roman"/>
              </a:rPr>
              <a:t>Automates three processes: fetching reliable historical data, calculating key technical indicators like Moving Averages, and generating dynamic charting for investment decisions.</a:t>
            </a:r>
          </a:p>
        </p:txBody>
      </p:sp>
      <p:sp>
        <p:nvSpPr>
          <p:cNvPr name="Freeform 41" id="41"/>
          <p:cNvSpPr/>
          <p:nvPr/>
        </p:nvSpPr>
        <p:spPr>
          <a:xfrm flipH="false" flipV="false" rot="0">
            <a:off x="17638694" y="9761787"/>
            <a:ext cx="649306" cy="576112"/>
          </a:xfrm>
          <a:custGeom>
            <a:avLst/>
            <a:gdLst/>
            <a:ahLst/>
            <a:cxnLst/>
            <a:rect r="r" b="b" t="t" l="l"/>
            <a:pathLst>
              <a:path h="576112" w="649306">
                <a:moveTo>
                  <a:pt x="0" y="0"/>
                </a:moveTo>
                <a:lnTo>
                  <a:pt x="649306" y="0"/>
                </a:lnTo>
                <a:lnTo>
                  <a:pt x="649306" y="576112"/>
                </a:lnTo>
                <a:lnTo>
                  <a:pt x="0" y="5761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2" id="42"/>
          <p:cNvSpPr/>
          <p:nvPr/>
        </p:nvSpPr>
        <p:spPr>
          <a:xfrm flipH="false" flipV="false" rot="0">
            <a:off x="0" y="9641344"/>
            <a:ext cx="727686" cy="645656"/>
          </a:xfrm>
          <a:custGeom>
            <a:avLst/>
            <a:gdLst/>
            <a:ahLst/>
            <a:cxnLst/>
            <a:rect r="r" b="b" t="t" l="l"/>
            <a:pathLst>
              <a:path h="645656" w="727686">
                <a:moveTo>
                  <a:pt x="0" y="0"/>
                </a:moveTo>
                <a:lnTo>
                  <a:pt x="727686" y="0"/>
                </a:lnTo>
                <a:lnTo>
                  <a:pt x="727686" y="645656"/>
                </a:lnTo>
                <a:lnTo>
                  <a:pt x="0" y="64565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3" id="43"/>
          <p:cNvSpPr/>
          <p:nvPr/>
        </p:nvSpPr>
        <p:spPr>
          <a:xfrm flipH="false" flipV="false" rot="0">
            <a:off x="8314548" y="9481364"/>
            <a:ext cx="1472093" cy="805636"/>
          </a:xfrm>
          <a:custGeom>
            <a:avLst/>
            <a:gdLst/>
            <a:ahLst/>
            <a:cxnLst/>
            <a:rect r="r" b="b" t="t" l="l"/>
            <a:pathLst>
              <a:path h="805636" w="1472093">
                <a:moveTo>
                  <a:pt x="0" y="0"/>
                </a:moveTo>
                <a:lnTo>
                  <a:pt x="1472093" y="0"/>
                </a:lnTo>
                <a:lnTo>
                  <a:pt x="1472093" y="805636"/>
                </a:lnTo>
                <a:lnTo>
                  <a:pt x="0" y="80563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C8AB"/>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4">
                <a:alpha val="90196"/>
              </a:srgbClr>
            </a:solidFill>
            <a:ln w="12700">
              <a:solidFill>
                <a:srgbClr val="000000"/>
              </a:solidFill>
            </a:ln>
          </p:spPr>
        </p:sp>
      </p:grpSp>
      <p:sp>
        <p:nvSpPr>
          <p:cNvPr name="TextBox 6" id="6"/>
          <p:cNvSpPr txBox="true"/>
          <p:nvPr/>
        </p:nvSpPr>
        <p:spPr>
          <a:xfrm rot="0">
            <a:off x="3033262" y="365056"/>
            <a:ext cx="12162979" cy="687994"/>
          </a:xfrm>
          <a:prstGeom prst="rect">
            <a:avLst/>
          </a:prstGeom>
        </p:spPr>
        <p:txBody>
          <a:bodyPr anchor="t" rtlCol="false" tIns="0" lIns="0" bIns="0" rIns="0">
            <a:spAutoFit/>
          </a:bodyPr>
          <a:lstStyle/>
          <a:p>
            <a:pPr algn="ctr">
              <a:lnSpc>
                <a:spcPts val="5472"/>
              </a:lnSpc>
            </a:pPr>
            <a:r>
              <a:rPr lang="en-US" sz="4200">
                <a:solidFill>
                  <a:srgbClr val="532418"/>
                </a:solidFill>
                <a:latin typeface="Times New Roman"/>
                <a:ea typeface="Times New Roman"/>
                <a:cs typeface="Times New Roman"/>
                <a:sym typeface="Times New Roman"/>
              </a:rPr>
              <a:t>Modular Architecture and Assignment Compliance</a:t>
            </a:r>
          </a:p>
        </p:txBody>
      </p:sp>
      <p:sp>
        <p:nvSpPr>
          <p:cNvPr name="TextBox 7" id="7"/>
          <p:cNvSpPr txBox="true"/>
          <p:nvPr/>
        </p:nvSpPr>
        <p:spPr>
          <a:xfrm rot="0">
            <a:off x="722998" y="1643599"/>
            <a:ext cx="17299335" cy="414545"/>
          </a:xfrm>
          <a:prstGeom prst="rect">
            <a:avLst/>
          </a:prstGeom>
        </p:spPr>
        <p:txBody>
          <a:bodyPr anchor="t" rtlCol="false" tIns="0" lIns="0" bIns="0" rIns="0">
            <a:spAutoFit/>
          </a:bodyPr>
          <a:lstStyle/>
          <a:p>
            <a:pPr algn="l">
              <a:lnSpc>
                <a:spcPts val="3260"/>
              </a:lnSpc>
            </a:pPr>
            <a:r>
              <a:rPr lang="en-US" sz="2499">
                <a:solidFill>
                  <a:srgbClr val="67534F"/>
                </a:solidFill>
                <a:latin typeface="Times New Roman"/>
                <a:ea typeface="Times New Roman"/>
                <a:cs typeface="Times New Roman"/>
                <a:sym typeface="Times New Roman"/>
              </a:rPr>
              <a:t>FinSight's architecture is built on a modular design, ensuring clarity, maintainability, and direct compliance with project requirements.</a:t>
            </a:r>
          </a:p>
        </p:txBody>
      </p:sp>
      <p:grpSp>
        <p:nvGrpSpPr>
          <p:cNvPr name="Group 8" id="8"/>
          <p:cNvGrpSpPr>
            <a:grpSpLocks noChangeAspect="true"/>
          </p:cNvGrpSpPr>
          <p:nvPr/>
        </p:nvGrpSpPr>
        <p:grpSpPr>
          <a:xfrm rot="0">
            <a:off x="6789985" y="2277219"/>
            <a:ext cx="4825884" cy="4552355"/>
            <a:chOff x="0" y="0"/>
            <a:chExt cx="6277372" cy="5921573"/>
          </a:xfrm>
        </p:grpSpPr>
        <p:sp>
          <p:nvSpPr>
            <p:cNvPr name="Freeform 9" id="9" descr="preencoded.png"/>
            <p:cNvSpPr/>
            <p:nvPr/>
          </p:nvSpPr>
          <p:spPr>
            <a:xfrm flipH="false" flipV="false" rot="0">
              <a:off x="0" y="0"/>
              <a:ext cx="6277356" cy="5921629"/>
            </a:xfrm>
            <a:custGeom>
              <a:avLst/>
              <a:gdLst/>
              <a:ahLst/>
              <a:cxnLst/>
              <a:rect r="r" b="b" t="t" l="l"/>
              <a:pathLst>
                <a:path h="5921629" w="6277356">
                  <a:moveTo>
                    <a:pt x="0" y="0"/>
                  </a:moveTo>
                  <a:lnTo>
                    <a:pt x="6277356" y="0"/>
                  </a:lnTo>
                  <a:lnTo>
                    <a:pt x="6277356" y="5921629"/>
                  </a:lnTo>
                  <a:lnTo>
                    <a:pt x="0" y="5921629"/>
                  </a:lnTo>
                  <a:lnTo>
                    <a:pt x="0" y="0"/>
                  </a:lnTo>
                  <a:close/>
                </a:path>
              </a:pathLst>
            </a:custGeom>
            <a:blipFill>
              <a:blip r:embed="rId3"/>
              <a:stretch>
                <a:fillRect l="0" t="0" r="0" b="0"/>
              </a:stretch>
            </a:blipFill>
          </p:spPr>
        </p:sp>
      </p:grpSp>
      <p:sp>
        <p:nvSpPr>
          <p:cNvPr name="TextBox 10" id="10"/>
          <p:cNvSpPr txBox="true"/>
          <p:nvPr/>
        </p:nvSpPr>
        <p:spPr>
          <a:xfrm rot="0">
            <a:off x="7242001" y="4903677"/>
            <a:ext cx="1494605" cy="653333"/>
          </a:xfrm>
          <a:prstGeom prst="rect">
            <a:avLst/>
          </a:prstGeom>
        </p:spPr>
        <p:txBody>
          <a:bodyPr anchor="t" rtlCol="false" tIns="0" lIns="0" bIns="0" rIns="0">
            <a:spAutoFit/>
          </a:bodyPr>
          <a:lstStyle/>
          <a:p>
            <a:pPr algn="ctr">
              <a:lnSpc>
                <a:spcPts val="2580"/>
              </a:lnSpc>
            </a:pPr>
            <a:r>
              <a:rPr lang="en-US" sz="2000" b="true">
                <a:solidFill>
                  <a:srgbClr val="000000"/>
                </a:solidFill>
                <a:latin typeface="Times New Roman Bold"/>
                <a:ea typeface="Times New Roman Bold"/>
                <a:cs typeface="Times New Roman Bold"/>
                <a:sym typeface="Times New Roman Bold"/>
              </a:rPr>
              <a:t>Data Acquisition</a:t>
            </a:r>
          </a:p>
        </p:txBody>
      </p:sp>
      <p:sp>
        <p:nvSpPr>
          <p:cNvPr name="TextBox 11" id="11"/>
          <p:cNvSpPr txBox="true"/>
          <p:nvPr/>
        </p:nvSpPr>
        <p:spPr>
          <a:xfrm rot="0">
            <a:off x="7242001" y="5531011"/>
            <a:ext cx="1494605" cy="726621"/>
          </a:xfrm>
          <a:prstGeom prst="rect">
            <a:avLst/>
          </a:prstGeom>
        </p:spPr>
        <p:txBody>
          <a:bodyPr anchor="t" rtlCol="false" tIns="0" lIns="0" bIns="0" rIns="0">
            <a:spAutoFit/>
          </a:bodyPr>
          <a:lstStyle/>
          <a:p>
            <a:pPr algn="ctr">
              <a:lnSpc>
                <a:spcPts val="1928"/>
              </a:lnSpc>
            </a:pPr>
            <a:r>
              <a:rPr lang="en-US" sz="1500">
                <a:solidFill>
                  <a:srgbClr val="000000"/>
                </a:solidFill>
                <a:latin typeface="Times New Roman"/>
                <a:ea typeface="Times New Roman"/>
                <a:cs typeface="Times New Roman"/>
                <a:sym typeface="Times New Roman"/>
              </a:rPr>
              <a:t>Collect and ingest raw financial data from sources.</a:t>
            </a:r>
          </a:p>
        </p:txBody>
      </p:sp>
      <p:sp>
        <p:nvSpPr>
          <p:cNvPr name="TextBox 12" id="12"/>
          <p:cNvSpPr txBox="true"/>
          <p:nvPr/>
        </p:nvSpPr>
        <p:spPr>
          <a:xfrm rot="0">
            <a:off x="8367449" y="2759075"/>
            <a:ext cx="1494605" cy="653333"/>
          </a:xfrm>
          <a:prstGeom prst="rect">
            <a:avLst/>
          </a:prstGeom>
        </p:spPr>
        <p:txBody>
          <a:bodyPr anchor="t" rtlCol="false" tIns="0" lIns="0" bIns="0" rIns="0">
            <a:spAutoFit/>
          </a:bodyPr>
          <a:lstStyle/>
          <a:p>
            <a:pPr algn="ctr">
              <a:lnSpc>
                <a:spcPts val="2580"/>
              </a:lnSpc>
            </a:pPr>
            <a:r>
              <a:rPr lang="en-US" sz="2000" b="true">
                <a:solidFill>
                  <a:srgbClr val="000000"/>
                </a:solidFill>
                <a:latin typeface="Times New Roman Bold"/>
                <a:ea typeface="Times New Roman Bold"/>
                <a:cs typeface="Times New Roman Bold"/>
                <a:sym typeface="Times New Roman Bold"/>
              </a:rPr>
              <a:t>Financial Analytics</a:t>
            </a:r>
          </a:p>
        </p:txBody>
      </p:sp>
      <p:sp>
        <p:nvSpPr>
          <p:cNvPr name="TextBox 13" id="13"/>
          <p:cNvSpPr txBox="true"/>
          <p:nvPr/>
        </p:nvSpPr>
        <p:spPr>
          <a:xfrm rot="0">
            <a:off x="8367449" y="3386407"/>
            <a:ext cx="1494605" cy="964746"/>
          </a:xfrm>
          <a:prstGeom prst="rect">
            <a:avLst/>
          </a:prstGeom>
        </p:spPr>
        <p:txBody>
          <a:bodyPr anchor="t" rtlCol="false" tIns="0" lIns="0" bIns="0" rIns="0">
            <a:spAutoFit/>
          </a:bodyPr>
          <a:lstStyle/>
          <a:p>
            <a:pPr algn="ctr">
              <a:lnSpc>
                <a:spcPts val="1928"/>
              </a:lnSpc>
            </a:pPr>
            <a:r>
              <a:rPr lang="en-US" sz="1500">
                <a:solidFill>
                  <a:srgbClr val="000000"/>
                </a:solidFill>
                <a:latin typeface="Times New Roman"/>
                <a:ea typeface="Times New Roman"/>
                <a:cs typeface="Times New Roman"/>
                <a:sym typeface="Times New Roman"/>
              </a:rPr>
              <a:t>Process and analyze data to generate actionable insights.</a:t>
            </a:r>
          </a:p>
        </p:txBody>
      </p:sp>
      <p:sp>
        <p:nvSpPr>
          <p:cNvPr name="TextBox 14" id="14"/>
          <p:cNvSpPr txBox="true"/>
          <p:nvPr/>
        </p:nvSpPr>
        <p:spPr>
          <a:xfrm rot="0">
            <a:off x="9594098" y="4950050"/>
            <a:ext cx="1425327" cy="329483"/>
          </a:xfrm>
          <a:prstGeom prst="rect">
            <a:avLst/>
          </a:prstGeom>
        </p:spPr>
        <p:txBody>
          <a:bodyPr anchor="t" rtlCol="false" tIns="0" lIns="0" bIns="0" rIns="0">
            <a:spAutoFit/>
          </a:bodyPr>
          <a:lstStyle/>
          <a:p>
            <a:pPr algn="ctr">
              <a:lnSpc>
                <a:spcPts val="2580"/>
              </a:lnSpc>
            </a:pPr>
            <a:r>
              <a:rPr lang="en-US" sz="2000" b="true">
                <a:solidFill>
                  <a:srgbClr val="000000"/>
                </a:solidFill>
                <a:latin typeface="Times New Roman Bold"/>
                <a:ea typeface="Times New Roman Bold"/>
                <a:cs typeface="Times New Roman Bold"/>
                <a:sym typeface="Times New Roman Bold"/>
              </a:rPr>
              <a:t>Visualization</a:t>
            </a:r>
          </a:p>
        </p:txBody>
      </p:sp>
      <p:sp>
        <p:nvSpPr>
          <p:cNvPr name="TextBox 15" id="15"/>
          <p:cNvSpPr txBox="true"/>
          <p:nvPr/>
        </p:nvSpPr>
        <p:spPr>
          <a:xfrm rot="0">
            <a:off x="9559459" y="5297064"/>
            <a:ext cx="1494605" cy="964746"/>
          </a:xfrm>
          <a:prstGeom prst="rect">
            <a:avLst/>
          </a:prstGeom>
        </p:spPr>
        <p:txBody>
          <a:bodyPr anchor="t" rtlCol="false" tIns="0" lIns="0" bIns="0" rIns="0">
            <a:spAutoFit/>
          </a:bodyPr>
          <a:lstStyle/>
          <a:p>
            <a:pPr algn="ctr">
              <a:lnSpc>
                <a:spcPts val="1928"/>
              </a:lnSpc>
            </a:pPr>
            <a:r>
              <a:rPr lang="en-US" sz="1500">
                <a:solidFill>
                  <a:srgbClr val="000000"/>
                </a:solidFill>
                <a:latin typeface="Times New Roman"/>
                <a:ea typeface="Times New Roman"/>
                <a:cs typeface="Times New Roman"/>
                <a:sym typeface="Times New Roman"/>
              </a:rPr>
              <a:t>Present insights through dashboards for decision making.</a:t>
            </a:r>
          </a:p>
        </p:txBody>
      </p:sp>
      <p:sp>
        <p:nvSpPr>
          <p:cNvPr name="TextBox 16" id="16"/>
          <p:cNvSpPr txBox="true"/>
          <p:nvPr/>
        </p:nvSpPr>
        <p:spPr>
          <a:xfrm rot="0">
            <a:off x="988665" y="6896249"/>
            <a:ext cx="306884" cy="238125"/>
          </a:xfrm>
          <a:prstGeom prst="rect">
            <a:avLst/>
          </a:prstGeom>
        </p:spPr>
        <p:txBody>
          <a:bodyPr anchor="t" rtlCol="false" tIns="0" lIns="0" bIns="0" rIns="0">
            <a:spAutoFit/>
          </a:bodyPr>
          <a:lstStyle/>
          <a:p>
            <a:pPr algn="l">
              <a:lnSpc>
                <a:spcPts val="1874"/>
              </a:lnSpc>
            </a:pPr>
            <a:r>
              <a:rPr lang="en-US" sz="1437">
                <a:solidFill>
                  <a:srgbClr val="67534F"/>
                </a:solidFill>
                <a:latin typeface="Times New Roman"/>
                <a:ea typeface="Times New Roman"/>
                <a:cs typeface="Times New Roman"/>
                <a:sym typeface="Times New Roman"/>
              </a:rPr>
              <a:t>01</a:t>
            </a:r>
          </a:p>
        </p:txBody>
      </p:sp>
      <p:grpSp>
        <p:nvGrpSpPr>
          <p:cNvPr name="Group 17" id="17"/>
          <p:cNvGrpSpPr/>
          <p:nvPr/>
        </p:nvGrpSpPr>
        <p:grpSpPr>
          <a:xfrm rot="0">
            <a:off x="988665" y="7226796"/>
            <a:ext cx="5314504" cy="19050"/>
            <a:chOff x="0" y="0"/>
            <a:chExt cx="7086005" cy="25400"/>
          </a:xfrm>
        </p:grpSpPr>
        <p:sp>
          <p:nvSpPr>
            <p:cNvPr name="Freeform 18" id="18"/>
            <p:cNvSpPr/>
            <p:nvPr/>
          </p:nvSpPr>
          <p:spPr>
            <a:xfrm flipH="false" flipV="false" rot="0">
              <a:off x="0" y="0"/>
              <a:ext cx="7085965" cy="25400"/>
            </a:xfrm>
            <a:custGeom>
              <a:avLst/>
              <a:gdLst/>
              <a:ahLst/>
              <a:cxnLst/>
              <a:rect r="r" b="b" t="t" l="l"/>
              <a:pathLst>
                <a:path h="25400" w="7085965">
                  <a:moveTo>
                    <a:pt x="0" y="0"/>
                  </a:moveTo>
                  <a:lnTo>
                    <a:pt x="7085965" y="0"/>
                  </a:lnTo>
                  <a:lnTo>
                    <a:pt x="7085965" y="25400"/>
                  </a:lnTo>
                  <a:lnTo>
                    <a:pt x="0" y="25400"/>
                  </a:lnTo>
                  <a:close/>
                </a:path>
              </a:pathLst>
            </a:custGeom>
            <a:solidFill>
              <a:srgbClr val="FF954F"/>
            </a:solidFill>
            <a:ln w="12700">
              <a:solidFill>
                <a:srgbClr val="000000"/>
              </a:solidFill>
            </a:ln>
          </p:spPr>
        </p:sp>
      </p:grpSp>
      <p:sp>
        <p:nvSpPr>
          <p:cNvPr name="TextBox 19" id="19"/>
          <p:cNvSpPr txBox="true"/>
          <p:nvPr/>
        </p:nvSpPr>
        <p:spPr>
          <a:xfrm rot="0">
            <a:off x="988665" y="7318474"/>
            <a:ext cx="2956620" cy="335780"/>
          </a:xfrm>
          <a:prstGeom prst="rect">
            <a:avLst/>
          </a:prstGeom>
        </p:spPr>
        <p:txBody>
          <a:bodyPr anchor="t" rtlCol="false" tIns="0" lIns="0" bIns="0" rIns="0">
            <a:spAutoFit/>
          </a:bodyPr>
          <a:lstStyle/>
          <a:p>
            <a:pPr algn="l">
              <a:lnSpc>
                <a:spcPts val="2606"/>
              </a:lnSpc>
            </a:pPr>
            <a:r>
              <a:rPr lang="en-US" sz="2000">
                <a:solidFill>
                  <a:srgbClr val="67534F"/>
                </a:solidFill>
                <a:latin typeface="Times New Roman"/>
                <a:ea typeface="Times New Roman"/>
                <a:cs typeface="Times New Roman"/>
                <a:sym typeface="Times New Roman"/>
              </a:rPr>
              <a:t>Modularity Requirement</a:t>
            </a:r>
          </a:p>
        </p:txBody>
      </p:sp>
      <p:sp>
        <p:nvSpPr>
          <p:cNvPr name="TextBox 20" id="20"/>
          <p:cNvSpPr txBox="true"/>
          <p:nvPr/>
        </p:nvSpPr>
        <p:spPr>
          <a:xfrm rot="0">
            <a:off x="988665" y="7781330"/>
            <a:ext cx="5314504" cy="503997"/>
          </a:xfrm>
          <a:prstGeom prst="rect">
            <a:avLst/>
          </a:prstGeom>
        </p:spPr>
        <p:txBody>
          <a:bodyPr anchor="t" rtlCol="false" tIns="0" lIns="0" bIns="0" rIns="0">
            <a:spAutoFit/>
          </a:bodyPr>
          <a:lstStyle/>
          <a:p>
            <a:pPr algn="l">
              <a:lnSpc>
                <a:spcPts val="1956"/>
              </a:lnSpc>
            </a:pPr>
            <a:r>
              <a:rPr lang="en-US" sz="1500">
                <a:solidFill>
                  <a:srgbClr val="67534F"/>
                </a:solidFill>
                <a:latin typeface="Times New Roman"/>
                <a:ea typeface="Times New Roman"/>
                <a:cs typeface="Times New Roman"/>
                <a:sym typeface="Times New Roman"/>
              </a:rPr>
              <a:t>The project is structured into three distinct modules, fulfilling the assignment requirement for 'at least three main capabilities'.</a:t>
            </a:r>
          </a:p>
        </p:txBody>
      </p:sp>
      <p:sp>
        <p:nvSpPr>
          <p:cNvPr name="TextBox 21" id="21"/>
          <p:cNvSpPr txBox="true"/>
          <p:nvPr/>
        </p:nvSpPr>
        <p:spPr>
          <a:xfrm rot="0">
            <a:off x="6486674" y="6896249"/>
            <a:ext cx="303311" cy="238125"/>
          </a:xfrm>
          <a:prstGeom prst="rect">
            <a:avLst/>
          </a:prstGeom>
        </p:spPr>
        <p:txBody>
          <a:bodyPr anchor="t" rtlCol="false" tIns="0" lIns="0" bIns="0" rIns="0">
            <a:spAutoFit/>
          </a:bodyPr>
          <a:lstStyle/>
          <a:p>
            <a:pPr algn="l">
              <a:lnSpc>
                <a:spcPts val="1874"/>
              </a:lnSpc>
            </a:pPr>
            <a:r>
              <a:rPr lang="en-US" sz="1437">
                <a:solidFill>
                  <a:srgbClr val="67534F"/>
                </a:solidFill>
                <a:latin typeface="Times New Roman"/>
                <a:ea typeface="Times New Roman"/>
                <a:cs typeface="Times New Roman"/>
                <a:sym typeface="Times New Roman"/>
              </a:rPr>
              <a:t>02</a:t>
            </a:r>
          </a:p>
        </p:txBody>
      </p:sp>
      <p:grpSp>
        <p:nvGrpSpPr>
          <p:cNvPr name="Group 22" id="22"/>
          <p:cNvGrpSpPr/>
          <p:nvPr/>
        </p:nvGrpSpPr>
        <p:grpSpPr>
          <a:xfrm rot="0">
            <a:off x="6486674" y="7226796"/>
            <a:ext cx="5314504" cy="19050"/>
            <a:chOff x="0" y="0"/>
            <a:chExt cx="7086005" cy="25400"/>
          </a:xfrm>
        </p:grpSpPr>
        <p:sp>
          <p:nvSpPr>
            <p:cNvPr name="Freeform 23" id="23"/>
            <p:cNvSpPr/>
            <p:nvPr/>
          </p:nvSpPr>
          <p:spPr>
            <a:xfrm flipH="false" flipV="false" rot="0">
              <a:off x="0" y="0"/>
              <a:ext cx="7085965" cy="25400"/>
            </a:xfrm>
            <a:custGeom>
              <a:avLst/>
              <a:gdLst/>
              <a:ahLst/>
              <a:cxnLst/>
              <a:rect r="r" b="b" t="t" l="l"/>
              <a:pathLst>
                <a:path h="25400" w="7085965">
                  <a:moveTo>
                    <a:pt x="0" y="0"/>
                  </a:moveTo>
                  <a:lnTo>
                    <a:pt x="7085965" y="0"/>
                  </a:lnTo>
                  <a:lnTo>
                    <a:pt x="7085965" y="25400"/>
                  </a:lnTo>
                  <a:lnTo>
                    <a:pt x="0" y="25400"/>
                  </a:lnTo>
                  <a:close/>
                </a:path>
              </a:pathLst>
            </a:custGeom>
            <a:solidFill>
              <a:srgbClr val="FF954F"/>
            </a:solidFill>
            <a:ln w="12700">
              <a:solidFill>
                <a:srgbClr val="000000"/>
              </a:solidFill>
            </a:ln>
          </p:spPr>
        </p:sp>
      </p:grpSp>
      <p:sp>
        <p:nvSpPr>
          <p:cNvPr name="TextBox 24" id="24"/>
          <p:cNvSpPr txBox="true"/>
          <p:nvPr/>
        </p:nvSpPr>
        <p:spPr>
          <a:xfrm rot="0">
            <a:off x="6486674" y="7318474"/>
            <a:ext cx="3467992" cy="335780"/>
          </a:xfrm>
          <a:prstGeom prst="rect">
            <a:avLst/>
          </a:prstGeom>
        </p:spPr>
        <p:txBody>
          <a:bodyPr anchor="t" rtlCol="false" tIns="0" lIns="0" bIns="0" rIns="0">
            <a:spAutoFit/>
          </a:bodyPr>
          <a:lstStyle/>
          <a:p>
            <a:pPr algn="l">
              <a:lnSpc>
                <a:spcPts val="2606"/>
              </a:lnSpc>
            </a:pPr>
            <a:r>
              <a:rPr lang="en-US" sz="2000">
                <a:solidFill>
                  <a:srgbClr val="67534F"/>
                </a:solidFill>
                <a:latin typeface="Times New Roman"/>
                <a:ea typeface="Times New Roman"/>
                <a:cs typeface="Times New Roman"/>
                <a:sym typeface="Times New Roman"/>
              </a:rPr>
              <a:t>Separation of Concerns (SoC)</a:t>
            </a:r>
          </a:p>
        </p:txBody>
      </p:sp>
      <p:sp>
        <p:nvSpPr>
          <p:cNvPr name="TextBox 25" id="25"/>
          <p:cNvSpPr txBox="true"/>
          <p:nvPr/>
        </p:nvSpPr>
        <p:spPr>
          <a:xfrm rot="0">
            <a:off x="6486674" y="7781330"/>
            <a:ext cx="5314504" cy="503997"/>
          </a:xfrm>
          <a:prstGeom prst="rect">
            <a:avLst/>
          </a:prstGeom>
        </p:spPr>
        <p:txBody>
          <a:bodyPr anchor="t" rtlCol="false" tIns="0" lIns="0" bIns="0" rIns="0">
            <a:spAutoFit/>
          </a:bodyPr>
          <a:lstStyle/>
          <a:p>
            <a:pPr algn="l">
              <a:lnSpc>
                <a:spcPts val="1956"/>
              </a:lnSpc>
            </a:pPr>
            <a:r>
              <a:rPr lang="en-US" sz="1500">
                <a:solidFill>
                  <a:srgbClr val="67534F"/>
                </a:solidFill>
                <a:latin typeface="Times New Roman"/>
                <a:ea typeface="Times New Roman"/>
                <a:cs typeface="Times New Roman"/>
                <a:sym typeface="Times New Roman"/>
              </a:rPr>
              <a:t>This design (e.g., data_loader.py,analytics.py) prevents cascading failures; changes in one module won't break others.</a:t>
            </a:r>
          </a:p>
        </p:txBody>
      </p:sp>
      <p:sp>
        <p:nvSpPr>
          <p:cNvPr name="TextBox 26" id="26"/>
          <p:cNvSpPr txBox="true"/>
          <p:nvPr/>
        </p:nvSpPr>
        <p:spPr>
          <a:xfrm rot="0">
            <a:off x="11984682" y="6896249"/>
            <a:ext cx="314484" cy="238125"/>
          </a:xfrm>
          <a:prstGeom prst="rect">
            <a:avLst/>
          </a:prstGeom>
        </p:spPr>
        <p:txBody>
          <a:bodyPr anchor="t" rtlCol="false" tIns="0" lIns="0" bIns="0" rIns="0">
            <a:spAutoFit/>
          </a:bodyPr>
          <a:lstStyle/>
          <a:p>
            <a:pPr algn="l">
              <a:lnSpc>
                <a:spcPts val="1874"/>
              </a:lnSpc>
            </a:pPr>
            <a:r>
              <a:rPr lang="en-US" sz="1437">
                <a:solidFill>
                  <a:srgbClr val="67534F"/>
                </a:solidFill>
                <a:latin typeface="Times New Roman"/>
                <a:ea typeface="Times New Roman"/>
                <a:cs typeface="Times New Roman"/>
                <a:sym typeface="Times New Roman"/>
              </a:rPr>
              <a:t>03</a:t>
            </a:r>
          </a:p>
        </p:txBody>
      </p:sp>
      <p:grpSp>
        <p:nvGrpSpPr>
          <p:cNvPr name="Group 27" id="27"/>
          <p:cNvGrpSpPr/>
          <p:nvPr/>
        </p:nvGrpSpPr>
        <p:grpSpPr>
          <a:xfrm rot="0">
            <a:off x="11984682" y="7226796"/>
            <a:ext cx="5314652" cy="19050"/>
            <a:chOff x="0" y="0"/>
            <a:chExt cx="7086203" cy="25400"/>
          </a:xfrm>
        </p:grpSpPr>
        <p:sp>
          <p:nvSpPr>
            <p:cNvPr name="Freeform 28" id="28"/>
            <p:cNvSpPr/>
            <p:nvPr/>
          </p:nvSpPr>
          <p:spPr>
            <a:xfrm flipH="false" flipV="false" rot="0">
              <a:off x="0" y="0"/>
              <a:ext cx="7086219" cy="25400"/>
            </a:xfrm>
            <a:custGeom>
              <a:avLst/>
              <a:gdLst/>
              <a:ahLst/>
              <a:cxnLst/>
              <a:rect r="r" b="b" t="t" l="l"/>
              <a:pathLst>
                <a:path h="25400" w="7086219">
                  <a:moveTo>
                    <a:pt x="0" y="0"/>
                  </a:moveTo>
                  <a:lnTo>
                    <a:pt x="7086219" y="0"/>
                  </a:lnTo>
                  <a:lnTo>
                    <a:pt x="7086219" y="25400"/>
                  </a:lnTo>
                  <a:lnTo>
                    <a:pt x="0" y="25400"/>
                  </a:lnTo>
                  <a:close/>
                </a:path>
              </a:pathLst>
            </a:custGeom>
            <a:solidFill>
              <a:srgbClr val="FF954F"/>
            </a:solidFill>
            <a:ln w="12700">
              <a:solidFill>
                <a:srgbClr val="000000"/>
              </a:solidFill>
            </a:ln>
          </p:spPr>
        </p:sp>
      </p:grpSp>
      <p:sp>
        <p:nvSpPr>
          <p:cNvPr name="TextBox 29" id="29"/>
          <p:cNvSpPr txBox="true"/>
          <p:nvPr/>
        </p:nvSpPr>
        <p:spPr>
          <a:xfrm rot="0">
            <a:off x="11984682" y="7318474"/>
            <a:ext cx="2639466" cy="335780"/>
          </a:xfrm>
          <a:prstGeom prst="rect">
            <a:avLst/>
          </a:prstGeom>
        </p:spPr>
        <p:txBody>
          <a:bodyPr anchor="t" rtlCol="false" tIns="0" lIns="0" bIns="0" rIns="0">
            <a:spAutoFit/>
          </a:bodyPr>
          <a:lstStyle/>
          <a:p>
            <a:pPr algn="l">
              <a:lnSpc>
                <a:spcPts val="2606"/>
              </a:lnSpc>
            </a:pPr>
            <a:r>
              <a:rPr lang="en-US" sz="2000">
                <a:solidFill>
                  <a:srgbClr val="67534F"/>
                </a:solidFill>
                <a:latin typeface="Times New Roman"/>
                <a:ea typeface="Times New Roman"/>
                <a:cs typeface="Times New Roman"/>
                <a:sym typeface="Times New Roman"/>
              </a:rPr>
              <a:t>Module Breakdown</a:t>
            </a:r>
          </a:p>
        </p:txBody>
      </p:sp>
      <p:sp>
        <p:nvSpPr>
          <p:cNvPr name="TextBox 30" id="30"/>
          <p:cNvSpPr txBox="true"/>
          <p:nvPr/>
        </p:nvSpPr>
        <p:spPr>
          <a:xfrm rot="0">
            <a:off x="11984682" y="7781330"/>
            <a:ext cx="5314652" cy="503997"/>
          </a:xfrm>
          <a:prstGeom prst="rect">
            <a:avLst/>
          </a:prstGeom>
        </p:spPr>
        <p:txBody>
          <a:bodyPr anchor="t" rtlCol="false" tIns="0" lIns="0" bIns="0" rIns="0">
            <a:spAutoFit/>
          </a:bodyPr>
          <a:lstStyle/>
          <a:p>
            <a:pPr algn="l" marL="226219" indent="-113109" lvl="1">
              <a:lnSpc>
                <a:spcPts val="1956"/>
              </a:lnSpc>
              <a:buFont typeface="Arial"/>
              <a:buChar char="•"/>
            </a:pPr>
            <a:r>
              <a:rPr lang="en-US" sz="1500">
                <a:solidFill>
                  <a:srgbClr val="67534F"/>
                </a:solidFill>
                <a:latin typeface="Times New Roman"/>
                <a:ea typeface="Times New Roman"/>
                <a:cs typeface="Times New Roman"/>
                <a:sym typeface="Times New Roman"/>
              </a:rPr>
              <a:t>Data Acquisition: Utilizes yfinance for data collection with robust error handling.</a:t>
            </a:r>
          </a:p>
        </p:txBody>
      </p:sp>
      <p:sp>
        <p:nvSpPr>
          <p:cNvPr name="TextBox 31" id="31"/>
          <p:cNvSpPr txBox="true"/>
          <p:nvPr/>
        </p:nvSpPr>
        <p:spPr>
          <a:xfrm rot="0">
            <a:off x="11984682" y="8322915"/>
            <a:ext cx="5314652" cy="503997"/>
          </a:xfrm>
          <a:prstGeom prst="rect">
            <a:avLst/>
          </a:prstGeom>
        </p:spPr>
        <p:txBody>
          <a:bodyPr anchor="t" rtlCol="false" tIns="0" lIns="0" bIns="0" rIns="0">
            <a:spAutoFit/>
          </a:bodyPr>
          <a:lstStyle/>
          <a:p>
            <a:pPr algn="l" marL="226219" indent="-113109" lvl="1">
              <a:lnSpc>
                <a:spcPts val="1956"/>
              </a:lnSpc>
              <a:buFont typeface="Arial"/>
              <a:buChar char="•"/>
            </a:pPr>
            <a:r>
              <a:rPr lang="en-US" sz="1500">
                <a:solidFill>
                  <a:srgbClr val="67534F"/>
                </a:solidFill>
                <a:latin typeface="Times New Roman"/>
                <a:ea typeface="Times New Roman"/>
                <a:cs typeface="Times New Roman"/>
                <a:sym typeface="Times New Roman"/>
              </a:rPr>
              <a:t>Financial Analytics: Calculates metrics like SMA and Volatility in a vectorized format.</a:t>
            </a:r>
          </a:p>
        </p:txBody>
      </p:sp>
      <p:sp>
        <p:nvSpPr>
          <p:cNvPr name="TextBox 32" id="32"/>
          <p:cNvSpPr txBox="true"/>
          <p:nvPr/>
        </p:nvSpPr>
        <p:spPr>
          <a:xfrm rot="0">
            <a:off x="11984682" y="8864501"/>
            <a:ext cx="5314652" cy="503997"/>
          </a:xfrm>
          <a:prstGeom prst="rect">
            <a:avLst/>
          </a:prstGeom>
        </p:spPr>
        <p:txBody>
          <a:bodyPr anchor="t" rtlCol="false" tIns="0" lIns="0" bIns="0" rIns="0">
            <a:spAutoFit/>
          </a:bodyPr>
          <a:lstStyle/>
          <a:p>
            <a:pPr algn="l" marL="226219" indent="-113109" lvl="1">
              <a:lnSpc>
                <a:spcPts val="1956"/>
              </a:lnSpc>
              <a:buFont typeface="Arial"/>
              <a:buChar char="•"/>
            </a:pPr>
            <a:r>
              <a:rPr lang="en-US" sz="1500">
                <a:solidFill>
                  <a:srgbClr val="67534F"/>
                </a:solidFill>
                <a:latin typeface="Times New Roman"/>
                <a:ea typeface="Times New Roman"/>
                <a:cs typeface="Times New Roman"/>
                <a:sym typeface="Times New Roman"/>
              </a:rPr>
              <a:t>Visualization: Generates high-quality matplotlib  graphs to display buy/sell signals effectively.</a:t>
            </a:r>
          </a:p>
        </p:txBody>
      </p:sp>
      <p:sp>
        <p:nvSpPr>
          <p:cNvPr name="Freeform 33" id="33"/>
          <p:cNvSpPr/>
          <p:nvPr/>
        </p:nvSpPr>
        <p:spPr>
          <a:xfrm flipH="false" flipV="false" rot="0">
            <a:off x="0" y="9013544"/>
            <a:ext cx="988665" cy="1273456"/>
          </a:xfrm>
          <a:custGeom>
            <a:avLst/>
            <a:gdLst/>
            <a:ahLst/>
            <a:cxnLst/>
            <a:rect r="r" b="b" t="t" l="l"/>
            <a:pathLst>
              <a:path h="1273456" w="988665">
                <a:moveTo>
                  <a:pt x="0" y="0"/>
                </a:moveTo>
                <a:lnTo>
                  <a:pt x="988665" y="0"/>
                </a:lnTo>
                <a:lnTo>
                  <a:pt x="988665" y="1273456"/>
                </a:lnTo>
                <a:lnTo>
                  <a:pt x="0" y="12734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C8AB"/>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4">
                <a:alpha val="90196"/>
              </a:srgbClr>
            </a:solidFill>
            <a:ln w="12700">
              <a:solidFill>
                <a:srgbClr val="000000"/>
              </a:solidFill>
            </a:ln>
          </p:spPr>
        </p:sp>
      </p:grpSp>
      <p:sp>
        <p:nvSpPr>
          <p:cNvPr name="TextBox 6" id="6"/>
          <p:cNvSpPr txBox="true"/>
          <p:nvPr/>
        </p:nvSpPr>
        <p:spPr>
          <a:xfrm rot="0">
            <a:off x="4342591" y="651717"/>
            <a:ext cx="11953387" cy="696816"/>
          </a:xfrm>
          <a:prstGeom prst="rect">
            <a:avLst/>
          </a:prstGeom>
        </p:spPr>
        <p:txBody>
          <a:bodyPr anchor="t" rtlCol="false" tIns="0" lIns="0" bIns="0" rIns="0">
            <a:spAutoFit/>
          </a:bodyPr>
          <a:lstStyle/>
          <a:p>
            <a:pPr algn="l">
              <a:lnSpc>
                <a:spcPts val="5478"/>
              </a:lnSpc>
            </a:pPr>
            <a:r>
              <a:rPr lang="en-US" sz="4200" b="true">
                <a:solidFill>
                  <a:srgbClr val="532418"/>
                </a:solidFill>
                <a:latin typeface="Times New Roman Bold"/>
                <a:ea typeface="Times New Roman Bold"/>
                <a:cs typeface="Times New Roman Bold"/>
                <a:sym typeface="Times New Roman Bold"/>
              </a:rPr>
              <a:t>Technical Design Philosophy</a:t>
            </a:r>
          </a:p>
        </p:txBody>
      </p:sp>
      <p:sp>
        <p:nvSpPr>
          <p:cNvPr name="TextBox 7" id="7"/>
          <p:cNvSpPr txBox="true"/>
          <p:nvPr/>
        </p:nvSpPr>
        <p:spPr>
          <a:xfrm rot="0">
            <a:off x="992237" y="2022476"/>
            <a:ext cx="16303526" cy="812403"/>
          </a:xfrm>
          <a:prstGeom prst="rect">
            <a:avLst/>
          </a:prstGeom>
        </p:spPr>
        <p:txBody>
          <a:bodyPr anchor="t" rtlCol="false" tIns="0" lIns="0" bIns="0" rIns="0">
            <a:spAutoFit/>
          </a:bodyPr>
          <a:lstStyle/>
          <a:p>
            <a:pPr algn="l">
              <a:lnSpc>
                <a:spcPts val="3203"/>
              </a:lnSpc>
            </a:pPr>
            <a:r>
              <a:rPr lang="en-US" sz="2499">
                <a:solidFill>
                  <a:srgbClr val="67534F"/>
                </a:solidFill>
                <a:latin typeface="Times New Roman"/>
                <a:ea typeface="Times New Roman"/>
                <a:cs typeface="Times New Roman"/>
                <a:sym typeface="Times New Roman"/>
              </a:rPr>
              <a:t>My approach integrates robust programming principles with strategic tool selection, ensuring efficiency, maintainability, and future adaptability for FinSight.</a:t>
            </a:r>
          </a:p>
        </p:txBody>
      </p:sp>
      <p:grpSp>
        <p:nvGrpSpPr>
          <p:cNvPr name="Group 8" id="8"/>
          <p:cNvGrpSpPr/>
          <p:nvPr/>
        </p:nvGrpSpPr>
        <p:grpSpPr>
          <a:xfrm rot="0">
            <a:off x="977950" y="3292079"/>
            <a:ext cx="5292924" cy="6117134"/>
            <a:chOff x="0" y="0"/>
            <a:chExt cx="7057232" cy="8156178"/>
          </a:xfrm>
        </p:grpSpPr>
        <p:sp>
          <p:nvSpPr>
            <p:cNvPr name="Freeform 9" id="9"/>
            <p:cNvSpPr/>
            <p:nvPr/>
          </p:nvSpPr>
          <p:spPr>
            <a:xfrm flipH="false" flipV="false" rot="0">
              <a:off x="19050" y="19050"/>
              <a:ext cx="7019036" cy="8118094"/>
            </a:xfrm>
            <a:custGeom>
              <a:avLst/>
              <a:gdLst/>
              <a:ahLst/>
              <a:cxnLst/>
              <a:rect r="r" b="b" t="t" l="l"/>
              <a:pathLst>
                <a:path h="8118094" w="7019036">
                  <a:moveTo>
                    <a:pt x="0" y="143002"/>
                  </a:moveTo>
                  <a:cubicBezTo>
                    <a:pt x="0" y="64008"/>
                    <a:pt x="64008" y="0"/>
                    <a:pt x="142875" y="0"/>
                  </a:cubicBezTo>
                  <a:lnTo>
                    <a:pt x="6876161" y="0"/>
                  </a:lnTo>
                  <a:cubicBezTo>
                    <a:pt x="6955028" y="0"/>
                    <a:pt x="7019036" y="64008"/>
                    <a:pt x="7019036" y="143002"/>
                  </a:cubicBezTo>
                  <a:lnTo>
                    <a:pt x="7019036" y="7975092"/>
                  </a:lnTo>
                  <a:cubicBezTo>
                    <a:pt x="7019036" y="8054086"/>
                    <a:pt x="6955028" y="8118094"/>
                    <a:pt x="6876161" y="8118094"/>
                  </a:cubicBezTo>
                  <a:lnTo>
                    <a:pt x="142875" y="8118094"/>
                  </a:lnTo>
                  <a:cubicBezTo>
                    <a:pt x="64008" y="8118094"/>
                    <a:pt x="0" y="8054086"/>
                    <a:pt x="0" y="7975092"/>
                  </a:cubicBezTo>
                  <a:close/>
                </a:path>
              </a:pathLst>
            </a:custGeom>
            <a:solidFill>
              <a:srgbClr val="FFFFF4">
                <a:alpha val="90196"/>
              </a:srgbClr>
            </a:solidFill>
            <a:ln w="12700">
              <a:solidFill>
                <a:srgbClr val="000000"/>
              </a:solidFill>
            </a:ln>
          </p:spPr>
        </p:sp>
        <p:sp>
          <p:nvSpPr>
            <p:cNvPr name="Freeform 10" id="10"/>
            <p:cNvSpPr/>
            <p:nvPr/>
          </p:nvSpPr>
          <p:spPr>
            <a:xfrm flipH="false" flipV="false" rot="0">
              <a:off x="0" y="0"/>
              <a:ext cx="7057136" cy="8156194"/>
            </a:xfrm>
            <a:custGeom>
              <a:avLst/>
              <a:gdLst/>
              <a:ahLst/>
              <a:cxnLst/>
              <a:rect r="r" b="b" t="t" l="l"/>
              <a:pathLst>
                <a:path h="8156194" w="7057136">
                  <a:moveTo>
                    <a:pt x="0" y="162052"/>
                  </a:moveTo>
                  <a:cubicBezTo>
                    <a:pt x="0" y="72517"/>
                    <a:pt x="72517" y="0"/>
                    <a:pt x="161925" y="0"/>
                  </a:cubicBezTo>
                  <a:lnTo>
                    <a:pt x="6895211" y="0"/>
                  </a:lnTo>
                  <a:lnTo>
                    <a:pt x="6895211" y="19050"/>
                  </a:lnTo>
                  <a:lnTo>
                    <a:pt x="6895211" y="0"/>
                  </a:lnTo>
                  <a:cubicBezTo>
                    <a:pt x="6984619" y="0"/>
                    <a:pt x="7057136" y="72517"/>
                    <a:pt x="7057136" y="162052"/>
                  </a:cubicBezTo>
                  <a:lnTo>
                    <a:pt x="7038086" y="162052"/>
                  </a:lnTo>
                  <a:lnTo>
                    <a:pt x="7057136" y="162052"/>
                  </a:lnTo>
                  <a:lnTo>
                    <a:pt x="7057136" y="7994142"/>
                  </a:lnTo>
                  <a:lnTo>
                    <a:pt x="7038086" y="7994142"/>
                  </a:lnTo>
                  <a:lnTo>
                    <a:pt x="7057136" y="7994142"/>
                  </a:lnTo>
                  <a:cubicBezTo>
                    <a:pt x="7057136" y="8083677"/>
                    <a:pt x="6984619" y="8156194"/>
                    <a:pt x="6895211" y="8156194"/>
                  </a:cubicBezTo>
                  <a:lnTo>
                    <a:pt x="6895211" y="8137144"/>
                  </a:lnTo>
                  <a:lnTo>
                    <a:pt x="6895211" y="8156194"/>
                  </a:lnTo>
                  <a:lnTo>
                    <a:pt x="161925" y="8156194"/>
                  </a:lnTo>
                  <a:lnTo>
                    <a:pt x="161925" y="8137144"/>
                  </a:lnTo>
                  <a:lnTo>
                    <a:pt x="161925" y="8156194"/>
                  </a:lnTo>
                  <a:cubicBezTo>
                    <a:pt x="72517" y="8156194"/>
                    <a:pt x="0" y="8083550"/>
                    <a:pt x="0" y="7994142"/>
                  </a:cubicBezTo>
                  <a:lnTo>
                    <a:pt x="0" y="162052"/>
                  </a:lnTo>
                  <a:lnTo>
                    <a:pt x="19050" y="162052"/>
                  </a:lnTo>
                  <a:lnTo>
                    <a:pt x="0" y="162052"/>
                  </a:lnTo>
                  <a:moveTo>
                    <a:pt x="38100" y="162052"/>
                  </a:moveTo>
                  <a:lnTo>
                    <a:pt x="38100" y="7994142"/>
                  </a:lnTo>
                  <a:lnTo>
                    <a:pt x="19050" y="7994142"/>
                  </a:lnTo>
                  <a:lnTo>
                    <a:pt x="38100" y="7994142"/>
                  </a:lnTo>
                  <a:cubicBezTo>
                    <a:pt x="38100" y="8062595"/>
                    <a:pt x="93599" y="8118094"/>
                    <a:pt x="161925" y="8118094"/>
                  </a:cubicBezTo>
                  <a:lnTo>
                    <a:pt x="6895211" y="8118094"/>
                  </a:lnTo>
                  <a:cubicBezTo>
                    <a:pt x="6963664" y="8118094"/>
                    <a:pt x="7019036" y="8062595"/>
                    <a:pt x="7019036" y="7994142"/>
                  </a:cubicBezTo>
                  <a:lnTo>
                    <a:pt x="7019036" y="162052"/>
                  </a:lnTo>
                  <a:cubicBezTo>
                    <a:pt x="7019036" y="93599"/>
                    <a:pt x="6963537" y="38100"/>
                    <a:pt x="6895211" y="38100"/>
                  </a:cubicBezTo>
                  <a:lnTo>
                    <a:pt x="161925" y="38100"/>
                  </a:lnTo>
                  <a:lnTo>
                    <a:pt x="161925" y="19050"/>
                  </a:lnTo>
                  <a:lnTo>
                    <a:pt x="161925" y="38100"/>
                  </a:lnTo>
                  <a:cubicBezTo>
                    <a:pt x="93599" y="38100"/>
                    <a:pt x="38100" y="93599"/>
                    <a:pt x="38100" y="162052"/>
                  </a:cubicBezTo>
                  <a:close/>
                </a:path>
              </a:pathLst>
            </a:custGeom>
            <a:solidFill>
              <a:srgbClr val="FFE0CC"/>
            </a:solidFill>
            <a:ln w="12700">
              <a:solidFill>
                <a:srgbClr val="000000"/>
              </a:solidFill>
            </a:ln>
          </p:spPr>
        </p:sp>
      </p:grpSp>
      <p:grpSp>
        <p:nvGrpSpPr>
          <p:cNvPr name="Group 11" id="11"/>
          <p:cNvGrpSpPr/>
          <p:nvPr/>
        </p:nvGrpSpPr>
        <p:grpSpPr>
          <a:xfrm rot="0">
            <a:off x="1020812" y="3334941"/>
            <a:ext cx="5207199" cy="765422"/>
            <a:chOff x="0" y="0"/>
            <a:chExt cx="6942932" cy="1020563"/>
          </a:xfrm>
        </p:grpSpPr>
        <p:sp>
          <p:nvSpPr>
            <p:cNvPr name="Freeform 12" id="12"/>
            <p:cNvSpPr/>
            <p:nvPr/>
          </p:nvSpPr>
          <p:spPr>
            <a:xfrm flipH="false" flipV="false" rot="0">
              <a:off x="0" y="0"/>
              <a:ext cx="6942963" cy="1020572"/>
            </a:xfrm>
            <a:custGeom>
              <a:avLst/>
              <a:gdLst/>
              <a:ahLst/>
              <a:cxnLst/>
              <a:rect r="r" b="b" t="t" l="l"/>
              <a:pathLst>
                <a:path h="1020572" w="6942963">
                  <a:moveTo>
                    <a:pt x="0" y="97155"/>
                  </a:moveTo>
                  <a:cubicBezTo>
                    <a:pt x="0" y="43561"/>
                    <a:pt x="43561" y="0"/>
                    <a:pt x="97155" y="0"/>
                  </a:cubicBezTo>
                  <a:lnTo>
                    <a:pt x="6845808" y="0"/>
                  </a:lnTo>
                  <a:cubicBezTo>
                    <a:pt x="6899528" y="0"/>
                    <a:pt x="6942963" y="43561"/>
                    <a:pt x="6942963" y="97155"/>
                  </a:cubicBezTo>
                  <a:lnTo>
                    <a:pt x="6942963" y="923417"/>
                  </a:lnTo>
                  <a:cubicBezTo>
                    <a:pt x="6942963" y="977138"/>
                    <a:pt x="6899401" y="1020572"/>
                    <a:pt x="6845808" y="1020572"/>
                  </a:cubicBezTo>
                  <a:lnTo>
                    <a:pt x="97155" y="1020572"/>
                  </a:lnTo>
                  <a:cubicBezTo>
                    <a:pt x="43561" y="1020572"/>
                    <a:pt x="0" y="977011"/>
                    <a:pt x="0" y="923417"/>
                  </a:cubicBezTo>
                  <a:close/>
                </a:path>
              </a:pathLst>
            </a:custGeom>
            <a:solidFill>
              <a:srgbClr val="FFFFF4"/>
            </a:solidFill>
            <a:ln w="12700">
              <a:solidFill>
                <a:srgbClr val="000000"/>
              </a:solidFill>
            </a:ln>
          </p:spPr>
        </p:sp>
      </p:grpSp>
      <p:sp>
        <p:nvSpPr>
          <p:cNvPr name="Freeform 13" id="13" descr="preencoded.png"/>
          <p:cNvSpPr/>
          <p:nvPr/>
        </p:nvSpPr>
        <p:spPr>
          <a:xfrm flipH="false" flipV="false" rot="0">
            <a:off x="3433019" y="3512046"/>
            <a:ext cx="382638" cy="382638"/>
          </a:xfrm>
          <a:custGeom>
            <a:avLst/>
            <a:gdLst/>
            <a:ahLst/>
            <a:cxnLst/>
            <a:rect r="r" b="b" t="t" l="l"/>
            <a:pathLst>
              <a:path h="382638" w="382638">
                <a:moveTo>
                  <a:pt x="0" y="0"/>
                </a:moveTo>
                <a:lnTo>
                  <a:pt x="382637" y="0"/>
                </a:lnTo>
                <a:lnTo>
                  <a:pt x="382637" y="382638"/>
                </a:lnTo>
                <a:lnTo>
                  <a:pt x="0" y="3826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275904" y="4317355"/>
            <a:ext cx="4697016" cy="335446"/>
          </a:xfrm>
          <a:prstGeom prst="rect">
            <a:avLst/>
          </a:prstGeom>
        </p:spPr>
        <p:txBody>
          <a:bodyPr anchor="t" rtlCol="false" tIns="0" lIns="0" bIns="0" rIns="0">
            <a:spAutoFit/>
          </a:bodyPr>
          <a:lstStyle/>
          <a:p>
            <a:pPr algn="l">
              <a:lnSpc>
                <a:spcPts val="2608"/>
              </a:lnSpc>
            </a:pPr>
            <a:r>
              <a:rPr lang="en-US" sz="2000" b="true">
                <a:solidFill>
                  <a:srgbClr val="67534F"/>
                </a:solidFill>
                <a:latin typeface="Times New Roman Bold"/>
                <a:ea typeface="Times New Roman Bold"/>
                <a:cs typeface="Times New Roman Bold"/>
                <a:sym typeface="Times New Roman Bold"/>
              </a:rPr>
              <a:t>Object-Oriented Programming (OOP)</a:t>
            </a:r>
          </a:p>
        </p:txBody>
      </p:sp>
      <p:sp>
        <p:nvSpPr>
          <p:cNvPr name="TextBox 15" id="15"/>
          <p:cNvSpPr txBox="true"/>
          <p:nvPr/>
        </p:nvSpPr>
        <p:spPr>
          <a:xfrm rot="0">
            <a:off x="1275904" y="5433566"/>
            <a:ext cx="4697016" cy="1441847"/>
          </a:xfrm>
          <a:prstGeom prst="rect">
            <a:avLst/>
          </a:prstGeom>
        </p:spPr>
        <p:txBody>
          <a:bodyPr anchor="t" rtlCol="false" tIns="0" lIns="0" bIns="0" rIns="0">
            <a:spAutoFit/>
          </a:bodyPr>
          <a:lstStyle/>
          <a:p>
            <a:pPr algn="l">
              <a:lnSpc>
                <a:spcPts val="1921"/>
              </a:lnSpc>
            </a:pPr>
            <a:r>
              <a:rPr lang="en-US" sz="1500">
                <a:solidFill>
                  <a:srgbClr val="67534F"/>
                </a:solidFill>
                <a:latin typeface="Times New Roman"/>
                <a:ea typeface="Times New Roman"/>
                <a:cs typeface="Times New Roman"/>
                <a:sym typeface="Times New Roman"/>
              </a:rPr>
              <a:t>The solution leverages an OOP-based approach with dedicated classes (e.g., DataLoader, StockAnalyser) that enable State Encapsulation. This strategy holds the main data structure (the DataFrame) as an object attribute, significantly reducing memory consumption and complexity by eliminating the need to pass large data objects repeatedly.</a:t>
            </a:r>
          </a:p>
        </p:txBody>
      </p:sp>
      <p:grpSp>
        <p:nvGrpSpPr>
          <p:cNvPr name="Group 16" id="16"/>
          <p:cNvGrpSpPr/>
          <p:nvPr/>
        </p:nvGrpSpPr>
        <p:grpSpPr>
          <a:xfrm rot="0">
            <a:off x="6497390" y="3292079"/>
            <a:ext cx="5293072" cy="6117134"/>
            <a:chOff x="0" y="0"/>
            <a:chExt cx="7057430" cy="8156178"/>
          </a:xfrm>
        </p:grpSpPr>
        <p:sp>
          <p:nvSpPr>
            <p:cNvPr name="Freeform 17" id="17"/>
            <p:cNvSpPr/>
            <p:nvPr/>
          </p:nvSpPr>
          <p:spPr>
            <a:xfrm flipH="false" flipV="false" rot="0">
              <a:off x="19050" y="19050"/>
              <a:ext cx="7019290" cy="8118094"/>
            </a:xfrm>
            <a:custGeom>
              <a:avLst/>
              <a:gdLst/>
              <a:ahLst/>
              <a:cxnLst/>
              <a:rect r="r" b="b" t="t" l="l"/>
              <a:pathLst>
                <a:path h="8118094" w="7019290">
                  <a:moveTo>
                    <a:pt x="0" y="143002"/>
                  </a:moveTo>
                  <a:cubicBezTo>
                    <a:pt x="0" y="64008"/>
                    <a:pt x="64008" y="0"/>
                    <a:pt x="142875" y="0"/>
                  </a:cubicBezTo>
                  <a:lnTo>
                    <a:pt x="6876415" y="0"/>
                  </a:lnTo>
                  <a:cubicBezTo>
                    <a:pt x="6955282" y="0"/>
                    <a:pt x="7019290" y="64008"/>
                    <a:pt x="7019290" y="143002"/>
                  </a:cubicBezTo>
                  <a:lnTo>
                    <a:pt x="7019290" y="7975092"/>
                  </a:lnTo>
                  <a:cubicBezTo>
                    <a:pt x="7019290" y="8054086"/>
                    <a:pt x="6955282" y="8118094"/>
                    <a:pt x="6876415" y="8118094"/>
                  </a:cubicBezTo>
                  <a:lnTo>
                    <a:pt x="142875" y="8118094"/>
                  </a:lnTo>
                  <a:cubicBezTo>
                    <a:pt x="64008" y="8118094"/>
                    <a:pt x="0" y="8054086"/>
                    <a:pt x="0" y="7975092"/>
                  </a:cubicBezTo>
                  <a:close/>
                </a:path>
              </a:pathLst>
            </a:custGeom>
            <a:solidFill>
              <a:srgbClr val="FFFFF4">
                <a:alpha val="90196"/>
              </a:srgbClr>
            </a:solidFill>
            <a:ln w="12700">
              <a:solidFill>
                <a:srgbClr val="000000"/>
              </a:solidFill>
            </a:ln>
          </p:spPr>
        </p:sp>
        <p:sp>
          <p:nvSpPr>
            <p:cNvPr name="Freeform 18" id="18"/>
            <p:cNvSpPr/>
            <p:nvPr/>
          </p:nvSpPr>
          <p:spPr>
            <a:xfrm flipH="false" flipV="false" rot="0">
              <a:off x="0" y="0"/>
              <a:ext cx="7057390" cy="8156194"/>
            </a:xfrm>
            <a:custGeom>
              <a:avLst/>
              <a:gdLst/>
              <a:ahLst/>
              <a:cxnLst/>
              <a:rect r="r" b="b" t="t" l="l"/>
              <a:pathLst>
                <a:path h="8156194" w="7057390">
                  <a:moveTo>
                    <a:pt x="0" y="162052"/>
                  </a:moveTo>
                  <a:cubicBezTo>
                    <a:pt x="0" y="72517"/>
                    <a:pt x="72517" y="0"/>
                    <a:pt x="161925" y="0"/>
                  </a:cubicBezTo>
                  <a:lnTo>
                    <a:pt x="6895465" y="0"/>
                  </a:lnTo>
                  <a:lnTo>
                    <a:pt x="6895465" y="19050"/>
                  </a:lnTo>
                  <a:lnTo>
                    <a:pt x="6895465" y="0"/>
                  </a:lnTo>
                  <a:cubicBezTo>
                    <a:pt x="6984873" y="0"/>
                    <a:pt x="7057390" y="72517"/>
                    <a:pt x="7057390" y="162052"/>
                  </a:cubicBezTo>
                  <a:lnTo>
                    <a:pt x="7038340" y="162052"/>
                  </a:lnTo>
                  <a:lnTo>
                    <a:pt x="7057390" y="162052"/>
                  </a:lnTo>
                  <a:lnTo>
                    <a:pt x="7057390" y="7994142"/>
                  </a:lnTo>
                  <a:lnTo>
                    <a:pt x="7038340" y="7994142"/>
                  </a:lnTo>
                  <a:lnTo>
                    <a:pt x="7057390" y="7994142"/>
                  </a:lnTo>
                  <a:cubicBezTo>
                    <a:pt x="7057390" y="8083677"/>
                    <a:pt x="6984873" y="8156194"/>
                    <a:pt x="6895465" y="8156194"/>
                  </a:cubicBezTo>
                  <a:lnTo>
                    <a:pt x="6895465" y="8137144"/>
                  </a:lnTo>
                  <a:lnTo>
                    <a:pt x="6895465" y="8156194"/>
                  </a:lnTo>
                  <a:lnTo>
                    <a:pt x="161925" y="8156194"/>
                  </a:lnTo>
                  <a:lnTo>
                    <a:pt x="161925" y="8137144"/>
                  </a:lnTo>
                  <a:lnTo>
                    <a:pt x="161925" y="8156194"/>
                  </a:lnTo>
                  <a:cubicBezTo>
                    <a:pt x="72517" y="8156194"/>
                    <a:pt x="0" y="8083550"/>
                    <a:pt x="0" y="7994142"/>
                  </a:cubicBezTo>
                  <a:lnTo>
                    <a:pt x="0" y="162052"/>
                  </a:lnTo>
                  <a:lnTo>
                    <a:pt x="19050" y="162052"/>
                  </a:lnTo>
                  <a:lnTo>
                    <a:pt x="0" y="162052"/>
                  </a:lnTo>
                  <a:moveTo>
                    <a:pt x="38100" y="162052"/>
                  </a:moveTo>
                  <a:lnTo>
                    <a:pt x="38100" y="7994142"/>
                  </a:lnTo>
                  <a:lnTo>
                    <a:pt x="19050" y="7994142"/>
                  </a:lnTo>
                  <a:lnTo>
                    <a:pt x="38100" y="7994142"/>
                  </a:lnTo>
                  <a:cubicBezTo>
                    <a:pt x="38100" y="8062595"/>
                    <a:pt x="93599" y="8118094"/>
                    <a:pt x="161925" y="8118094"/>
                  </a:cubicBezTo>
                  <a:lnTo>
                    <a:pt x="6895465" y="8118094"/>
                  </a:lnTo>
                  <a:cubicBezTo>
                    <a:pt x="6963918" y="8118094"/>
                    <a:pt x="7019290" y="8062595"/>
                    <a:pt x="7019290" y="7994142"/>
                  </a:cubicBezTo>
                  <a:lnTo>
                    <a:pt x="7019290" y="162052"/>
                  </a:lnTo>
                  <a:cubicBezTo>
                    <a:pt x="7019290" y="93599"/>
                    <a:pt x="6963791" y="38100"/>
                    <a:pt x="6895465" y="38100"/>
                  </a:cubicBezTo>
                  <a:lnTo>
                    <a:pt x="161925" y="38100"/>
                  </a:lnTo>
                  <a:lnTo>
                    <a:pt x="161925" y="19050"/>
                  </a:lnTo>
                  <a:lnTo>
                    <a:pt x="161925" y="38100"/>
                  </a:lnTo>
                  <a:cubicBezTo>
                    <a:pt x="93599" y="38100"/>
                    <a:pt x="38100" y="93599"/>
                    <a:pt x="38100" y="162052"/>
                  </a:cubicBezTo>
                  <a:close/>
                </a:path>
              </a:pathLst>
            </a:custGeom>
            <a:solidFill>
              <a:srgbClr val="FFE0CC"/>
            </a:solidFill>
            <a:ln w="12700">
              <a:solidFill>
                <a:srgbClr val="000000"/>
              </a:solidFill>
            </a:ln>
          </p:spPr>
        </p:sp>
      </p:grpSp>
      <p:grpSp>
        <p:nvGrpSpPr>
          <p:cNvPr name="Group 19" id="19"/>
          <p:cNvGrpSpPr/>
          <p:nvPr/>
        </p:nvGrpSpPr>
        <p:grpSpPr>
          <a:xfrm rot="0">
            <a:off x="6540252" y="3334941"/>
            <a:ext cx="5207348" cy="765422"/>
            <a:chOff x="0" y="0"/>
            <a:chExt cx="6943130" cy="1020563"/>
          </a:xfrm>
        </p:grpSpPr>
        <p:sp>
          <p:nvSpPr>
            <p:cNvPr name="Freeform 20" id="20"/>
            <p:cNvSpPr/>
            <p:nvPr/>
          </p:nvSpPr>
          <p:spPr>
            <a:xfrm flipH="false" flipV="false" rot="0">
              <a:off x="0" y="0"/>
              <a:ext cx="6943090" cy="1020572"/>
            </a:xfrm>
            <a:custGeom>
              <a:avLst/>
              <a:gdLst/>
              <a:ahLst/>
              <a:cxnLst/>
              <a:rect r="r" b="b" t="t" l="l"/>
              <a:pathLst>
                <a:path h="1020572" w="6943090">
                  <a:moveTo>
                    <a:pt x="0" y="97155"/>
                  </a:moveTo>
                  <a:cubicBezTo>
                    <a:pt x="0" y="43561"/>
                    <a:pt x="43561" y="0"/>
                    <a:pt x="97155" y="0"/>
                  </a:cubicBezTo>
                  <a:lnTo>
                    <a:pt x="6845936" y="0"/>
                  </a:lnTo>
                  <a:cubicBezTo>
                    <a:pt x="6899656" y="0"/>
                    <a:pt x="6943090" y="43561"/>
                    <a:pt x="6943090" y="97155"/>
                  </a:cubicBezTo>
                  <a:lnTo>
                    <a:pt x="6943090" y="923417"/>
                  </a:lnTo>
                  <a:cubicBezTo>
                    <a:pt x="6943090" y="977138"/>
                    <a:pt x="6899529" y="1020572"/>
                    <a:pt x="6845936" y="1020572"/>
                  </a:cubicBezTo>
                  <a:lnTo>
                    <a:pt x="97155" y="1020572"/>
                  </a:lnTo>
                  <a:cubicBezTo>
                    <a:pt x="43561" y="1020572"/>
                    <a:pt x="0" y="977011"/>
                    <a:pt x="0" y="923417"/>
                  </a:cubicBezTo>
                  <a:close/>
                </a:path>
              </a:pathLst>
            </a:custGeom>
            <a:solidFill>
              <a:srgbClr val="FFFFF4"/>
            </a:solidFill>
            <a:ln w="12700">
              <a:solidFill>
                <a:srgbClr val="000000"/>
              </a:solidFill>
            </a:ln>
          </p:spPr>
        </p:sp>
      </p:grpSp>
      <p:sp>
        <p:nvSpPr>
          <p:cNvPr name="Freeform 21" id="21" descr="preencoded.png"/>
          <p:cNvSpPr/>
          <p:nvPr/>
        </p:nvSpPr>
        <p:spPr>
          <a:xfrm flipH="false" flipV="false" rot="0">
            <a:off x="8952608" y="3512046"/>
            <a:ext cx="382638" cy="382638"/>
          </a:xfrm>
          <a:custGeom>
            <a:avLst/>
            <a:gdLst/>
            <a:ahLst/>
            <a:cxnLst/>
            <a:rect r="r" b="b" t="t" l="l"/>
            <a:pathLst>
              <a:path h="382638" w="382638">
                <a:moveTo>
                  <a:pt x="0" y="0"/>
                </a:moveTo>
                <a:lnTo>
                  <a:pt x="382637" y="0"/>
                </a:lnTo>
                <a:lnTo>
                  <a:pt x="382637" y="382638"/>
                </a:lnTo>
                <a:lnTo>
                  <a:pt x="0" y="382638"/>
                </a:lnTo>
                <a:lnTo>
                  <a:pt x="0" y="0"/>
                </a:lnTo>
                <a:close/>
              </a:path>
            </a:pathLst>
          </a:custGeom>
          <a:blipFill>
            <a:blip r:embed="rId5">
              <a:extLst>
                <a:ext uri="{96DAC541-7B7A-43D3-8B79-37D633B846F1}">
                  <asvg:svgBlip xmlns:asvg="http://schemas.microsoft.com/office/drawing/2016/SVG/main" r:embed="rId6"/>
                </a:ext>
              </a:extLst>
            </a:blip>
            <a:stretch>
              <a:fillRect l="-4878" t="0" r="-4878" b="0"/>
            </a:stretch>
          </a:blipFill>
        </p:spPr>
      </p:sp>
      <p:sp>
        <p:nvSpPr>
          <p:cNvPr name="TextBox 22" id="22"/>
          <p:cNvSpPr txBox="true"/>
          <p:nvPr/>
        </p:nvSpPr>
        <p:spPr>
          <a:xfrm rot="0">
            <a:off x="6795344" y="4317355"/>
            <a:ext cx="3668166" cy="335446"/>
          </a:xfrm>
          <a:prstGeom prst="rect">
            <a:avLst/>
          </a:prstGeom>
        </p:spPr>
        <p:txBody>
          <a:bodyPr anchor="t" rtlCol="false" tIns="0" lIns="0" bIns="0" rIns="0">
            <a:spAutoFit/>
          </a:bodyPr>
          <a:lstStyle/>
          <a:p>
            <a:pPr algn="l">
              <a:lnSpc>
                <a:spcPts val="2608"/>
              </a:lnSpc>
            </a:pPr>
            <a:r>
              <a:rPr lang="en-US" sz="2000" b="true">
                <a:solidFill>
                  <a:srgbClr val="67534F"/>
                </a:solidFill>
                <a:latin typeface="Times New Roman Bold"/>
                <a:ea typeface="Times New Roman Bold"/>
                <a:cs typeface="Times New Roman Bold"/>
                <a:sym typeface="Times New Roman Bold"/>
              </a:rPr>
              <a:t>Enhanced Scalability</a:t>
            </a:r>
          </a:p>
        </p:txBody>
      </p:sp>
      <p:sp>
        <p:nvSpPr>
          <p:cNvPr name="TextBox 23" id="23"/>
          <p:cNvSpPr txBox="true"/>
          <p:nvPr/>
        </p:nvSpPr>
        <p:spPr>
          <a:xfrm rot="0">
            <a:off x="6795418" y="5433566"/>
            <a:ext cx="4697165" cy="1203722"/>
          </a:xfrm>
          <a:prstGeom prst="rect">
            <a:avLst/>
          </a:prstGeom>
        </p:spPr>
        <p:txBody>
          <a:bodyPr anchor="t" rtlCol="false" tIns="0" lIns="0" bIns="0" rIns="0">
            <a:spAutoFit/>
          </a:bodyPr>
          <a:lstStyle/>
          <a:p>
            <a:pPr algn="l">
              <a:lnSpc>
                <a:spcPts val="1921"/>
              </a:lnSpc>
            </a:pPr>
            <a:r>
              <a:rPr lang="en-US" sz="1500">
                <a:solidFill>
                  <a:srgbClr val="67534F"/>
                </a:solidFill>
                <a:latin typeface="Times New Roman"/>
                <a:ea typeface="Times New Roman"/>
                <a:cs typeface="Times New Roman"/>
                <a:sym typeface="Times New Roman"/>
              </a:rPr>
              <a:t>FinSight's modular OOP structure inherently enhances scalability. This design makes it straightforward to integrate new functionalities, such as additional technical indicators or alternative data sources, without requiring a comprehensive remodeling of the entire application.</a:t>
            </a:r>
          </a:p>
        </p:txBody>
      </p:sp>
      <p:grpSp>
        <p:nvGrpSpPr>
          <p:cNvPr name="Group 24" id="24"/>
          <p:cNvGrpSpPr/>
          <p:nvPr/>
        </p:nvGrpSpPr>
        <p:grpSpPr>
          <a:xfrm rot="0">
            <a:off x="12016979" y="3292079"/>
            <a:ext cx="5293072" cy="6117134"/>
            <a:chOff x="0" y="0"/>
            <a:chExt cx="7057430" cy="8156178"/>
          </a:xfrm>
        </p:grpSpPr>
        <p:sp>
          <p:nvSpPr>
            <p:cNvPr name="Freeform 25" id="25"/>
            <p:cNvSpPr/>
            <p:nvPr/>
          </p:nvSpPr>
          <p:spPr>
            <a:xfrm flipH="false" flipV="false" rot="0">
              <a:off x="19050" y="19050"/>
              <a:ext cx="7019290" cy="8118094"/>
            </a:xfrm>
            <a:custGeom>
              <a:avLst/>
              <a:gdLst/>
              <a:ahLst/>
              <a:cxnLst/>
              <a:rect r="r" b="b" t="t" l="l"/>
              <a:pathLst>
                <a:path h="8118094" w="7019290">
                  <a:moveTo>
                    <a:pt x="0" y="143002"/>
                  </a:moveTo>
                  <a:cubicBezTo>
                    <a:pt x="0" y="64008"/>
                    <a:pt x="64008" y="0"/>
                    <a:pt x="142875" y="0"/>
                  </a:cubicBezTo>
                  <a:lnTo>
                    <a:pt x="6876415" y="0"/>
                  </a:lnTo>
                  <a:cubicBezTo>
                    <a:pt x="6955282" y="0"/>
                    <a:pt x="7019290" y="64008"/>
                    <a:pt x="7019290" y="143002"/>
                  </a:cubicBezTo>
                  <a:lnTo>
                    <a:pt x="7019290" y="7975092"/>
                  </a:lnTo>
                  <a:cubicBezTo>
                    <a:pt x="7019290" y="8054086"/>
                    <a:pt x="6955282" y="8118094"/>
                    <a:pt x="6876415" y="8118094"/>
                  </a:cubicBezTo>
                  <a:lnTo>
                    <a:pt x="142875" y="8118094"/>
                  </a:lnTo>
                  <a:cubicBezTo>
                    <a:pt x="64008" y="8118094"/>
                    <a:pt x="0" y="8054086"/>
                    <a:pt x="0" y="7975092"/>
                  </a:cubicBezTo>
                  <a:close/>
                </a:path>
              </a:pathLst>
            </a:custGeom>
            <a:solidFill>
              <a:srgbClr val="FFFFF4">
                <a:alpha val="90196"/>
              </a:srgbClr>
            </a:solidFill>
            <a:ln w="12700">
              <a:solidFill>
                <a:srgbClr val="000000"/>
              </a:solidFill>
            </a:ln>
          </p:spPr>
        </p:sp>
        <p:sp>
          <p:nvSpPr>
            <p:cNvPr name="Freeform 26" id="26"/>
            <p:cNvSpPr/>
            <p:nvPr/>
          </p:nvSpPr>
          <p:spPr>
            <a:xfrm flipH="false" flipV="false" rot="0">
              <a:off x="0" y="0"/>
              <a:ext cx="7057390" cy="8156194"/>
            </a:xfrm>
            <a:custGeom>
              <a:avLst/>
              <a:gdLst/>
              <a:ahLst/>
              <a:cxnLst/>
              <a:rect r="r" b="b" t="t" l="l"/>
              <a:pathLst>
                <a:path h="8156194" w="7057390">
                  <a:moveTo>
                    <a:pt x="0" y="162052"/>
                  </a:moveTo>
                  <a:cubicBezTo>
                    <a:pt x="0" y="72517"/>
                    <a:pt x="72517" y="0"/>
                    <a:pt x="161925" y="0"/>
                  </a:cubicBezTo>
                  <a:lnTo>
                    <a:pt x="6895465" y="0"/>
                  </a:lnTo>
                  <a:lnTo>
                    <a:pt x="6895465" y="19050"/>
                  </a:lnTo>
                  <a:lnTo>
                    <a:pt x="6895465" y="0"/>
                  </a:lnTo>
                  <a:cubicBezTo>
                    <a:pt x="6984873" y="0"/>
                    <a:pt x="7057390" y="72517"/>
                    <a:pt x="7057390" y="162052"/>
                  </a:cubicBezTo>
                  <a:lnTo>
                    <a:pt x="7038340" y="162052"/>
                  </a:lnTo>
                  <a:lnTo>
                    <a:pt x="7057390" y="162052"/>
                  </a:lnTo>
                  <a:lnTo>
                    <a:pt x="7057390" y="7994142"/>
                  </a:lnTo>
                  <a:lnTo>
                    <a:pt x="7038340" y="7994142"/>
                  </a:lnTo>
                  <a:lnTo>
                    <a:pt x="7057390" y="7994142"/>
                  </a:lnTo>
                  <a:cubicBezTo>
                    <a:pt x="7057390" y="8083677"/>
                    <a:pt x="6984873" y="8156194"/>
                    <a:pt x="6895465" y="8156194"/>
                  </a:cubicBezTo>
                  <a:lnTo>
                    <a:pt x="6895465" y="8137144"/>
                  </a:lnTo>
                  <a:lnTo>
                    <a:pt x="6895465" y="8156194"/>
                  </a:lnTo>
                  <a:lnTo>
                    <a:pt x="161925" y="8156194"/>
                  </a:lnTo>
                  <a:lnTo>
                    <a:pt x="161925" y="8137144"/>
                  </a:lnTo>
                  <a:lnTo>
                    <a:pt x="161925" y="8156194"/>
                  </a:lnTo>
                  <a:cubicBezTo>
                    <a:pt x="72517" y="8156194"/>
                    <a:pt x="0" y="8083550"/>
                    <a:pt x="0" y="7994142"/>
                  </a:cubicBezTo>
                  <a:lnTo>
                    <a:pt x="0" y="162052"/>
                  </a:lnTo>
                  <a:lnTo>
                    <a:pt x="19050" y="162052"/>
                  </a:lnTo>
                  <a:lnTo>
                    <a:pt x="0" y="162052"/>
                  </a:lnTo>
                  <a:moveTo>
                    <a:pt x="38100" y="162052"/>
                  </a:moveTo>
                  <a:lnTo>
                    <a:pt x="38100" y="7994142"/>
                  </a:lnTo>
                  <a:lnTo>
                    <a:pt x="19050" y="7994142"/>
                  </a:lnTo>
                  <a:lnTo>
                    <a:pt x="38100" y="7994142"/>
                  </a:lnTo>
                  <a:cubicBezTo>
                    <a:pt x="38100" y="8062595"/>
                    <a:pt x="93599" y="8118094"/>
                    <a:pt x="161925" y="8118094"/>
                  </a:cubicBezTo>
                  <a:lnTo>
                    <a:pt x="6895465" y="8118094"/>
                  </a:lnTo>
                  <a:cubicBezTo>
                    <a:pt x="6963918" y="8118094"/>
                    <a:pt x="7019290" y="8062595"/>
                    <a:pt x="7019290" y="7994142"/>
                  </a:cubicBezTo>
                  <a:lnTo>
                    <a:pt x="7019290" y="162052"/>
                  </a:lnTo>
                  <a:cubicBezTo>
                    <a:pt x="7019290" y="93599"/>
                    <a:pt x="6963791" y="38100"/>
                    <a:pt x="6895465" y="38100"/>
                  </a:cubicBezTo>
                  <a:lnTo>
                    <a:pt x="161925" y="38100"/>
                  </a:lnTo>
                  <a:lnTo>
                    <a:pt x="161925" y="19050"/>
                  </a:lnTo>
                  <a:lnTo>
                    <a:pt x="161925" y="38100"/>
                  </a:lnTo>
                  <a:cubicBezTo>
                    <a:pt x="93599" y="38100"/>
                    <a:pt x="38100" y="93599"/>
                    <a:pt x="38100" y="162052"/>
                  </a:cubicBezTo>
                  <a:close/>
                </a:path>
              </a:pathLst>
            </a:custGeom>
            <a:solidFill>
              <a:srgbClr val="FFE0CC"/>
            </a:solidFill>
            <a:ln w="12700">
              <a:solidFill>
                <a:srgbClr val="000000"/>
              </a:solidFill>
            </a:ln>
          </p:spPr>
        </p:sp>
      </p:grpSp>
      <p:grpSp>
        <p:nvGrpSpPr>
          <p:cNvPr name="Group 27" id="27"/>
          <p:cNvGrpSpPr/>
          <p:nvPr/>
        </p:nvGrpSpPr>
        <p:grpSpPr>
          <a:xfrm rot="0">
            <a:off x="12059841" y="3334941"/>
            <a:ext cx="5207347" cy="765422"/>
            <a:chOff x="0" y="0"/>
            <a:chExt cx="6943130" cy="1020563"/>
          </a:xfrm>
        </p:grpSpPr>
        <p:sp>
          <p:nvSpPr>
            <p:cNvPr name="Freeform 28" id="28"/>
            <p:cNvSpPr/>
            <p:nvPr/>
          </p:nvSpPr>
          <p:spPr>
            <a:xfrm flipH="false" flipV="false" rot="0">
              <a:off x="0" y="0"/>
              <a:ext cx="6943090" cy="1020572"/>
            </a:xfrm>
            <a:custGeom>
              <a:avLst/>
              <a:gdLst/>
              <a:ahLst/>
              <a:cxnLst/>
              <a:rect r="r" b="b" t="t" l="l"/>
              <a:pathLst>
                <a:path h="1020572" w="6943090">
                  <a:moveTo>
                    <a:pt x="0" y="97155"/>
                  </a:moveTo>
                  <a:cubicBezTo>
                    <a:pt x="0" y="43561"/>
                    <a:pt x="43561" y="0"/>
                    <a:pt x="97155" y="0"/>
                  </a:cubicBezTo>
                  <a:lnTo>
                    <a:pt x="6845936" y="0"/>
                  </a:lnTo>
                  <a:cubicBezTo>
                    <a:pt x="6899656" y="0"/>
                    <a:pt x="6943090" y="43561"/>
                    <a:pt x="6943090" y="97155"/>
                  </a:cubicBezTo>
                  <a:lnTo>
                    <a:pt x="6943090" y="923417"/>
                  </a:lnTo>
                  <a:cubicBezTo>
                    <a:pt x="6943090" y="977138"/>
                    <a:pt x="6899529" y="1020572"/>
                    <a:pt x="6845936" y="1020572"/>
                  </a:cubicBezTo>
                  <a:lnTo>
                    <a:pt x="97155" y="1020572"/>
                  </a:lnTo>
                  <a:cubicBezTo>
                    <a:pt x="43561" y="1020572"/>
                    <a:pt x="0" y="977011"/>
                    <a:pt x="0" y="923417"/>
                  </a:cubicBezTo>
                  <a:close/>
                </a:path>
              </a:pathLst>
            </a:custGeom>
            <a:solidFill>
              <a:srgbClr val="FFFFF4"/>
            </a:solidFill>
            <a:ln w="12700">
              <a:solidFill>
                <a:srgbClr val="000000"/>
              </a:solidFill>
            </a:ln>
          </p:spPr>
        </p:sp>
      </p:grpSp>
      <p:grpSp>
        <p:nvGrpSpPr>
          <p:cNvPr name="Group 29" id="29"/>
          <p:cNvGrpSpPr>
            <a:grpSpLocks noChangeAspect="true"/>
          </p:cNvGrpSpPr>
          <p:nvPr/>
        </p:nvGrpSpPr>
        <p:grpSpPr>
          <a:xfrm rot="0">
            <a:off x="14472196" y="3512046"/>
            <a:ext cx="382638" cy="382638"/>
            <a:chOff x="0" y="0"/>
            <a:chExt cx="510183" cy="510183"/>
          </a:xfrm>
        </p:grpSpPr>
        <p:sp>
          <p:nvSpPr>
            <p:cNvPr name="Freeform 30" id="30" descr="preencoded.png"/>
            <p:cNvSpPr/>
            <p:nvPr/>
          </p:nvSpPr>
          <p:spPr>
            <a:xfrm flipH="false" flipV="false" rot="0">
              <a:off x="0" y="0"/>
              <a:ext cx="510159" cy="510159"/>
            </a:xfrm>
            <a:custGeom>
              <a:avLst/>
              <a:gdLst/>
              <a:ahLst/>
              <a:cxnLst/>
              <a:rect r="r" b="b" t="t" l="l"/>
              <a:pathLst>
                <a:path h="510159" w="510159">
                  <a:moveTo>
                    <a:pt x="0" y="0"/>
                  </a:moveTo>
                  <a:lnTo>
                    <a:pt x="510159" y="0"/>
                  </a:lnTo>
                  <a:lnTo>
                    <a:pt x="510159" y="510159"/>
                  </a:lnTo>
                  <a:lnTo>
                    <a:pt x="0" y="510159"/>
                  </a:lnTo>
                  <a:lnTo>
                    <a:pt x="0" y="0"/>
                  </a:lnTo>
                  <a:close/>
                </a:path>
              </a:pathLst>
            </a:custGeom>
            <a:blipFill>
              <a:blip r:embed="rId7"/>
              <a:stretch>
                <a:fillRect l="0" t="0" r="-4" b="-4"/>
              </a:stretch>
            </a:blipFill>
          </p:spPr>
        </p:sp>
      </p:grpSp>
      <p:sp>
        <p:nvSpPr>
          <p:cNvPr name="TextBox 31" id="31"/>
          <p:cNvSpPr txBox="true"/>
          <p:nvPr/>
        </p:nvSpPr>
        <p:spPr>
          <a:xfrm rot="0">
            <a:off x="12314932" y="4317355"/>
            <a:ext cx="4088309" cy="335446"/>
          </a:xfrm>
          <a:prstGeom prst="rect">
            <a:avLst/>
          </a:prstGeom>
        </p:spPr>
        <p:txBody>
          <a:bodyPr anchor="t" rtlCol="false" tIns="0" lIns="0" bIns="0" rIns="0">
            <a:spAutoFit/>
          </a:bodyPr>
          <a:lstStyle/>
          <a:p>
            <a:pPr algn="l">
              <a:lnSpc>
                <a:spcPts val="2608"/>
              </a:lnSpc>
            </a:pPr>
            <a:r>
              <a:rPr lang="en-US" sz="2000" b="true">
                <a:solidFill>
                  <a:srgbClr val="67534F"/>
                </a:solidFill>
                <a:latin typeface="Times New Roman Bold"/>
                <a:ea typeface="Times New Roman Bold"/>
                <a:cs typeface="Times New Roman Bold"/>
                <a:sym typeface="Times New Roman Bold"/>
              </a:rPr>
              <a:t>Strategic Library Choices</a:t>
            </a:r>
          </a:p>
        </p:txBody>
      </p:sp>
      <p:sp>
        <p:nvSpPr>
          <p:cNvPr name="TextBox 32" id="32"/>
          <p:cNvSpPr txBox="true"/>
          <p:nvPr/>
        </p:nvSpPr>
        <p:spPr>
          <a:xfrm rot="0">
            <a:off x="12314933" y="5260925"/>
            <a:ext cx="4697165" cy="1441847"/>
          </a:xfrm>
          <a:prstGeom prst="rect">
            <a:avLst/>
          </a:prstGeom>
        </p:spPr>
        <p:txBody>
          <a:bodyPr anchor="t" rtlCol="false" tIns="0" lIns="0" bIns="0" rIns="0">
            <a:spAutoFit/>
          </a:bodyPr>
          <a:lstStyle/>
          <a:p>
            <a:pPr algn="l">
              <a:lnSpc>
                <a:spcPts val="1921"/>
              </a:lnSpc>
            </a:pPr>
            <a:r>
              <a:rPr lang="en-US" sz="1500">
                <a:solidFill>
                  <a:srgbClr val="67534F"/>
                </a:solidFill>
                <a:latin typeface="Times New Roman"/>
                <a:ea typeface="Times New Roman"/>
                <a:cs typeface="Times New Roman"/>
                <a:sym typeface="Times New Roman"/>
              </a:rPr>
              <a:t>We selected libraries for maximum effectiveness in financial analysis: yfinance for reliable and lightweight data acquisition, pandas and numpy for efficient time-series handling and Vectorized Calculations, and  matplotlib for the granular control necessary for complex multi-series and dual-axis financial charts.</a:t>
            </a:r>
          </a:p>
        </p:txBody>
      </p:sp>
      <p:sp>
        <p:nvSpPr>
          <p:cNvPr name="Freeform 33" id="33"/>
          <p:cNvSpPr/>
          <p:nvPr/>
        </p:nvSpPr>
        <p:spPr>
          <a:xfrm flipH="false" flipV="false" rot="0">
            <a:off x="7976566" y="9716355"/>
            <a:ext cx="1358679" cy="570645"/>
          </a:xfrm>
          <a:custGeom>
            <a:avLst/>
            <a:gdLst/>
            <a:ahLst/>
            <a:cxnLst/>
            <a:rect r="r" b="b" t="t" l="l"/>
            <a:pathLst>
              <a:path h="570645" w="1358679">
                <a:moveTo>
                  <a:pt x="0" y="0"/>
                </a:moveTo>
                <a:lnTo>
                  <a:pt x="1358679" y="0"/>
                </a:lnTo>
                <a:lnTo>
                  <a:pt x="1358679" y="570645"/>
                </a:lnTo>
                <a:lnTo>
                  <a:pt x="0" y="5706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C8AB"/>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4">
                <a:alpha val="90196"/>
              </a:srgbClr>
            </a:solidFill>
            <a:ln w="12700">
              <a:solidFill>
                <a:srgbClr val="000000"/>
              </a:solidFill>
            </a:ln>
          </p:spPr>
        </p:sp>
      </p:grpSp>
      <p:sp>
        <p:nvSpPr>
          <p:cNvPr name="TextBox 6" id="6"/>
          <p:cNvSpPr txBox="true"/>
          <p:nvPr/>
        </p:nvSpPr>
        <p:spPr>
          <a:xfrm rot="0">
            <a:off x="992237" y="901601"/>
            <a:ext cx="15027771" cy="690223"/>
          </a:xfrm>
          <a:prstGeom prst="rect">
            <a:avLst/>
          </a:prstGeom>
        </p:spPr>
        <p:txBody>
          <a:bodyPr anchor="t" rtlCol="false" tIns="0" lIns="0" bIns="0" rIns="0">
            <a:spAutoFit/>
          </a:bodyPr>
          <a:lstStyle/>
          <a:p>
            <a:pPr algn="ctr">
              <a:lnSpc>
                <a:spcPts val="5455"/>
              </a:lnSpc>
            </a:pPr>
            <a:r>
              <a:rPr lang="en-US" sz="4200" b="true">
                <a:solidFill>
                  <a:srgbClr val="532418"/>
                </a:solidFill>
                <a:latin typeface="Times New Roman Bold"/>
                <a:ea typeface="Times New Roman Bold"/>
                <a:cs typeface="Times New Roman Bold"/>
                <a:sym typeface="Times New Roman Bold"/>
              </a:rPr>
              <a:t>Deep Dive: Financial Analytics and Vectorization</a:t>
            </a:r>
          </a:p>
        </p:txBody>
      </p:sp>
      <p:sp>
        <p:nvSpPr>
          <p:cNvPr name="TextBox 7" id="7"/>
          <p:cNvSpPr txBox="true"/>
          <p:nvPr/>
        </p:nvSpPr>
        <p:spPr>
          <a:xfrm rot="0">
            <a:off x="992237" y="2070203"/>
            <a:ext cx="16303526" cy="825500"/>
          </a:xfrm>
          <a:prstGeom prst="rect">
            <a:avLst/>
          </a:prstGeom>
        </p:spPr>
        <p:txBody>
          <a:bodyPr anchor="t" rtlCol="false" tIns="0" lIns="0" bIns="0" rIns="0">
            <a:spAutoFit/>
          </a:bodyPr>
          <a:lstStyle/>
          <a:p>
            <a:pPr algn="l">
              <a:lnSpc>
                <a:spcPts val="3249"/>
              </a:lnSpc>
            </a:pPr>
            <a:r>
              <a:rPr lang="en-US" sz="2499">
                <a:solidFill>
                  <a:srgbClr val="67534F"/>
                </a:solidFill>
                <a:latin typeface="Times New Roman"/>
                <a:ea typeface="Times New Roman"/>
                <a:cs typeface="Times New Roman"/>
                <a:sym typeface="Times New Roman"/>
              </a:rPr>
              <a:t>FinSight employs highly optimized vectorized computations for financial analytics, ensuring speed and precision crucial for real-time market insights.</a:t>
            </a:r>
          </a:p>
        </p:txBody>
      </p:sp>
      <p:grpSp>
        <p:nvGrpSpPr>
          <p:cNvPr name="Group 8" id="8"/>
          <p:cNvGrpSpPr/>
          <p:nvPr/>
        </p:nvGrpSpPr>
        <p:grpSpPr>
          <a:xfrm rot="0">
            <a:off x="992238" y="3600152"/>
            <a:ext cx="8031212" cy="2719387"/>
            <a:chOff x="0" y="0"/>
            <a:chExt cx="10708283" cy="3625850"/>
          </a:xfrm>
        </p:grpSpPr>
        <p:sp>
          <p:nvSpPr>
            <p:cNvPr name="Freeform 9" id="9"/>
            <p:cNvSpPr/>
            <p:nvPr/>
          </p:nvSpPr>
          <p:spPr>
            <a:xfrm flipH="false" flipV="false" rot="0">
              <a:off x="0" y="0"/>
              <a:ext cx="10708260" cy="3625850"/>
            </a:xfrm>
            <a:custGeom>
              <a:avLst/>
              <a:gdLst/>
              <a:ahLst/>
              <a:cxnLst/>
              <a:rect r="r" b="b" t="t" l="l"/>
              <a:pathLst>
                <a:path h="3625850" w="10708260">
                  <a:moveTo>
                    <a:pt x="0" y="182880"/>
                  </a:moveTo>
                  <a:cubicBezTo>
                    <a:pt x="0" y="81915"/>
                    <a:pt x="81915" y="0"/>
                    <a:pt x="182880" y="0"/>
                  </a:cubicBezTo>
                  <a:lnTo>
                    <a:pt x="10525379" y="0"/>
                  </a:lnTo>
                  <a:cubicBezTo>
                    <a:pt x="10626344" y="0"/>
                    <a:pt x="10708260" y="81915"/>
                    <a:pt x="10708260" y="182880"/>
                  </a:cubicBezTo>
                  <a:lnTo>
                    <a:pt x="10708260" y="3442970"/>
                  </a:lnTo>
                  <a:cubicBezTo>
                    <a:pt x="10708260" y="3543935"/>
                    <a:pt x="10626344" y="3625850"/>
                    <a:pt x="10525379" y="3625850"/>
                  </a:cubicBezTo>
                  <a:lnTo>
                    <a:pt x="182880" y="3625850"/>
                  </a:lnTo>
                  <a:cubicBezTo>
                    <a:pt x="81915" y="3625850"/>
                    <a:pt x="0" y="3543935"/>
                    <a:pt x="0" y="3442970"/>
                  </a:cubicBezTo>
                  <a:close/>
                </a:path>
              </a:pathLst>
            </a:custGeom>
            <a:solidFill>
              <a:srgbClr val="FFFFF4">
                <a:alpha val="90196"/>
              </a:srgbClr>
            </a:solidFill>
            <a:ln w="12700">
              <a:solidFill>
                <a:srgbClr val="000000"/>
              </a:solidFill>
            </a:ln>
          </p:spPr>
        </p:sp>
      </p:grpSp>
      <p:grpSp>
        <p:nvGrpSpPr>
          <p:cNvPr name="Group 10" id="10"/>
          <p:cNvGrpSpPr/>
          <p:nvPr/>
        </p:nvGrpSpPr>
        <p:grpSpPr>
          <a:xfrm rot="0">
            <a:off x="992238" y="3571577"/>
            <a:ext cx="8031212" cy="114300"/>
            <a:chOff x="0" y="0"/>
            <a:chExt cx="10708283" cy="152400"/>
          </a:xfrm>
        </p:grpSpPr>
        <p:sp>
          <p:nvSpPr>
            <p:cNvPr name="Freeform 11" id="11"/>
            <p:cNvSpPr/>
            <p:nvPr/>
          </p:nvSpPr>
          <p:spPr>
            <a:xfrm flipH="false" flipV="false" rot="0">
              <a:off x="0" y="0"/>
              <a:ext cx="10708259" cy="152400"/>
            </a:xfrm>
            <a:custGeom>
              <a:avLst/>
              <a:gdLst/>
              <a:ahLst/>
              <a:cxnLst/>
              <a:rect r="r" b="b" t="t" l="l"/>
              <a:pathLst>
                <a:path h="152400" w="10708259">
                  <a:moveTo>
                    <a:pt x="0" y="76200"/>
                  </a:moveTo>
                  <a:cubicBezTo>
                    <a:pt x="0" y="34163"/>
                    <a:pt x="34163" y="0"/>
                    <a:pt x="76200" y="0"/>
                  </a:cubicBezTo>
                  <a:lnTo>
                    <a:pt x="10632059" y="0"/>
                  </a:lnTo>
                  <a:cubicBezTo>
                    <a:pt x="10674096" y="0"/>
                    <a:pt x="10708259" y="34163"/>
                    <a:pt x="10708259" y="76200"/>
                  </a:cubicBezTo>
                  <a:cubicBezTo>
                    <a:pt x="10708259" y="118237"/>
                    <a:pt x="10674096" y="152400"/>
                    <a:pt x="10632059" y="152400"/>
                  </a:cubicBezTo>
                  <a:lnTo>
                    <a:pt x="76200" y="152400"/>
                  </a:lnTo>
                  <a:cubicBezTo>
                    <a:pt x="34163" y="152400"/>
                    <a:pt x="0" y="118237"/>
                    <a:pt x="0" y="76200"/>
                  </a:cubicBezTo>
                  <a:close/>
                </a:path>
              </a:pathLst>
            </a:custGeom>
            <a:solidFill>
              <a:srgbClr val="D4BB9B"/>
            </a:solidFill>
            <a:ln w="12700">
              <a:solidFill>
                <a:srgbClr val="000000"/>
              </a:solidFill>
            </a:ln>
          </p:spPr>
        </p:sp>
      </p:grpSp>
      <p:grpSp>
        <p:nvGrpSpPr>
          <p:cNvPr name="Group 12" id="12"/>
          <p:cNvGrpSpPr/>
          <p:nvPr/>
        </p:nvGrpSpPr>
        <p:grpSpPr>
          <a:xfrm rot="0">
            <a:off x="4646265" y="3238649"/>
            <a:ext cx="723007" cy="723007"/>
            <a:chOff x="0" y="0"/>
            <a:chExt cx="964010" cy="964010"/>
          </a:xfrm>
        </p:grpSpPr>
        <p:sp>
          <p:nvSpPr>
            <p:cNvPr name="Freeform 13" id="13"/>
            <p:cNvSpPr/>
            <p:nvPr/>
          </p:nvSpPr>
          <p:spPr>
            <a:xfrm flipH="false" flipV="false" rot="0">
              <a:off x="0" y="0"/>
              <a:ext cx="964057" cy="964057"/>
            </a:xfrm>
            <a:custGeom>
              <a:avLst/>
              <a:gdLst/>
              <a:ahLst/>
              <a:cxnLst/>
              <a:rect r="r" b="b" t="t" l="l"/>
              <a:pathLst>
                <a:path h="964057" w="964057">
                  <a:moveTo>
                    <a:pt x="0" y="481965"/>
                  </a:moveTo>
                  <a:cubicBezTo>
                    <a:pt x="0" y="215773"/>
                    <a:pt x="215773" y="0"/>
                    <a:pt x="481965" y="0"/>
                  </a:cubicBezTo>
                  <a:cubicBezTo>
                    <a:pt x="748157" y="0"/>
                    <a:pt x="964057" y="215773"/>
                    <a:pt x="964057" y="481965"/>
                  </a:cubicBezTo>
                  <a:cubicBezTo>
                    <a:pt x="964057" y="748157"/>
                    <a:pt x="748157" y="964057"/>
                    <a:pt x="481965" y="964057"/>
                  </a:cubicBezTo>
                  <a:cubicBezTo>
                    <a:pt x="215773" y="964057"/>
                    <a:pt x="0" y="748157"/>
                    <a:pt x="0" y="481965"/>
                  </a:cubicBezTo>
                  <a:close/>
                </a:path>
              </a:pathLst>
            </a:custGeom>
            <a:solidFill>
              <a:srgbClr val="FF954F"/>
            </a:solidFill>
            <a:ln w="12700">
              <a:solidFill>
                <a:srgbClr val="000000"/>
              </a:solidFill>
            </a:ln>
          </p:spPr>
        </p:sp>
      </p:grpSp>
      <p:sp>
        <p:nvSpPr>
          <p:cNvPr name="TextBox 14" id="14"/>
          <p:cNvSpPr txBox="true"/>
          <p:nvPr/>
        </p:nvSpPr>
        <p:spPr>
          <a:xfrm rot="0">
            <a:off x="4863108" y="3365778"/>
            <a:ext cx="426244" cy="373499"/>
          </a:xfrm>
          <a:prstGeom prst="rect">
            <a:avLst/>
          </a:prstGeom>
        </p:spPr>
        <p:txBody>
          <a:bodyPr anchor="t" rtlCol="false" tIns="0" lIns="0" bIns="0" rIns="0">
            <a:spAutoFit/>
          </a:bodyPr>
          <a:lstStyle/>
          <a:p>
            <a:pPr algn="l">
              <a:lnSpc>
                <a:spcPts val="2886"/>
              </a:lnSpc>
            </a:pPr>
            <a:r>
              <a:rPr lang="en-US" sz="2211">
                <a:solidFill>
                  <a:srgbClr val="000000"/>
                </a:solidFill>
                <a:latin typeface="Times New Roman"/>
                <a:ea typeface="Times New Roman"/>
                <a:cs typeface="Times New Roman"/>
                <a:sym typeface="Times New Roman"/>
              </a:rPr>
              <a:t>1</a:t>
            </a:r>
          </a:p>
        </p:txBody>
      </p:sp>
      <p:sp>
        <p:nvSpPr>
          <p:cNvPr name="TextBox 15" id="15"/>
          <p:cNvSpPr txBox="true"/>
          <p:nvPr/>
        </p:nvSpPr>
        <p:spPr>
          <a:xfrm rot="0">
            <a:off x="1261765" y="4164509"/>
            <a:ext cx="3464421" cy="335959"/>
          </a:xfrm>
          <a:prstGeom prst="rect">
            <a:avLst/>
          </a:prstGeom>
        </p:spPr>
        <p:txBody>
          <a:bodyPr anchor="t" rtlCol="false" tIns="0" lIns="0" bIns="0" rIns="0">
            <a:spAutoFit/>
          </a:bodyPr>
          <a:lstStyle/>
          <a:p>
            <a:pPr algn="l">
              <a:lnSpc>
                <a:spcPts val="2604"/>
              </a:lnSpc>
            </a:pPr>
            <a:r>
              <a:rPr lang="en-US" sz="2000" b="true">
                <a:solidFill>
                  <a:srgbClr val="67534F"/>
                </a:solidFill>
                <a:latin typeface="Times New Roman Bold"/>
                <a:ea typeface="Times New Roman Bold"/>
                <a:cs typeface="Times New Roman Bold"/>
                <a:sym typeface="Times New Roman Bold"/>
              </a:rPr>
              <a:t>Vectorized Efficiency</a:t>
            </a:r>
          </a:p>
        </p:txBody>
      </p:sp>
      <p:sp>
        <p:nvSpPr>
          <p:cNvPr name="TextBox 16" id="16"/>
          <p:cNvSpPr txBox="true"/>
          <p:nvPr/>
        </p:nvSpPr>
        <p:spPr>
          <a:xfrm rot="0">
            <a:off x="1261765" y="4768900"/>
            <a:ext cx="7492156" cy="504825"/>
          </a:xfrm>
          <a:prstGeom prst="rect">
            <a:avLst/>
          </a:prstGeom>
        </p:spPr>
        <p:txBody>
          <a:bodyPr anchor="t" rtlCol="false" tIns="0" lIns="0" bIns="0" rIns="0">
            <a:spAutoFit/>
          </a:bodyPr>
          <a:lstStyle/>
          <a:p>
            <a:pPr algn="l">
              <a:lnSpc>
                <a:spcPts val="1950"/>
              </a:lnSpc>
            </a:pPr>
            <a:r>
              <a:rPr lang="en-US" sz="1500">
                <a:solidFill>
                  <a:srgbClr val="67534F"/>
                </a:solidFill>
                <a:latin typeface="Times New Roman"/>
                <a:ea typeface="Times New Roman"/>
                <a:cs typeface="Times New Roman"/>
                <a:sym typeface="Times New Roman"/>
              </a:rPr>
              <a:t>Prioritizing computation speed, FinSight utilizes vectorized operations in panda and numpy to bypass slow Python for-loops on large datasets, significantly enhancing performance.</a:t>
            </a:r>
          </a:p>
        </p:txBody>
      </p:sp>
      <p:grpSp>
        <p:nvGrpSpPr>
          <p:cNvPr name="Group 17" id="17"/>
          <p:cNvGrpSpPr/>
          <p:nvPr/>
        </p:nvGrpSpPr>
        <p:grpSpPr>
          <a:xfrm rot="0">
            <a:off x="9264402" y="3600152"/>
            <a:ext cx="8031361" cy="2719387"/>
            <a:chOff x="0" y="0"/>
            <a:chExt cx="10708482" cy="3625850"/>
          </a:xfrm>
        </p:grpSpPr>
        <p:sp>
          <p:nvSpPr>
            <p:cNvPr name="Freeform 18" id="18"/>
            <p:cNvSpPr/>
            <p:nvPr/>
          </p:nvSpPr>
          <p:spPr>
            <a:xfrm flipH="false" flipV="false" rot="0">
              <a:off x="0" y="0"/>
              <a:ext cx="10708513" cy="3625850"/>
            </a:xfrm>
            <a:custGeom>
              <a:avLst/>
              <a:gdLst/>
              <a:ahLst/>
              <a:cxnLst/>
              <a:rect r="r" b="b" t="t" l="l"/>
              <a:pathLst>
                <a:path h="3625850" w="10708513">
                  <a:moveTo>
                    <a:pt x="0" y="182880"/>
                  </a:moveTo>
                  <a:cubicBezTo>
                    <a:pt x="0" y="81915"/>
                    <a:pt x="81915" y="0"/>
                    <a:pt x="182880" y="0"/>
                  </a:cubicBezTo>
                  <a:lnTo>
                    <a:pt x="10525633" y="0"/>
                  </a:lnTo>
                  <a:cubicBezTo>
                    <a:pt x="10626598" y="0"/>
                    <a:pt x="10708513" y="81915"/>
                    <a:pt x="10708513" y="182880"/>
                  </a:cubicBezTo>
                  <a:lnTo>
                    <a:pt x="10708513" y="3442970"/>
                  </a:lnTo>
                  <a:cubicBezTo>
                    <a:pt x="10708513" y="3543935"/>
                    <a:pt x="10626598" y="3625850"/>
                    <a:pt x="10525633" y="3625850"/>
                  </a:cubicBezTo>
                  <a:lnTo>
                    <a:pt x="182880" y="3625850"/>
                  </a:lnTo>
                  <a:cubicBezTo>
                    <a:pt x="81915" y="3625850"/>
                    <a:pt x="0" y="3543935"/>
                    <a:pt x="0" y="3442970"/>
                  </a:cubicBezTo>
                  <a:close/>
                </a:path>
              </a:pathLst>
            </a:custGeom>
            <a:solidFill>
              <a:srgbClr val="FFFFF4">
                <a:alpha val="90196"/>
              </a:srgbClr>
            </a:solidFill>
            <a:ln w="12700">
              <a:solidFill>
                <a:srgbClr val="000000"/>
              </a:solidFill>
            </a:ln>
          </p:spPr>
        </p:sp>
      </p:grpSp>
      <p:grpSp>
        <p:nvGrpSpPr>
          <p:cNvPr name="Group 19" id="19"/>
          <p:cNvGrpSpPr/>
          <p:nvPr/>
        </p:nvGrpSpPr>
        <p:grpSpPr>
          <a:xfrm rot="0">
            <a:off x="9264402" y="3571577"/>
            <a:ext cx="8031361" cy="114300"/>
            <a:chOff x="0" y="0"/>
            <a:chExt cx="10708482" cy="152400"/>
          </a:xfrm>
        </p:grpSpPr>
        <p:sp>
          <p:nvSpPr>
            <p:cNvPr name="Freeform 20" id="20"/>
            <p:cNvSpPr/>
            <p:nvPr/>
          </p:nvSpPr>
          <p:spPr>
            <a:xfrm flipH="false" flipV="false" rot="0">
              <a:off x="0" y="0"/>
              <a:ext cx="10708513" cy="152400"/>
            </a:xfrm>
            <a:custGeom>
              <a:avLst/>
              <a:gdLst/>
              <a:ahLst/>
              <a:cxnLst/>
              <a:rect r="r" b="b" t="t" l="l"/>
              <a:pathLst>
                <a:path h="152400" w="10708513">
                  <a:moveTo>
                    <a:pt x="0" y="76200"/>
                  </a:moveTo>
                  <a:cubicBezTo>
                    <a:pt x="0" y="34163"/>
                    <a:pt x="34163" y="0"/>
                    <a:pt x="76200" y="0"/>
                  </a:cubicBezTo>
                  <a:lnTo>
                    <a:pt x="10632313" y="0"/>
                  </a:lnTo>
                  <a:cubicBezTo>
                    <a:pt x="10674350" y="0"/>
                    <a:pt x="10708513" y="34163"/>
                    <a:pt x="10708513" y="76200"/>
                  </a:cubicBezTo>
                  <a:cubicBezTo>
                    <a:pt x="10708513" y="118237"/>
                    <a:pt x="10674350" y="152400"/>
                    <a:pt x="10632313" y="152400"/>
                  </a:cubicBezTo>
                  <a:lnTo>
                    <a:pt x="76200" y="152400"/>
                  </a:lnTo>
                  <a:cubicBezTo>
                    <a:pt x="34163" y="152400"/>
                    <a:pt x="0" y="118237"/>
                    <a:pt x="0" y="76200"/>
                  </a:cubicBezTo>
                  <a:close/>
                </a:path>
              </a:pathLst>
            </a:custGeom>
            <a:solidFill>
              <a:srgbClr val="D4BB9B"/>
            </a:solidFill>
            <a:ln w="12700">
              <a:solidFill>
                <a:srgbClr val="000000"/>
              </a:solidFill>
            </a:ln>
          </p:spPr>
        </p:sp>
      </p:grpSp>
      <p:grpSp>
        <p:nvGrpSpPr>
          <p:cNvPr name="Group 21" id="21"/>
          <p:cNvGrpSpPr/>
          <p:nvPr/>
        </p:nvGrpSpPr>
        <p:grpSpPr>
          <a:xfrm rot="0">
            <a:off x="12918579" y="3238649"/>
            <a:ext cx="723008" cy="723007"/>
            <a:chOff x="0" y="0"/>
            <a:chExt cx="964010" cy="964010"/>
          </a:xfrm>
        </p:grpSpPr>
        <p:sp>
          <p:nvSpPr>
            <p:cNvPr name="Freeform 22" id="22"/>
            <p:cNvSpPr/>
            <p:nvPr/>
          </p:nvSpPr>
          <p:spPr>
            <a:xfrm flipH="false" flipV="false" rot="0">
              <a:off x="0" y="0"/>
              <a:ext cx="964057" cy="964057"/>
            </a:xfrm>
            <a:custGeom>
              <a:avLst/>
              <a:gdLst/>
              <a:ahLst/>
              <a:cxnLst/>
              <a:rect r="r" b="b" t="t" l="l"/>
              <a:pathLst>
                <a:path h="964057" w="964057">
                  <a:moveTo>
                    <a:pt x="0" y="481965"/>
                  </a:moveTo>
                  <a:cubicBezTo>
                    <a:pt x="0" y="215773"/>
                    <a:pt x="215773" y="0"/>
                    <a:pt x="481965" y="0"/>
                  </a:cubicBezTo>
                  <a:cubicBezTo>
                    <a:pt x="748157" y="0"/>
                    <a:pt x="964057" y="215773"/>
                    <a:pt x="964057" y="481965"/>
                  </a:cubicBezTo>
                  <a:cubicBezTo>
                    <a:pt x="964057" y="748157"/>
                    <a:pt x="748157" y="964057"/>
                    <a:pt x="481965" y="964057"/>
                  </a:cubicBezTo>
                  <a:cubicBezTo>
                    <a:pt x="215773" y="964057"/>
                    <a:pt x="0" y="748157"/>
                    <a:pt x="0" y="481965"/>
                  </a:cubicBezTo>
                  <a:close/>
                </a:path>
              </a:pathLst>
            </a:custGeom>
            <a:solidFill>
              <a:srgbClr val="FF954F"/>
            </a:solidFill>
            <a:ln w="12700">
              <a:solidFill>
                <a:srgbClr val="000000"/>
              </a:solidFill>
            </a:ln>
          </p:spPr>
        </p:sp>
      </p:grpSp>
      <p:sp>
        <p:nvSpPr>
          <p:cNvPr name="TextBox 23" id="23"/>
          <p:cNvSpPr txBox="true"/>
          <p:nvPr/>
        </p:nvSpPr>
        <p:spPr>
          <a:xfrm rot="0">
            <a:off x="13135421" y="3377447"/>
            <a:ext cx="436796" cy="381803"/>
          </a:xfrm>
          <a:prstGeom prst="rect">
            <a:avLst/>
          </a:prstGeom>
        </p:spPr>
        <p:txBody>
          <a:bodyPr anchor="t" rtlCol="false" tIns="0" lIns="0" bIns="0" rIns="0">
            <a:spAutoFit/>
          </a:bodyPr>
          <a:lstStyle/>
          <a:p>
            <a:pPr algn="l">
              <a:lnSpc>
                <a:spcPts val="2958"/>
              </a:lnSpc>
            </a:pPr>
            <a:r>
              <a:rPr lang="en-US" sz="2265">
                <a:solidFill>
                  <a:srgbClr val="000000"/>
                </a:solidFill>
                <a:latin typeface="Times New Roman"/>
                <a:ea typeface="Times New Roman"/>
                <a:cs typeface="Times New Roman"/>
                <a:sym typeface="Times New Roman"/>
              </a:rPr>
              <a:t>2</a:t>
            </a:r>
          </a:p>
        </p:txBody>
      </p:sp>
      <p:sp>
        <p:nvSpPr>
          <p:cNvPr name="TextBox 24" id="24"/>
          <p:cNvSpPr txBox="true"/>
          <p:nvPr/>
        </p:nvSpPr>
        <p:spPr>
          <a:xfrm rot="0">
            <a:off x="9533930" y="4164509"/>
            <a:ext cx="3464421" cy="335959"/>
          </a:xfrm>
          <a:prstGeom prst="rect">
            <a:avLst/>
          </a:prstGeom>
        </p:spPr>
        <p:txBody>
          <a:bodyPr anchor="t" rtlCol="false" tIns="0" lIns="0" bIns="0" rIns="0">
            <a:spAutoFit/>
          </a:bodyPr>
          <a:lstStyle/>
          <a:p>
            <a:pPr algn="l">
              <a:lnSpc>
                <a:spcPts val="2604"/>
              </a:lnSpc>
            </a:pPr>
            <a:r>
              <a:rPr lang="en-US" sz="2000" b="true">
                <a:solidFill>
                  <a:srgbClr val="67534F"/>
                </a:solidFill>
                <a:latin typeface="Times New Roman Bold"/>
                <a:ea typeface="Times New Roman Bold"/>
                <a:cs typeface="Times New Roman Bold"/>
                <a:sym typeface="Times New Roman Bold"/>
              </a:rPr>
              <a:t>SMA Calculation</a:t>
            </a:r>
          </a:p>
        </p:txBody>
      </p:sp>
      <p:sp>
        <p:nvSpPr>
          <p:cNvPr name="TextBox 25" id="25"/>
          <p:cNvSpPr txBox="true"/>
          <p:nvPr/>
        </p:nvSpPr>
        <p:spPr>
          <a:xfrm rot="0">
            <a:off x="9533930" y="4768900"/>
            <a:ext cx="7492305" cy="752475"/>
          </a:xfrm>
          <a:prstGeom prst="rect">
            <a:avLst/>
          </a:prstGeom>
        </p:spPr>
        <p:txBody>
          <a:bodyPr anchor="t" rtlCol="false" tIns="0" lIns="0" bIns="0" rIns="0">
            <a:spAutoFit/>
          </a:bodyPr>
          <a:lstStyle/>
          <a:p>
            <a:pPr algn="l">
              <a:lnSpc>
                <a:spcPts val="1950"/>
              </a:lnSpc>
            </a:pPr>
            <a:r>
              <a:rPr lang="en-US" sz="1500">
                <a:solidFill>
                  <a:srgbClr val="67534F"/>
                </a:solidFill>
                <a:latin typeface="Times New Roman"/>
                <a:ea typeface="Times New Roman"/>
                <a:cs typeface="Times New Roman"/>
                <a:sym typeface="Times New Roman"/>
              </a:rPr>
              <a:t>The Simple Moving Average (SMA) is efficiently computed using pandas.Series.rolling().mean(), allowing for rapid calculation across entire data columns, e.g., data['Close'].rolling(window=50.mean).</a:t>
            </a:r>
          </a:p>
        </p:txBody>
      </p:sp>
      <p:grpSp>
        <p:nvGrpSpPr>
          <p:cNvPr name="Group 26" id="26"/>
          <p:cNvGrpSpPr/>
          <p:nvPr/>
        </p:nvGrpSpPr>
        <p:grpSpPr>
          <a:xfrm rot="0">
            <a:off x="992238" y="6921996"/>
            <a:ext cx="8031212" cy="2406254"/>
            <a:chOff x="0" y="0"/>
            <a:chExt cx="10708283" cy="3208338"/>
          </a:xfrm>
        </p:grpSpPr>
        <p:sp>
          <p:nvSpPr>
            <p:cNvPr name="Freeform 27" id="27"/>
            <p:cNvSpPr/>
            <p:nvPr/>
          </p:nvSpPr>
          <p:spPr>
            <a:xfrm flipH="false" flipV="false" rot="0">
              <a:off x="0" y="0"/>
              <a:ext cx="10708260" cy="3208401"/>
            </a:xfrm>
            <a:custGeom>
              <a:avLst/>
              <a:gdLst/>
              <a:ahLst/>
              <a:cxnLst/>
              <a:rect r="r" b="b" t="t" l="l"/>
              <a:pathLst>
                <a:path h="3208401" w="10708260">
                  <a:moveTo>
                    <a:pt x="0" y="182880"/>
                  </a:moveTo>
                  <a:cubicBezTo>
                    <a:pt x="0" y="81915"/>
                    <a:pt x="81915" y="0"/>
                    <a:pt x="182880" y="0"/>
                  </a:cubicBezTo>
                  <a:lnTo>
                    <a:pt x="10525379" y="0"/>
                  </a:lnTo>
                  <a:cubicBezTo>
                    <a:pt x="10626344" y="0"/>
                    <a:pt x="10708260" y="81915"/>
                    <a:pt x="10708260" y="182880"/>
                  </a:cubicBezTo>
                  <a:lnTo>
                    <a:pt x="10708260" y="3025521"/>
                  </a:lnTo>
                  <a:cubicBezTo>
                    <a:pt x="10708260" y="3126486"/>
                    <a:pt x="10626344" y="3208401"/>
                    <a:pt x="10525379" y="3208401"/>
                  </a:cubicBezTo>
                  <a:lnTo>
                    <a:pt x="182880" y="3208401"/>
                  </a:lnTo>
                  <a:cubicBezTo>
                    <a:pt x="81915" y="3208401"/>
                    <a:pt x="0" y="3126486"/>
                    <a:pt x="0" y="3025521"/>
                  </a:cubicBezTo>
                  <a:close/>
                </a:path>
              </a:pathLst>
            </a:custGeom>
            <a:solidFill>
              <a:srgbClr val="FFFFF4">
                <a:alpha val="90196"/>
              </a:srgbClr>
            </a:solidFill>
            <a:ln w="12700">
              <a:solidFill>
                <a:srgbClr val="000000"/>
              </a:solidFill>
            </a:ln>
          </p:spPr>
        </p:sp>
      </p:grpSp>
      <p:grpSp>
        <p:nvGrpSpPr>
          <p:cNvPr name="Group 28" id="28"/>
          <p:cNvGrpSpPr/>
          <p:nvPr/>
        </p:nvGrpSpPr>
        <p:grpSpPr>
          <a:xfrm rot="0">
            <a:off x="992238" y="6893421"/>
            <a:ext cx="8031212" cy="114300"/>
            <a:chOff x="0" y="0"/>
            <a:chExt cx="10708283" cy="152400"/>
          </a:xfrm>
        </p:grpSpPr>
        <p:sp>
          <p:nvSpPr>
            <p:cNvPr name="Freeform 29" id="29"/>
            <p:cNvSpPr/>
            <p:nvPr/>
          </p:nvSpPr>
          <p:spPr>
            <a:xfrm flipH="false" flipV="false" rot="0">
              <a:off x="0" y="0"/>
              <a:ext cx="10708259" cy="152400"/>
            </a:xfrm>
            <a:custGeom>
              <a:avLst/>
              <a:gdLst/>
              <a:ahLst/>
              <a:cxnLst/>
              <a:rect r="r" b="b" t="t" l="l"/>
              <a:pathLst>
                <a:path h="152400" w="10708259">
                  <a:moveTo>
                    <a:pt x="0" y="76200"/>
                  </a:moveTo>
                  <a:cubicBezTo>
                    <a:pt x="0" y="34163"/>
                    <a:pt x="34163" y="0"/>
                    <a:pt x="76200" y="0"/>
                  </a:cubicBezTo>
                  <a:lnTo>
                    <a:pt x="10632059" y="0"/>
                  </a:lnTo>
                  <a:cubicBezTo>
                    <a:pt x="10674096" y="0"/>
                    <a:pt x="10708259" y="34163"/>
                    <a:pt x="10708259" y="76200"/>
                  </a:cubicBezTo>
                  <a:cubicBezTo>
                    <a:pt x="10708259" y="118237"/>
                    <a:pt x="10674096" y="152400"/>
                    <a:pt x="10632059" y="152400"/>
                  </a:cubicBezTo>
                  <a:lnTo>
                    <a:pt x="76200" y="152400"/>
                  </a:lnTo>
                  <a:cubicBezTo>
                    <a:pt x="34163" y="152400"/>
                    <a:pt x="0" y="118237"/>
                    <a:pt x="0" y="76200"/>
                  </a:cubicBezTo>
                  <a:close/>
                </a:path>
              </a:pathLst>
            </a:custGeom>
            <a:solidFill>
              <a:srgbClr val="D4BB9B"/>
            </a:solidFill>
            <a:ln w="12700">
              <a:solidFill>
                <a:srgbClr val="000000"/>
              </a:solidFill>
            </a:ln>
          </p:spPr>
        </p:sp>
      </p:grpSp>
      <p:grpSp>
        <p:nvGrpSpPr>
          <p:cNvPr name="Group 30" id="30"/>
          <p:cNvGrpSpPr/>
          <p:nvPr/>
        </p:nvGrpSpPr>
        <p:grpSpPr>
          <a:xfrm rot="0">
            <a:off x="4646265" y="6560492"/>
            <a:ext cx="723007" cy="723007"/>
            <a:chOff x="0" y="0"/>
            <a:chExt cx="964010" cy="964010"/>
          </a:xfrm>
        </p:grpSpPr>
        <p:sp>
          <p:nvSpPr>
            <p:cNvPr name="Freeform 31" id="31"/>
            <p:cNvSpPr/>
            <p:nvPr/>
          </p:nvSpPr>
          <p:spPr>
            <a:xfrm flipH="false" flipV="false" rot="0">
              <a:off x="0" y="0"/>
              <a:ext cx="964057" cy="964057"/>
            </a:xfrm>
            <a:custGeom>
              <a:avLst/>
              <a:gdLst/>
              <a:ahLst/>
              <a:cxnLst/>
              <a:rect r="r" b="b" t="t" l="l"/>
              <a:pathLst>
                <a:path h="964057" w="964057">
                  <a:moveTo>
                    <a:pt x="0" y="481965"/>
                  </a:moveTo>
                  <a:cubicBezTo>
                    <a:pt x="0" y="215773"/>
                    <a:pt x="215773" y="0"/>
                    <a:pt x="481965" y="0"/>
                  </a:cubicBezTo>
                  <a:cubicBezTo>
                    <a:pt x="748157" y="0"/>
                    <a:pt x="964057" y="215773"/>
                    <a:pt x="964057" y="481965"/>
                  </a:cubicBezTo>
                  <a:cubicBezTo>
                    <a:pt x="964057" y="748157"/>
                    <a:pt x="748157" y="964057"/>
                    <a:pt x="481965" y="964057"/>
                  </a:cubicBezTo>
                  <a:cubicBezTo>
                    <a:pt x="215773" y="964057"/>
                    <a:pt x="0" y="748157"/>
                    <a:pt x="0" y="481965"/>
                  </a:cubicBezTo>
                  <a:close/>
                </a:path>
              </a:pathLst>
            </a:custGeom>
            <a:solidFill>
              <a:srgbClr val="FF954F"/>
            </a:solidFill>
            <a:ln w="12700">
              <a:solidFill>
                <a:srgbClr val="000000"/>
              </a:solidFill>
            </a:ln>
          </p:spPr>
        </p:sp>
      </p:grpSp>
      <p:sp>
        <p:nvSpPr>
          <p:cNvPr name="TextBox 32" id="32"/>
          <p:cNvSpPr txBox="true"/>
          <p:nvPr/>
        </p:nvSpPr>
        <p:spPr>
          <a:xfrm rot="0">
            <a:off x="4886155" y="6734332"/>
            <a:ext cx="380148" cy="337228"/>
          </a:xfrm>
          <a:prstGeom prst="rect">
            <a:avLst/>
          </a:prstGeom>
        </p:spPr>
        <p:txBody>
          <a:bodyPr anchor="t" rtlCol="false" tIns="0" lIns="0" bIns="0" rIns="0">
            <a:spAutoFit/>
          </a:bodyPr>
          <a:lstStyle/>
          <a:p>
            <a:pPr algn="l">
              <a:lnSpc>
                <a:spcPts val="2574"/>
              </a:lnSpc>
            </a:pPr>
            <a:r>
              <a:rPr lang="en-US" sz="1971">
                <a:solidFill>
                  <a:srgbClr val="000000"/>
                </a:solidFill>
                <a:latin typeface="Times New Roman"/>
                <a:ea typeface="Times New Roman"/>
                <a:cs typeface="Times New Roman"/>
                <a:sym typeface="Times New Roman"/>
              </a:rPr>
              <a:t>3</a:t>
            </a:r>
          </a:p>
        </p:txBody>
      </p:sp>
      <p:sp>
        <p:nvSpPr>
          <p:cNvPr name="TextBox 33" id="33"/>
          <p:cNvSpPr txBox="true"/>
          <p:nvPr/>
        </p:nvSpPr>
        <p:spPr>
          <a:xfrm rot="0">
            <a:off x="1261765" y="7486353"/>
            <a:ext cx="3889325" cy="335959"/>
          </a:xfrm>
          <a:prstGeom prst="rect">
            <a:avLst/>
          </a:prstGeom>
        </p:spPr>
        <p:txBody>
          <a:bodyPr anchor="t" rtlCol="false" tIns="0" lIns="0" bIns="0" rIns="0">
            <a:spAutoFit/>
          </a:bodyPr>
          <a:lstStyle/>
          <a:p>
            <a:pPr algn="l">
              <a:lnSpc>
                <a:spcPts val="2604"/>
              </a:lnSpc>
            </a:pPr>
            <a:r>
              <a:rPr lang="en-US" sz="2000" b="true">
                <a:solidFill>
                  <a:srgbClr val="67534F"/>
                </a:solidFill>
                <a:latin typeface="Times New Roman Bold"/>
                <a:ea typeface="Times New Roman Bold"/>
                <a:cs typeface="Times New Roman Bold"/>
                <a:sym typeface="Times New Roman Bold"/>
              </a:rPr>
              <a:t>Vectorization Advantage</a:t>
            </a:r>
          </a:p>
        </p:txBody>
      </p:sp>
      <p:sp>
        <p:nvSpPr>
          <p:cNvPr name="TextBox 34" id="34"/>
          <p:cNvSpPr txBox="true"/>
          <p:nvPr/>
        </p:nvSpPr>
        <p:spPr>
          <a:xfrm rot="0">
            <a:off x="1261765" y="8090744"/>
            <a:ext cx="7492156" cy="504825"/>
          </a:xfrm>
          <a:prstGeom prst="rect">
            <a:avLst/>
          </a:prstGeom>
        </p:spPr>
        <p:txBody>
          <a:bodyPr anchor="t" rtlCol="false" tIns="0" lIns="0" bIns="0" rIns="0">
            <a:spAutoFit/>
          </a:bodyPr>
          <a:lstStyle/>
          <a:p>
            <a:pPr algn="l">
              <a:lnSpc>
                <a:spcPts val="1950"/>
              </a:lnSpc>
            </a:pPr>
            <a:r>
              <a:rPr lang="en-US" sz="1500">
                <a:solidFill>
                  <a:srgbClr val="67534F"/>
                </a:solidFill>
                <a:latin typeface="Times New Roman"/>
                <a:ea typeface="Times New Roman"/>
                <a:cs typeface="Times New Roman"/>
                <a:sym typeface="Times New Roman"/>
              </a:rPr>
              <a:t>This vectorized approach executes calculations via optimized C code, delivering performance vastly superior to traditional Python for-loops, especially with extensive historical data.</a:t>
            </a:r>
          </a:p>
        </p:txBody>
      </p:sp>
      <p:grpSp>
        <p:nvGrpSpPr>
          <p:cNvPr name="Group 35" id="35"/>
          <p:cNvGrpSpPr/>
          <p:nvPr/>
        </p:nvGrpSpPr>
        <p:grpSpPr>
          <a:xfrm rot="0">
            <a:off x="9264402" y="6921996"/>
            <a:ext cx="8031361" cy="2406254"/>
            <a:chOff x="0" y="0"/>
            <a:chExt cx="10708482" cy="3208338"/>
          </a:xfrm>
        </p:grpSpPr>
        <p:sp>
          <p:nvSpPr>
            <p:cNvPr name="Freeform 36" id="36"/>
            <p:cNvSpPr/>
            <p:nvPr/>
          </p:nvSpPr>
          <p:spPr>
            <a:xfrm flipH="false" flipV="false" rot="0">
              <a:off x="0" y="0"/>
              <a:ext cx="10708513" cy="3208401"/>
            </a:xfrm>
            <a:custGeom>
              <a:avLst/>
              <a:gdLst/>
              <a:ahLst/>
              <a:cxnLst/>
              <a:rect r="r" b="b" t="t" l="l"/>
              <a:pathLst>
                <a:path h="3208401" w="10708513">
                  <a:moveTo>
                    <a:pt x="0" y="182880"/>
                  </a:moveTo>
                  <a:cubicBezTo>
                    <a:pt x="0" y="81915"/>
                    <a:pt x="81915" y="0"/>
                    <a:pt x="182880" y="0"/>
                  </a:cubicBezTo>
                  <a:lnTo>
                    <a:pt x="10525633" y="0"/>
                  </a:lnTo>
                  <a:cubicBezTo>
                    <a:pt x="10626598" y="0"/>
                    <a:pt x="10708513" y="81915"/>
                    <a:pt x="10708513" y="182880"/>
                  </a:cubicBezTo>
                  <a:lnTo>
                    <a:pt x="10708513" y="3025521"/>
                  </a:lnTo>
                  <a:cubicBezTo>
                    <a:pt x="10708513" y="3126486"/>
                    <a:pt x="10626598" y="3208401"/>
                    <a:pt x="10525633" y="3208401"/>
                  </a:cubicBezTo>
                  <a:lnTo>
                    <a:pt x="182880" y="3208401"/>
                  </a:lnTo>
                  <a:cubicBezTo>
                    <a:pt x="81915" y="3208401"/>
                    <a:pt x="0" y="3126486"/>
                    <a:pt x="0" y="3025521"/>
                  </a:cubicBezTo>
                  <a:close/>
                </a:path>
              </a:pathLst>
            </a:custGeom>
            <a:solidFill>
              <a:srgbClr val="FFFFF4">
                <a:alpha val="90196"/>
              </a:srgbClr>
            </a:solidFill>
            <a:ln w="12700">
              <a:solidFill>
                <a:srgbClr val="000000"/>
              </a:solidFill>
            </a:ln>
          </p:spPr>
        </p:sp>
      </p:grpSp>
      <p:grpSp>
        <p:nvGrpSpPr>
          <p:cNvPr name="Group 37" id="37"/>
          <p:cNvGrpSpPr/>
          <p:nvPr/>
        </p:nvGrpSpPr>
        <p:grpSpPr>
          <a:xfrm rot="0">
            <a:off x="9264402" y="6893421"/>
            <a:ext cx="8031361" cy="114300"/>
            <a:chOff x="0" y="0"/>
            <a:chExt cx="10708482" cy="152400"/>
          </a:xfrm>
        </p:grpSpPr>
        <p:sp>
          <p:nvSpPr>
            <p:cNvPr name="Freeform 38" id="38"/>
            <p:cNvSpPr/>
            <p:nvPr/>
          </p:nvSpPr>
          <p:spPr>
            <a:xfrm flipH="false" flipV="false" rot="0">
              <a:off x="0" y="0"/>
              <a:ext cx="10708513" cy="152400"/>
            </a:xfrm>
            <a:custGeom>
              <a:avLst/>
              <a:gdLst/>
              <a:ahLst/>
              <a:cxnLst/>
              <a:rect r="r" b="b" t="t" l="l"/>
              <a:pathLst>
                <a:path h="152400" w="10708513">
                  <a:moveTo>
                    <a:pt x="0" y="76200"/>
                  </a:moveTo>
                  <a:cubicBezTo>
                    <a:pt x="0" y="34163"/>
                    <a:pt x="34163" y="0"/>
                    <a:pt x="76200" y="0"/>
                  </a:cubicBezTo>
                  <a:lnTo>
                    <a:pt x="10632313" y="0"/>
                  </a:lnTo>
                  <a:cubicBezTo>
                    <a:pt x="10674350" y="0"/>
                    <a:pt x="10708513" y="34163"/>
                    <a:pt x="10708513" y="76200"/>
                  </a:cubicBezTo>
                  <a:cubicBezTo>
                    <a:pt x="10708513" y="118237"/>
                    <a:pt x="10674350" y="152400"/>
                    <a:pt x="10632313" y="152400"/>
                  </a:cubicBezTo>
                  <a:lnTo>
                    <a:pt x="76200" y="152400"/>
                  </a:lnTo>
                  <a:cubicBezTo>
                    <a:pt x="34163" y="152400"/>
                    <a:pt x="0" y="118237"/>
                    <a:pt x="0" y="76200"/>
                  </a:cubicBezTo>
                  <a:close/>
                </a:path>
              </a:pathLst>
            </a:custGeom>
            <a:solidFill>
              <a:srgbClr val="D4BB9B"/>
            </a:solidFill>
            <a:ln w="12700">
              <a:solidFill>
                <a:srgbClr val="000000"/>
              </a:solidFill>
            </a:ln>
          </p:spPr>
        </p:sp>
      </p:grpSp>
      <p:grpSp>
        <p:nvGrpSpPr>
          <p:cNvPr name="Group 39" id="39"/>
          <p:cNvGrpSpPr/>
          <p:nvPr/>
        </p:nvGrpSpPr>
        <p:grpSpPr>
          <a:xfrm rot="0">
            <a:off x="12918579" y="6560492"/>
            <a:ext cx="723008" cy="723007"/>
            <a:chOff x="0" y="0"/>
            <a:chExt cx="964010" cy="964010"/>
          </a:xfrm>
        </p:grpSpPr>
        <p:sp>
          <p:nvSpPr>
            <p:cNvPr name="Freeform 40" id="40"/>
            <p:cNvSpPr/>
            <p:nvPr/>
          </p:nvSpPr>
          <p:spPr>
            <a:xfrm flipH="false" flipV="false" rot="0">
              <a:off x="0" y="0"/>
              <a:ext cx="964057" cy="964057"/>
            </a:xfrm>
            <a:custGeom>
              <a:avLst/>
              <a:gdLst/>
              <a:ahLst/>
              <a:cxnLst/>
              <a:rect r="r" b="b" t="t" l="l"/>
              <a:pathLst>
                <a:path h="964057" w="964057">
                  <a:moveTo>
                    <a:pt x="0" y="481965"/>
                  </a:moveTo>
                  <a:cubicBezTo>
                    <a:pt x="0" y="215773"/>
                    <a:pt x="215773" y="0"/>
                    <a:pt x="481965" y="0"/>
                  </a:cubicBezTo>
                  <a:cubicBezTo>
                    <a:pt x="748157" y="0"/>
                    <a:pt x="964057" y="215773"/>
                    <a:pt x="964057" y="481965"/>
                  </a:cubicBezTo>
                  <a:cubicBezTo>
                    <a:pt x="964057" y="748157"/>
                    <a:pt x="748157" y="964057"/>
                    <a:pt x="481965" y="964057"/>
                  </a:cubicBezTo>
                  <a:cubicBezTo>
                    <a:pt x="215773" y="964057"/>
                    <a:pt x="0" y="748157"/>
                    <a:pt x="0" y="481965"/>
                  </a:cubicBezTo>
                  <a:close/>
                </a:path>
              </a:pathLst>
            </a:custGeom>
            <a:solidFill>
              <a:srgbClr val="FF954F"/>
            </a:solidFill>
            <a:ln w="12700">
              <a:solidFill>
                <a:srgbClr val="000000"/>
              </a:solidFill>
            </a:ln>
          </p:spPr>
        </p:sp>
      </p:grpSp>
      <p:sp>
        <p:nvSpPr>
          <p:cNvPr name="TextBox 41" id="41"/>
          <p:cNvSpPr txBox="true"/>
          <p:nvPr/>
        </p:nvSpPr>
        <p:spPr>
          <a:xfrm rot="0">
            <a:off x="13163745" y="6762907"/>
            <a:ext cx="380148" cy="337228"/>
          </a:xfrm>
          <a:prstGeom prst="rect">
            <a:avLst/>
          </a:prstGeom>
        </p:spPr>
        <p:txBody>
          <a:bodyPr anchor="t" rtlCol="false" tIns="0" lIns="0" bIns="0" rIns="0">
            <a:spAutoFit/>
          </a:bodyPr>
          <a:lstStyle/>
          <a:p>
            <a:pPr algn="l">
              <a:lnSpc>
                <a:spcPts val="2574"/>
              </a:lnSpc>
            </a:pPr>
            <a:r>
              <a:rPr lang="en-US" sz="1971">
                <a:solidFill>
                  <a:srgbClr val="000000"/>
                </a:solidFill>
                <a:latin typeface="Times New Roman"/>
                <a:ea typeface="Times New Roman"/>
                <a:cs typeface="Times New Roman"/>
                <a:sym typeface="Times New Roman"/>
              </a:rPr>
              <a:t>4</a:t>
            </a:r>
          </a:p>
        </p:txBody>
      </p:sp>
      <p:sp>
        <p:nvSpPr>
          <p:cNvPr name="TextBox 42" id="42"/>
          <p:cNvSpPr txBox="true"/>
          <p:nvPr/>
        </p:nvSpPr>
        <p:spPr>
          <a:xfrm rot="0">
            <a:off x="9533930" y="7486353"/>
            <a:ext cx="3464421" cy="335959"/>
          </a:xfrm>
          <a:prstGeom prst="rect">
            <a:avLst/>
          </a:prstGeom>
        </p:spPr>
        <p:txBody>
          <a:bodyPr anchor="t" rtlCol="false" tIns="0" lIns="0" bIns="0" rIns="0">
            <a:spAutoFit/>
          </a:bodyPr>
          <a:lstStyle/>
          <a:p>
            <a:pPr algn="l">
              <a:lnSpc>
                <a:spcPts val="2604"/>
              </a:lnSpc>
            </a:pPr>
            <a:r>
              <a:rPr lang="en-US" sz="2000" b="true">
                <a:solidFill>
                  <a:srgbClr val="67534F"/>
                </a:solidFill>
                <a:latin typeface="Times New Roman Bold"/>
                <a:ea typeface="Times New Roman Bold"/>
                <a:cs typeface="Times New Roman Bold"/>
                <a:sym typeface="Times New Roman Bold"/>
              </a:rPr>
              <a:t>Volatility Metric</a:t>
            </a:r>
          </a:p>
        </p:txBody>
      </p:sp>
      <p:sp>
        <p:nvSpPr>
          <p:cNvPr name="TextBox 43" id="43"/>
          <p:cNvSpPr txBox="true"/>
          <p:nvPr/>
        </p:nvSpPr>
        <p:spPr>
          <a:xfrm rot="0">
            <a:off x="9533930" y="8090744"/>
            <a:ext cx="7492305" cy="504825"/>
          </a:xfrm>
          <a:prstGeom prst="rect">
            <a:avLst/>
          </a:prstGeom>
        </p:spPr>
        <p:txBody>
          <a:bodyPr anchor="t" rtlCol="false" tIns="0" lIns="0" bIns="0" rIns="0">
            <a:spAutoFit/>
          </a:bodyPr>
          <a:lstStyle/>
          <a:p>
            <a:pPr algn="l">
              <a:lnSpc>
                <a:spcPts val="1950"/>
              </a:lnSpc>
            </a:pPr>
            <a:r>
              <a:rPr lang="en-US" sz="1500">
                <a:solidFill>
                  <a:srgbClr val="67534F"/>
                </a:solidFill>
                <a:latin typeface="Times New Roman"/>
                <a:ea typeface="Times New Roman"/>
                <a:cs typeface="Times New Roman"/>
                <a:sym typeface="Times New Roman"/>
              </a:rPr>
              <a:t>Volatility is precisely determined using numpy.std()  on daily stock returns derived from .pct_change(), guaranteeing both accuracy and computational efficiency for statistical metrics.</a:t>
            </a:r>
          </a:p>
        </p:txBody>
      </p:sp>
      <p:sp>
        <p:nvSpPr>
          <p:cNvPr name="Freeform 44" id="44"/>
          <p:cNvSpPr/>
          <p:nvPr/>
        </p:nvSpPr>
        <p:spPr>
          <a:xfrm flipH="false" flipV="false" rot="0">
            <a:off x="0" y="9145394"/>
            <a:ext cx="886301" cy="1141606"/>
          </a:xfrm>
          <a:custGeom>
            <a:avLst/>
            <a:gdLst/>
            <a:ahLst/>
            <a:cxnLst/>
            <a:rect r="r" b="b" t="t" l="l"/>
            <a:pathLst>
              <a:path h="1141606" w="886301">
                <a:moveTo>
                  <a:pt x="0" y="0"/>
                </a:moveTo>
                <a:lnTo>
                  <a:pt x="886301" y="0"/>
                </a:lnTo>
                <a:lnTo>
                  <a:pt x="886301" y="1141606"/>
                </a:lnTo>
                <a:lnTo>
                  <a:pt x="0" y="11416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C8AB"/>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4">
                <a:alpha val="90196"/>
              </a:srgbClr>
            </a:solidFill>
            <a:ln w="12700">
              <a:solidFill>
                <a:srgbClr val="000000"/>
              </a:solidFill>
            </a:ln>
          </p:spPr>
        </p:sp>
      </p:grpSp>
      <p:sp>
        <p:nvSpPr>
          <p:cNvPr name="TextBox 6" id="6"/>
          <p:cNvSpPr txBox="true"/>
          <p:nvPr/>
        </p:nvSpPr>
        <p:spPr>
          <a:xfrm rot="0">
            <a:off x="987773" y="721816"/>
            <a:ext cx="16312455" cy="692748"/>
          </a:xfrm>
          <a:prstGeom prst="rect">
            <a:avLst/>
          </a:prstGeom>
        </p:spPr>
        <p:txBody>
          <a:bodyPr anchor="t" rtlCol="false" tIns="0" lIns="0" bIns="0" rIns="0">
            <a:spAutoFit/>
          </a:bodyPr>
          <a:lstStyle/>
          <a:p>
            <a:pPr algn="ctr">
              <a:lnSpc>
                <a:spcPts val="5435"/>
              </a:lnSpc>
            </a:pPr>
            <a:r>
              <a:rPr lang="en-US" sz="4200" b="true">
                <a:solidFill>
                  <a:srgbClr val="532418"/>
                </a:solidFill>
                <a:latin typeface="Times New Roman Bold"/>
                <a:ea typeface="Times New Roman Bold"/>
                <a:cs typeface="Times New Roman Bold"/>
                <a:sym typeface="Times New Roman Bold"/>
              </a:rPr>
              <a:t>System Robustness and Defensive Programming</a:t>
            </a:r>
          </a:p>
        </p:txBody>
      </p:sp>
      <p:sp>
        <p:nvSpPr>
          <p:cNvPr name="TextBox 7" id="7"/>
          <p:cNvSpPr txBox="true"/>
          <p:nvPr/>
        </p:nvSpPr>
        <p:spPr>
          <a:xfrm rot="0">
            <a:off x="987773" y="2520069"/>
            <a:ext cx="16312455" cy="820964"/>
          </a:xfrm>
          <a:prstGeom prst="rect">
            <a:avLst/>
          </a:prstGeom>
        </p:spPr>
        <p:txBody>
          <a:bodyPr anchor="t" rtlCol="false" tIns="0" lIns="0" bIns="0" rIns="0">
            <a:spAutoFit/>
          </a:bodyPr>
          <a:lstStyle/>
          <a:p>
            <a:pPr algn="l">
              <a:lnSpc>
                <a:spcPts val="3285"/>
              </a:lnSpc>
            </a:pPr>
            <a:r>
              <a:rPr lang="en-US" sz="2499">
                <a:solidFill>
                  <a:srgbClr val="67534F"/>
                </a:solidFill>
                <a:latin typeface="Times New Roman"/>
                <a:ea typeface="Times New Roman"/>
                <a:cs typeface="Times New Roman"/>
                <a:sym typeface="Times New Roman"/>
              </a:rPr>
              <a:t>FinSight is engineered with defensive programming principles to prevent "brittle" failures and implement graceful degradation, ensuring stability and a smooth user experience even when unexpected issues arise.</a:t>
            </a:r>
          </a:p>
        </p:txBody>
      </p:sp>
      <p:grpSp>
        <p:nvGrpSpPr>
          <p:cNvPr name="Group 8" id="8"/>
          <p:cNvGrpSpPr/>
          <p:nvPr/>
        </p:nvGrpSpPr>
        <p:grpSpPr>
          <a:xfrm rot="0">
            <a:off x="968722" y="4484638"/>
            <a:ext cx="5287416" cy="5042298"/>
            <a:chOff x="0" y="0"/>
            <a:chExt cx="7049888" cy="6723063"/>
          </a:xfrm>
        </p:grpSpPr>
        <p:sp>
          <p:nvSpPr>
            <p:cNvPr name="Freeform 9" id="9"/>
            <p:cNvSpPr/>
            <p:nvPr/>
          </p:nvSpPr>
          <p:spPr>
            <a:xfrm flipH="false" flipV="false" rot="0">
              <a:off x="25400" y="25400"/>
              <a:ext cx="6999098" cy="6672199"/>
            </a:xfrm>
            <a:custGeom>
              <a:avLst/>
              <a:gdLst/>
              <a:ahLst/>
              <a:cxnLst/>
              <a:rect r="r" b="b" t="t" l="l"/>
              <a:pathLst>
                <a:path h="6672199" w="6999098">
                  <a:moveTo>
                    <a:pt x="0" y="243840"/>
                  </a:moveTo>
                  <a:cubicBezTo>
                    <a:pt x="0" y="109220"/>
                    <a:pt x="109220" y="0"/>
                    <a:pt x="243967" y="0"/>
                  </a:cubicBezTo>
                  <a:lnTo>
                    <a:pt x="6755130" y="0"/>
                  </a:lnTo>
                  <a:cubicBezTo>
                    <a:pt x="6889877" y="0"/>
                    <a:pt x="6999098" y="109220"/>
                    <a:pt x="6999098" y="243840"/>
                  </a:cubicBezTo>
                  <a:lnTo>
                    <a:pt x="6999098" y="6428359"/>
                  </a:lnTo>
                  <a:cubicBezTo>
                    <a:pt x="6999098" y="6563106"/>
                    <a:pt x="6889877" y="6672199"/>
                    <a:pt x="6755130" y="6672199"/>
                  </a:cubicBezTo>
                  <a:lnTo>
                    <a:pt x="243967" y="6672199"/>
                  </a:lnTo>
                  <a:cubicBezTo>
                    <a:pt x="109220" y="6672326"/>
                    <a:pt x="0" y="6563106"/>
                    <a:pt x="0" y="6428359"/>
                  </a:cubicBezTo>
                  <a:close/>
                </a:path>
              </a:pathLst>
            </a:custGeom>
            <a:solidFill>
              <a:srgbClr val="FFFFF4">
                <a:alpha val="90196"/>
              </a:srgbClr>
            </a:solidFill>
            <a:ln w="12700">
              <a:solidFill>
                <a:srgbClr val="000000"/>
              </a:solidFill>
            </a:ln>
          </p:spPr>
        </p:sp>
        <p:sp>
          <p:nvSpPr>
            <p:cNvPr name="Freeform 10" id="10"/>
            <p:cNvSpPr/>
            <p:nvPr/>
          </p:nvSpPr>
          <p:spPr>
            <a:xfrm flipH="false" flipV="false" rot="0">
              <a:off x="0" y="0"/>
              <a:ext cx="7049898" cy="6722999"/>
            </a:xfrm>
            <a:custGeom>
              <a:avLst/>
              <a:gdLst/>
              <a:ahLst/>
              <a:cxnLst/>
              <a:rect r="r" b="b" t="t" l="l"/>
              <a:pathLst>
                <a:path h="6722999" w="7049898">
                  <a:moveTo>
                    <a:pt x="0" y="269240"/>
                  </a:moveTo>
                  <a:cubicBezTo>
                    <a:pt x="0" y="120523"/>
                    <a:pt x="120650" y="0"/>
                    <a:pt x="269367" y="0"/>
                  </a:cubicBezTo>
                  <a:lnTo>
                    <a:pt x="6780530" y="0"/>
                  </a:lnTo>
                  <a:lnTo>
                    <a:pt x="6780530" y="25400"/>
                  </a:lnTo>
                  <a:lnTo>
                    <a:pt x="6780530" y="0"/>
                  </a:lnTo>
                  <a:cubicBezTo>
                    <a:pt x="6929248" y="0"/>
                    <a:pt x="7049898" y="120523"/>
                    <a:pt x="7049898" y="269240"/>
                  </a:cubicBezTo>
                  <a:lnTo>
                    <a:pt x="7024498" y="269240"/>
                  </a:lnTo>
                  <a:lnTo>
                    <a:pt x="7049898" y="269240"/>
                  </a:lnTo>
                  <a:lnTo>
                    <a:pt x="7049898" y="6453759"/>
                  </a:lnTo>
                  <a:lnTo>
                    <a:pt x="7024498" y="6453759"/>
                  </a:lnTo>
                  <a:lnTo>
                    <a:pt x="7049898" y="6453759"/>
                  </a:lnTo>
                  <a:cubicBezTo>
                    <a:pt x="7049898" y="6602476"/>
                    <a:pt x="6929248" y="6722999"/>
                    <a:pt x="6780530" y="6722999"/>
                  </a:cubicBezTo>
                  <a:lnTo>
                    <a:pt x="6780530" y="6697599"/>
                  </a:lnTo>
                  <a:lnTo>
                    <a:pt x="6780530" y="6722999"/>
                  </a:lnTo>
                  <a:lnTo>
                    <a:pt x="269367" y="6722999"/>
                  </a:lnTo>
                  <a:lnTo>
                    <a:pt x="269367" y="6697599"/>
                  </a:lnTo>
                  <a:lnTo>
                    <a:pt x="269367" y="6722999"/>
                  </a:lnTo>
                  <a:cubicBezTo>
                    <a:pt x="120650" y="6723126"/>
                    <a:pt x="0" y="6602476"/>
                    <a:pt x="0" y="6453759"/>
                  </a:cubicBezTo>
                  <a:lnTo>
                    <a:pt x="0" y="269240"/>
                  </a:lnTo>
                  <a:lnTo>
                    <a:pt x="25400" y="269240"/>
                  </a:lnTo>
                  <a:lnTo>
                    <a:pt x="0" y="269240"/>
                  </a:lnTo>
                  <a:moveTo>
                    <a:pt x="50800" y="269240"/>
                  </a:moveTo>
                  <a:lnTo>
                    <a:pt x="50800" y="6453759"/>
                  </a:lnTo>
                  <a:lnTo>
                    <a:pt x="25400" y="6453759"/>
                  </a:lnTo>
                  <a:lnTo>
                    <a:pt x="50800" y="6453759"/>
                  </a:lnTo>
                  <a:cubicBezTo>
                    <a:pt x="50800" y="6574410"/>
                    <a:pt x="148590" y="6672199"/>
                    <a:pt x="269367" y="6672199"/>
                  </a:cubicBezTo>
                  <a:lnTo>
                    <a:pt x="6780530" y="6672199"/>
                  </a:lnTo>
                  <a:cubicBezTo>
                    <a:pt x="6901307" y="6672199"/>
                    <a:pt x="6999098" y="6574410"/>
                    <a:pt x="6999098" y="6453759"/>
                  </a:cubicBezTo>
                  <a:lnTo>
                    <a:pt x="6999098" y="269240"/>
                  </a:lnTo>
                  <a:cubicBezTo>
                    <a:pt x="6999098" y="148590"/>
                    <a:pt x="6901307" y="50800"/>
                    <a:pt x="6780530" y="50800"/>
                  </a:cubicBezTo>
                  <a:lnTo>
                    <a:pt x="269367" y="50800"/>
                  </a:lnTo>
                  <a:lnTo>
                    <a:pt x="269367" y="25400"/>
                  </a:lnTo>
                  <a:lnTo>
                    <a:pt x="269367" y="50800"/>
                  </a:lnTo>
                  <a:cubicBezTo>
                    <a:pt x="148590" y="50800"/>
                    <a:pt x="50800" y="148590"/>
                    <a:pt x="50800" y="269240"/>
                  </a:cubicBezTo>
                  <a:close/>
                </a:path>
              </a:pathLst>
            </a:custGeom>
            <a:solidFill>
              <a:srgbClr val="FFE0CC"/>
            </a:solidFill>
            <a:ln w="12700">
              <a:solidFill>
                <a:srgbClr val="000000"/>
              </a:solidFill>
            </a:ln>
          </p:spPr>
        </p:sp>
      </p:grpSp>
      <p:grpSp>
        <p:nvGrpSpPr>
          <p:cNvPr name="Group 11" id="11"/>
          <p:cNvGrpSpPr/>
          <p:nvPr/>
        </p:nvGrpSpPr>
        <p:grpSpPr>
          <a:xfrm rot="0">
            <a:off x="949672" y="4503688"/>
            <a:ext cx="152400" cy="5004198"/>
            <a:chOff x="0" y="0"/>
            <a:chExt cx="203200" cy="6672263"/>
          </a:xfrm>
        </p:grpSpPr>
        <p:sp>
          <p:nvSpPr>
            <p:cNvPr name="Freeform 12" id="12"/>
            <p:cNvSpPr/>
            <p:nvPr/>
          </p:nvSpPr>
          <p:spPr>
            <a:xfrm flipH="false" flipV="false" rot="0">
              <a:off x="0" y="0"/>
              <a:ext cx="203200" cy="6672326"/>
            </a:xfrm>
            <a:custGeom>
              <a:avLst/>
              <a:gdLst/>
              <a:ahLst/>
              <a:cxnLst/>
              <a:rect r="r" b="b" t="t" l="l"/>
              <a:pathLst>
                <a:path h="6672326" w="203200">
                  <a:moveTo>
                    <a:pt x="0" y="101600"/>
                  </a:moveTo>
                  <a:cubicBezTo>
                    <a:pt x="0" y="45466"/>
                    <a:pt x="45466" y="0"/>
                    <a:pt x="101600" y="0"/>
                  </a:cubicBezTo>
                  <a:cubicBezTo>
                    <a:pt x="157734" y="0"/>
                    <a:pt x="203200" y="45466"/>
                    <a:pt x="203200" y="101600"/>
                  </a:cubicBezTo>
                  <a:lnTo>
                    <a:pt x="203200" y="6570726"/>
                  </a:lnTo>
                  <a:cubicBezTo>
                    <a:pt x="203200" y="6626860"/>
                    <a:pt x="157734" y="6672326"/>
                    <a:pt x="101600" y="6672326"/>
                  </a:cubicBezTo>
                  <a:cubicBezTo>
                    <a:pt x="45466" y="6672326"/>
                    <a:pt x="0" y="6626860"/>
                    <a:pt x="0" y="6570726"/>
                  </a:cubicBezTo>
                  <a:close/>
                </a:path>
              </a:pathLst>
            </a:custGeom>
            <a:solidFill>
              <a:srgbClr val="FF954F"/>
            </a:solidFill>
            <a:ln w="12700">
              <a:solidFill>
                <a:srgbClr val="000000"/>
              </a:solidFill>
            </a:ln>
          </p:spPr>
        </p:sp>
      </p:grpSp>
      <p:sp>
        <p:nvSpPr>
          <p:cNvPr name="TextBox 13" id="13"/>
          <p:cNvSpPr txBox="true"/>
          <p:nvPr/>
        </p:nvSpPr>
        <p:spPr>
          <a:xfrm rot="0">
            <a:off x="2576661" y="5636214"/>
            <a:ext cx="4056906" cy="328519"/>
          </a:xfrm>
          <a:prstGeom prst="rect">
            <a:avLst/>
          </a:prstGeom>
        </p:spPr>
        <p:txBody>
          <a:bodyPr anchor="t" rtlCol="false" tIns="0" lIns="0" bIns="0" rIns="0">
            <a:spAutoFit/>
          </a:bodyPr>
          <a:lstStyle/>
          <a:p>
            <a:pPr algn="l">
              <a:lnSpc>
                <a:spcPts val="2588"/>
              </a:lnSpc>
            </a:pPr>
            <a:r>
              <a:rPr lang="en-US" sz="2000" b="true">
                <a:solidFill>
                  <a:srgbClr val="67534F"/>
                </a:solidFill>
                <a:latin typeface="Times New Roman Bold"/>
                <a:ea typeface="Times New Roman Bold"/>
                <a:cs typeface="Times New Roman Bold"/>
                <a:sym typeface="Times New Roman Bold"/>
              </a:rPr>
              <a:t>Invalid Tickers</a:t>
            </a:r>
          </a:p>
        </p:txBody>
      </p:sp>
      <p:sp>
        <p:nvSpPr>
          <p:cNvPr name="TextBox 14" id="14"/>
          <p:cNvSpPr txBox="true"/>
          <p:nvPr/>
        </p:nvSpPr>
        <p:spPr>
          <a:xfrm rot="0">
            <a:off x="1405682" y="6470581"/>
            <a:ext cx="4494460" cy="1245054"/>
          </a:xfrm>
          <a:prstGeom prst="rect">
            <a:avLst/>
          </a:prstGeom>
        </p:spPr>
        <p:txBody>
          <a:bodyPr anchor="t" rtlCol="false" tIns="0" lIns="0" bIns="0" rIns="0">
            <a:spAutoFit/>
          </a:bodyPr>
          <a:lstStyle/>
          <a:p>
            <a:pPr algn="l">
              <a:lnSpc>
                <a:spcPts val="1971"/>
              </a:lnSpc>
            </a:pPr>
            <a:r>
              <a:rPr lang="en-US" sz="1500" b="true">
                <a:solidFill>
                  <a:srgbClr val="67534F"/>
                </a:solidFill>
                <a:latin typeface="Times New Roman Bold"/>
                <a:ea typeface="Times New Roman Bold"/>
                <a:cs typeface="Times New Roman Bold"/>
                <a:sym typeface="Times New Roman Bold"/>
              </a:rPr>
              <a:t>Problem: </a:t>
            </a:r>
            <a:r>
              <a:rPr lang="en-US" sz="1500">
                <a:solidFill>
                  <a:srgbClr val="67534F"/>
                </a:solidFill>
                <a:latin typeface="Times New Roman"/>
                <a:ea typeface="Times New Roman"/>
                <a:cs typeface="Times New Roman"/>
                <a:sym typeface="Times New Roman"/>
              </a:rPr>
              <a:t>The yfinance library can silently return an empty DataFrame for invalid ticker symbols.                            </a:t>
            </a:r>
            <a:r>
              <a:rPr lang="en-US" sz="1500" b="true">
                <a:solidFill>
                  <a:srgbClr val="67534F"/>
                </a:solidFill>
                <a:latin typeface="Times New Roman Bold"/>
                <a:ea typeface="Times New Roman Bold"/>
                <a:cs typeface="Times New Roman Bold"/>
                <a:sym typeface="Times New Roman Bold"/>
              </a:rPr>
              <a:t>Solution:</a:t>
            </a:r>
            <a:r>
              <a:rPr lang="en-US" sz="1500">
                <a:solidFill>
                  <a:srgbClr val="67534F"/>
                </a:solidFill>
                <a:latin typeface="Times New Roman"/>
                <a:ea typeface="Times New Roman"/>
                <a:cs typeface="Times New Roman"/>
                <a:sym typeface="Times New Roman"/>
              </a:rPr>
              <a:t> Immediate validation checks data.empty.                </a:t>
            </a:r>
            <a:r>
              <a:rPr lang="en-US" sz="1500" b="true">
                <a:solidFill>
                  <a:srgbClr val="67534F"/>
                </a:solidFill>
                <a:latin typeface="Times New Roman Bold"/>
                <a:ea typeface="Times New Roman Bold"/>
                <a:cs typeface="Times New Roman Bold"/>
                <a:sym typeface="Times New Roman Bold"/>
              </a:rPr>
              <a:t>User Feedback: </a:t>
            </a:r>
            <a:r>
              <a:rPr lang="en-US" sz="1500">
                <a:solidFill>
                  <a:srgbClr val="67534F"/>
                </a:solidFill>
                <a:latin typeface="Times New Roman"/>
                <a:ea typeface="Times New Roman"/>
                <a:cs typeface="Times New Roman"/>
                <a:sym typeface="Times New Roman"/>
              </a:rPr>
              <a:t>"Ticker not found: Please check your symbol."</a:t>
            </a:r>
          </a:p>
        </p:txBody>
      </p:sp>
      <p:grpSp>
        <p:nvGrpSpPr>
          <p:cNvPr name="Group 15" id="15"/>
          <p:cNvGrpSpPr/>
          <p:nvPr/>
        </p:nvGrpSpPr>
        <p:grpSpPr>
          <a:xfrm rot="0">
            <a:off x="6500217" y="4484638"/>
            <a:ext cx="5287416" cy="5042298"/>
            <a:chOff x="0" y="0"/>
            <a:chExt cx="7049888" cy="6723063"/>
          </a:xfrm>
        </p:grpSpPr>
        <p:sp>
          <p:nvSpPr>
            <p:cNvPr name="Freeform 16" id="16"/>
            <p:cNvSpPr/>
            <p:nvPr/>
          </p:nvSpPr>
          <p:spPr>
            <a:xfrm flipH="false" flipV="false" rot="0">
              <a:off x="25400" y="25400"/>
              <a:ext cx="6999098" cy="6672199"/>
            </a:xfrm>
            <a:custGeom>
              <a:avLst/>
              <a:gdLst/>
              <a:ahLst/>
              <a:cxnLst/>
              <a:rect r="r" b="b" t="t" l="l"/>
              <a:pathLst>
                <a:path h="6672199" w="6999098">
                  <a:moveTo>
                    <a:pt x="0" y="243840"/>
                  </a:moveTo>
                  <a:cubicBezTo>
                    <a:pt x="0" y="109220"/>
                    <a:pt x="109220" y="0"/>
                    <a:pt x="243967" y="0"/>
                  </a:cubicBezTo>
                  <a:lnTo>
                    <a:pt x="6755130" y="0"/>
                  </a:lnTo>
                  <a:cubicBezTo>
                    <a:pt x="6889877" y="0"/>
                    <a:pt x="6999098" y="109220"/>
                    <a:pt x="6999098" y="243840"/>
                  </a:cubicBezTo>
                  <a:lnTo>
                    <a:pt x="6999098" y="6428359"/>
                  </a:lnTo>
                  <a:cubicBezTo>
                    <a:pt x="6999098" y="6563106"/>
                    <a:pt x="6889877" y="6672199"/>
                    <a:pt x="6755130" y="6672199"/>
                  </a:cubicBezTo>
                  <a:lnTo>
                    <a:pt x="243967" y="6672199"/>
                  </a:lnTo>
                  <a:cubicBezTo>
                    <a:pt x="109220" y="6672326"/>
                    <a:pt x="0" y="6563106"/>
                    <a:pt x="0" y="6428359"/>
                  </a:cubicBezTo>
                  <a:close/>
                </a:path>
              </a:pathLst>
            </a:custGeom>
            <a:solidFill>
              <a:srgbClr val="FFFFF4">
                <a:alpha val="90196"/>
              </a:srgbClr>
            </a:solidFill>
            <a:ln w="12700">
              <a:solidFill>
                <a:srgbClr val="000000"/>
              </a:solidFill>
            </a:ln>
          </p:spPr>
        </p:sp>
        <p:sp>
          <p:nvSpPr>
            <p:cNvPr name="Freeform 17" id="17"/>
            <p:cNvSpPr/>
            <p:nvPr/>
          </p:nvSpPr>
          <p:spPr>
            <a:xfrm flipH="false" flipV="false" rot="0">
              <a:off x="0" y="0"/>
              <a:ext cx="7049898" cy="6722999"/>
            </a:xfrm>
            <a:custGeom>
              <a:avLst/>
              <a:gdLst/>
              <a:ahLst/>
              <a:cxnLst/>
              <a:rect r="r" b="b" t="t" l="l"/>
              <a:pathLst>
                <a:path h="6722999" w="7049898">
                  <a:moveTo>
                    <a:pt x="0" y="269240"/>
                  </a:moveTo>
                  <a:cubicBezTo>
                    <a:pt x="0" y="120523"/>
                    <a:pt x="120650" y="0"/>
                    <a:pt x="269367" y="0"/>
                  </a:cubicBezTo>
                  <a:lnTo>
                    <a:pt x="6780530" y="0"/>
                  </a:lnTo>
                  <a:lnTo>
                    <a:pt x="6780530" y="25400"/>
                  </a:lnTo>
                  <a:lnTo>
                    <a:pt x="6780530" y="0"/>
                  </a:lnTo>
                  <a:cubicBezTo>
                    <a:pt x="6929248" y="0"/>
                    <a:pt x="7049898" y="120523"/>
                    <a:pt x="7049898" y="269240"/>
                  </a:cubicBezTo>
                  <a:lnTo>
                    <a:pt x="7024498" y="269240"/>
                  </a:lnTo>
                  <a:lnTo>
                    <a:pt x="7049898" y="269240"/>
                  </a:lnTo>
                  <a:lnTo>
                    <a:pt x="7049898" y="6453759"/>
                  </a:lnTo>
                  <a:lnTo>
                    <a:pt x="7024498" y="6453759"/>
                  </a:lnTo>
                  <a:lnTo>
                    <a:pt x="7049898" y="6453759"/>
                  </a:lnTo>
                  <a:cubicBezTo>
                    <a:pt x="7049898" y="6602476"/>
                    <a:pt x="6929248" y="6722999"/>
                    <a:pt x="6780530" y="6722999"/>
                  </a:cubicBezTo>
                  <a:lnTo>
                    <a:pt x="6780530" y="6697599"/>
                  </a:lnTo>
                  <a:lnTo>
                    <a:pt x="6780530" y="6722999"/>
                  </a:lnTo>
                  <a:lnTo>
                    <a:pt x="269367" y="6722999"/>
                  </a:lnTo>
                  <a:lnTo>
                    <a:pt x="269367" y="6697599"/>
                  </a:lnTo>
                  <a:lnTo>
                    <a:pt x="269367" y="6722999"/>
                  </a:lnTo>
                  <a:cubicBezTo>
                    <a:pt x="120650" y="6723126"/>
                    <a:pt x="0" y="6602476"/>
                    <a:pt x="0" y="6453759"/>
                  </a:cubicBezTo>
                  <a:lnTo>
                    <a:pt x="0" y="269240"/>
                  </a:lnTo>
                  <a:lnTo>
                    <a:pt x="25400" y="269240"/>
                  </a:lnTo>
                  <a:lnTo>
                    <a:pt x="0" y="269240"/>
                  </a:lnTo>
                  <a:moveTo>
                    <a:pt x="50800" y="269240"/>
                  </a:moveTo>
                  <a:lnTo>
                    <a:pt x="50800" y="6453759"/>
                  </a:lnTo>
                  <a:lnTo>
                    <a:pt x="25400" y="6453759"/>
                  </a:lnTo>
                  <a:lnTo>
                    <a:pt x="50800" y="6453759"/>
                  </a:lnTo>
                  <a:cubicBezTo>
                    <a:pt x="50800" y="6574410"/>
                    <a:pt x="148590" y="6672199"/>
                    <a:pt x="269367" y="6672199"/>
                  </a:cubicBezTo>
                  <a:lnTo>
                    <a:pt x="6780530" y="6672199"/>
                  </a:lnTo>
                  <a:cubicBezTo>
                    <a:pt x="6901307" y="6672199"/>
                    <a:pt x="6999098" y="6574410"/>
                    <a:pt x="6999098" y="6453759"/>
                  </a:cubicBezTo>
                  <a:lnTo>
                    <a:pt x="6999098" y="269240"/>
                  </a:lnTo>
                  <a:cubicBezTo>
                    <a:pt x="6999098" y="148590"/>
                    <a:pt x="6901307" y="50800"/>
                    <a:pt x="6780530" y="50800"/>
                  </a:cubicBezTo>
                  <a:lnTo>
                    <a:pt x="269367" y="50800"/>
                  </a:lnTo>
                  <a:lnTo>
                    <a:pt x="269367" y="25400"/>
                  </a:lnTo>
                  <a:lnTo>
                    <a:pt x="269367" y="50800"/>
                  </a:lnTo>
                  <a:cubicBezTo>
                    <a:pt x="148590" y="50800"/>
                    <a:pt x="50800" y="148590"/>
                    <a:pt x="50800" y="269240"/>
                  </a:cubicBezTo>
                  <a:close/>
                </a:path>
              </a:pathLst>
            </a:custGeom>
            <a:solidFill>
              <a:srgbClr val="FFE0CC"/>
            </a:solidFill>
            <a:ln w="12700">
              <a:solidFill>
                <a:srgbClr val="000000"/>
              </a:solidFill>
            </a:ln>
          </p:spPr>
        </p:sp>
      </p:grpSp>
      <p:grpSp>
        <p:nvGrpSpPr>
          <p:cNvPr name="Group 18" id="18"/>
          <p:cNvGrpSpPr/>
          <p:nvPr/>
        </p:nvGrpSpPr>
        <p:grpSpPr>
          <a:xfrm rot="0">
            <a:off x="6481167" y="4503688"/>
            <a:ext cx="152400" cy="5004198"/>
            <a:chOff x="0" y="0"/>
            <a:chExt cx="203200" cy="6672263"/>
          </a:xfrm>
        </p:grpSpPr>
        <p:sp>
          <p:nvSpPr>
            <p:cNvPr name="Freeform 19" id="19"/>
            <p:cNvSpPr/>
            <p:nvPr/>
          </p:nvSpPr>
          <p:spPr>
            <a:xfrm flipH="false" flipV="false" rot="0">
              <a:off x="0" y="0"/>
              <a:ext cx="203200" cy="6672326"/>
            </a:xfrm>
            <a:custGeom>
              <a:avLst/>
              <a:gdLst/>
              <a:ahLst/>
              <a:cxnLst/>
              <a:rect r="r" b="b" t="t" l="l"/>
              <a:pathLst>
                <a:path h="6672326" w="203200">
                  <a:moveTo>
                    <a:pt x="0" y="101600"/>
                  </a:moveTo>
                  <a:cubicBezTo>
                    <a:pt x="0" y="45466"/>
                    <a:pt x="45466" y="0"/>
                    <a:pt x="101600" y="0"/>
                  </a:cubicBezTo>
                  <a:cubicBezTo>
                    <a:pt x="157734" y="0"/>
                    <a:pt x="203200" y="45466"/>
                    <a:pt x="203200" y="101600"/>
                  </a:cubicBezTo>
                  <a:lnTo>
                    <a:pt x="203200" y="6570726"/>
                  </a:lnTo>
                  <a:cubicBezTo>
                    <a:pt x="203200" y="6626860"/>
                    <a:pt x="157734" y="6672326"/>
                    <a:pt x="101600" y="6672326"/>
                  </a:cubicBezTo>
                  <a:cubicBezTo>
                    <a:pt x="45466" y="6672326"/>
                    <a:pt x="0" y="6626860"/>
                    <a:pt x="0" y="6570726"/>
                  </a:cubicBezTo>
                  <a:close/>
                </a:path>
              </a:pathLst>
            </a:custGeom>
            <a:solidFill>
              <a:srgbClr val="FF954F"/>
            </a:solidFill>
            <a:ln w="12700">
              <a:solidFill>
                <a:srgbClr val="000000"/>
              </a:solidFill>
            </a:ln>
          </p:spPr>
        </p:sp>
      </p:grpSp>
      <p:sp>
        <p:nvSpPr>
          <p:cNvPr name="TextBox 20" id="20"/>
          <p:cNvSpPr txBox="true"/>
          <p:nvPr/>
        </p:nvSpPr>
        <p:spPr>
          <a:xfrm rot="0">
            <a:off x="7776711" y="5636214"/>
            <a:ext cx="4056906" cy="328519"/>
          </a:xfrm>
          <a:prstGeom prst="rect">
            <a:avLst/>
          </a:prstGeom>
        </p:spPr>
        <p:txBody>
          <a:bodyPr anchor="t" rtlCol="false" tIns="0" lIns="0" bIns="0" rIns="0">
            <a:spAutoFit/>
          </a:bodyPr>
          <a:lstStyle/>
          <a:p>
            <a:pPr algn="l">
              <a:lnSpc>
                <a:spcPts val="2588"/>
              </a:lnSpc>
            </a:pPr>
            <a:r>
              <a:rPr lang="en-US" sz="2000" b="true">
                <a:solidFill>
                  <a:srgbClr val="67534F"/>
                </a:solidFill>
                <a:latin typeface="Times New Roman Bold"/>
                <a:ea typeface="Times New Roman Bold"/>
                <a:cs typeface="Times New Roman Bold"/>
                <a:sym typeface="Times New Roman Bold"/>
              </a:rPr>
              <a:t>Network Instability</a:t>
            </a:r>
          </a:p>
        </p:txBody>
      </p:sp>
      <p:sp>
        <p:nvSpPr>
          <p:cNvPr name="TextBox 21" id="21"/>
          <p:cNvSpPr txBox="true"/>
          <p:nvPr/>
        </p:nvSpPr>
        <p:spPr>
          <a:xfrm rot="0">
            <a:off x="6957417" y="6346743"/>
            <a:ext cx="4494460" cy="1492731"/>
          </a:xfrm>
          <a:prstGeom prst="rect">
            <a:avLst/>
          </a:prstGeom>
        </p:spPr>
        <p:txBody>
          <a:bodyPr anchor="t" rtlCol="false" tIns="0" lIns="0" bIns="0" rIns="0">
            <a:spAutoFit/>
          </a:bodyPr>
          <a:lstStyle/>
          <a:p>
            <a:pPr algn="l">
              <a:lnSpc>
                <a:spcPts val="1971"/>
              </a:lnSpc>
            </a:pPr>
            <a:r>
              <a:rPr lang="en-US" sz="1500" b="true">
                <a:solidFill>
                  <a:srgbClr val="67534F"/>
                </a:solidFill>
                <a:latin typeface="Times New Roman Bold"/>
                <a:ea typeface="Times New Roman Bold"/>
                <a:cs typeface="Times New Roman Bold"/>
                <a:sym typeface="Times New Roman Bold"/>
              </a:rPr>
              <a:t>Problem: </a:t>
            </a:r>
            <a:r>
              <a:rPr lang="en-US" sz="1500">
                <a:solidFill>
                  <a:srgbClr val="67534F"/>
                </a:solidFill>
                <a:latin typeface="Times New Roman"/>
                <a:ea typeface="Times New Roman"/>
                <a:cs typeface="Times New Roman"/>
                <a:sym typeface="Times New Roman"/>
              </a:rPr>
              <a:t>API calls risk failure due to connectivity loss or rate-limiting (e.g., HTTP 429). </a:t>
            </a:r>
          </a:p>
          <a:p>
            <a:pPr algn="l">
              <a:lnSpc>
                <a:spcPts val="1971"/>
              </a:lnSpc>
            </a:pPr>
            <a:r>
              <a:rPr lang="en-US" sz="1500" b="true">
                <a:solidFill>
                  <a:srgbClr val="67534F"/>
                </a:solidFill>
                <a:latin typeface="Times New Roman Bold"/>
                <a:ea typeface="Times New Roman Bold"/>
                <a:cs typeface="Times New Roman Bold"/>
                <a:sym typeface="Times New Roman Bold"/>
              </a:rPr>
              <a:t>Solution:</a:t>
            </a:r>
            <a:r>
              <a:rPr lang="en-US" sz="1500">
                <a:solidFill>
                  <a:srgbClr val="67534F"/>
                </a:solidFill>
                <a:latin typeface="Times New Roman"/>
                <a:ea typeface="Times New Roman"/>
                <a:cs typeface="Times New Roman"/>
                <a:sym typeface="Times New Roman"/>
              </a:rPr>
              <a:t> A try/except block manages exceptions like ConnectionError.                     </a:t>
            </a:r>
          </a:p>
          <a:p>
            <a:pPr algn="l">
              <a:lnSpc>
                <a:spcPts val="1971"/>
              </a:lnSpc>
            </a:pPr>
            <a:r>
              <a:rPr lang="en-US" sz="1500" b="true">
                <a:solidFill>
                  <a:srgbClr val="67534F"/>
                </a:solidFill>
                <a:latin typeface="Times New Roman Bold"/>
                <a:ea typeface="Times New Roman Bold"/>
                <a:cs typeface="Times New Roman Bold"/>
                <a:sym typeface="Times New Roman Bold"/>
              </a:rPr>
              <a:t>User Feedback:</a:t>
            </a:r>
            <a:r>
              <a:rPr lang="en-US" sz="1500">
                <a:solidFill>
                  <a:srgbClr val="67534F"/>
                </a:solidFill>
                <a:latin typeface="Times New Roman"/>
                <a:ea typeface="Times New Roman"/>
                <a:cs typeface="Times New Roman"/>
                <a:sym typeface="Times New Roman"/>
              </a:rPr>
              <a:t> "Network Error: Unable to connect to the finance server."</a:t>
            </a:r>
          </a:p>
        </p:txBody>
      </p:sp>
      <p:grpSp>
        <p:nvGrpSpPr>
          <p:cNvPr name="Group 22" id="22"/>
          <p:cNvGrpSpPr/>
          <p:nvPr/>
        </p:nvGrpSpPr>
        <p:grpSpPr>
          <a:xfrm rot="0">
            <a:off x="12031712" y="4484638"/>
            <a:ext cx="5287566" cy="5042298"/>
            <a:chOff x="0" y="0"/>
            <a:chExt cx="7050088" cy="6723063"/>
          </a:xfrm>
        </p:grpSpPr>
        <p:sp>
          <p:nvSpPr>
            <p:cNvPr name="Freeform 23" id="23"/>
            <p:cNvSpPr/>
            <p:nvPr/>
          </p:nvSpPr>
          <p:spPr>
            <a:xfrm flipH="false" flipV="false" rot="0">
              <a:off x="25400" y="25400"/>
              <a:ext cx="6999351" cy="6672199"/>
            </a:xfrm>
            <a:custGeom>
              <a:avLst/>
              <a:gdLst/>
              <a:ahLst/>
              <a:cxnLst/>
              <a:rect r="r" b="b" t="t" l="l"/>
              <a:pathLst>
                <a:path h="6672199" w="6999351">
                  <a:moveTo>
                    <a:pt x="0" y="243840"/>
                  </a:moveTo>
                  <a:cubicBezTo>
                    <a:pt x="0" y="109220"/>
                    <a:pt x="109220" y="0"/>
                    <a:pt x="243967" y="0"/>
                  </a:cubicBezTo>
                  <a:lnTo>
                    <a:pt x="6755384" y="0"/>
                  </a:lnTo>
                  <a:cubicBezTo>
                    <a:pt x="6890131" y="0"/>
                    <a:pt x="6999351" y="109220"/>
                    <a:pt x="6999351" y="243840"/>
                  </a:cubicBezTo>
                  <a:lnTo>
                    <a:pt x="6999351" y="6428359"/>
                  </a:lnTo>
                  <a:cubicBezTo>
                    <a:pt x="6999351" y="6563106"/>
                    <a:pt x="6890131" y="6672199"/>
                    <a:pt x="6755384" y="6672199"/>
                  </a:cubicBezTo>
                  <a:lnTo>
                    <a:pt x="243967" y="6672199"/>
                  </a:lnTo>
                  <a:cubicBezTo>
                    <a:pt x="109220" y="6672326"/>
                    <a:pt x="0" y="6563106"/>
                    <a:pt x="0" y="6428359"/>
                  </a:cubicBezTo>
                  <a:close/>
                </a:path>
              </a:pathLst>
            </a:custGeom>
            <a:solidFill>
              <a:srgbClr val="FFFFF4">
                <a:alpha val="90196"/>
              </a:srgbClr>
            </a:solidFill>
            <a:ln w="12700">
              <a:solidFill>
                <a:srgbClr val="000000"/>
              </a:solidFill>
            </a:ln>
          </p:spPr>
        </p:sp>
        <p:sp>
          <p:nvSpPr>
            <p:cNvPr name="Freeform 24" id="24"/>
            <p:cNvSpPr/>
            <p:nvPr/>
          </p:nvSpPr>
          <p:spPr>
            <a:xfrm flipH="false" flipV="false" rot="0">
              <a:off x="0" y="0"/>
              <a:ext cx="7050151" cy="6722999"/>
            </a:xfrm>
            <a:custGeom>
              <a:avLst/>
              <a:gdLst/>
              <a:ahLst/>
              <a:cxnLst/>
              <a:rect r="r" b="b" t="t" l="l"/>
              <a:pathLst>
                <a:path h="6722999" w="7050151">
                  <a:moveTo>
                    <a:pt x="0" y="269240"/>
                  </a:moveTo>
                  <a:cubicBezTo>
                    <a:pt x="0" y="120523"/>
                    <a:pt x="120650" y="0"/>
                    <a:pt x="269367" y="0"/>
                  </a:cubicBezTo>
                  <a:lnTo>
                    <a:pt x="6780784" y="0"/>
                  </a:lnTo>
                  <a:lnTo>
                    <a:pt x="6780784" y="25400"/>
                  </a:lnTo>
                  <a:lnTo>
                    <a:pt x="6780784" y="0"/>
                  </a:lnTo>
                  <a:cubicBezTo>
                    <a:pt x="6929501" y="0"/>
                    <a:pt x="7050151" y="120523"/>
                    <a:pt x="7050151" y="269240"/>
                  </a:cubicBezTo>
                  <a:lnTo>
                    <a:pt x="7024751" y="269240"/>
                  </a:lnTo>
                  <a:lnTo>
                    <a:pt x="7050151" y="269240"/>
                  </a:lnTo>
                  <a:lnTo>
                    <a:pt x="7050151" y="6453759"/>
                  </a:lnTo>
                  <a:lnTo>
                    <a:pt x="7024751" y="6453759"/>
                  </a:lnTo>
                  <a:lnTo>
                    <a:pt x="7050151" y="6453759"/>
                  </a:lnTo>
                  <a:cubicBezTo>
                    <a:pt x="7050151" y="6602476"/>
                    <a:pt x="6929501" y="6722999"/>
                    <a:pt x="6780784" y="6722999"/>
                  </a:cubicBezTo>
                  <a:lnTo>
                    <a:pt x="6780784" y="6697599"/>
                  </a:lnTo>
                  <a:lnTo>
                    <a:pt x="6780784" y="6722999"/>
                  </a:lnTo>
                  <a:lnTo>
                    <a:pt x="269367" y="6722999"/>
                  </a:lnTo>
                  <a:lnTo>
                    <a:pt x="269367" y="6697599"/>
                  </a:lnTo>
                  <a:lnTo>
                    <a:pt x="269367" y="6722999"/>
                  </a:lnTo>
                  <a:cubicBezTo>
                    <a:pt x="120650" y="6723126"/>
                    <a:pt x="0" y="6602476"/>
                    <a:pt x="0" y="6453759"/>
                  </a:cubicBezTo>
                  <a:lnTo>
                    <a:pt x="0" y="269240"/>
                  </a:lnTo>
                  <a:lnTo>
                    <a:pt x="25400" y="269240"/>
                  </a:lnTo>
                  <a:lnTo>
                    <a:pt x="0" y="269240"/>
                  </a:lnTo>
                  <a:moveTo>
                    <a:pt x="50800" y="269240"/>
                  </a:moveTo>
                  <a:lnTo>
                    <a:pt x="50800" y="6453759"/>
                  </a:lnTo>
                  <a:lnTo>
                    <a:pt x="25400" y="6453759"/>
                  </a:lnTo>
                  <a:lnTo>
                    <a:pt x="50800" y="6453759"/>
                  </a:lnTo>
                  <a:cubicBezTo>
                    <a:pt x="50800" y="6574410"/>
                    <a:pt x="148590" y="6672199"/>
                    <a:pt x="269367" y="6672199"/>
                  </a:cubicBezTo>
                  <a:lnTo>
                    <a:pt x="6780784" y="6672199"/>
                  </a:lnTo>
                  <a:cubicBezTo>
                    <a:pt x="6901561" y="6672199"/>
                    <a:pt x="6999351" y="6574410"/>
                    <a:pt x="6999351" y="6453759"/>
                  </a:cubicBezTo>
                  <a:lnTo>
                    <a:pt x="6999351" y="269240"/>
                  </a:lnTo>
                  <a:cubicBezTo>
                    <a:pt x="6999351" y="148590"/>
                    <a:pt x="6901561" y="50800"/>
                    <a:pt x="6780784" y="50800"/>
                  </a:cubicBezTo>
                  <a:lnTo>
                    <a:pt x="269367" y="50800"/>
                  </a:lnTo>
                  <a:lnTo>
                    <a:pt x="269367" y="25400"/>
                  </a:lnTo>
                  <a:lnTo>
                    <a:pt x="269367" y="50800"/>
                  </a:lnTo>
                  <a:cubicBezTo>
                    <a:pt x="148590" y="50800"/>
                    <a:pt x="50800" y="148590"/>
                    <a:pt x="50800" y="269240"/>
                  </a:cubicBezTo>
                  <a:close/>
                </a:path>
              </a:pathLst>
            </a:custGeom>
            <a:solidFill>
              <a:srgbClr val="FFE0CC"/>
            </a:solidFill>
            <a:ln w="12700">
              <a:solidFill>
                <a:srgbClr val="000000"/>
              </a:solidFill>
            </a:ln>
          </p:spPr>
        </p:sp>
      </p:grpSp>
      <p:grpSp>
        <p:nvGrpSpPr>
          <p:cNvPr name="Group 25" id="25"/>
          <p:cNvGrpSpPr/>
          <p:nvPr/>
        </p:nvGrpSpPr>
        <p:grpSpPr>
          <a:xfrm rot="0">
            <a:off x="12012662" y="4503688"/>
            <a:ext cx="152400" cy="5004198"/>
            <a:chOff x="0" y="0"/>
            <a:chExt cx="203200" cy="6672263"/>
          </a:xfrm>
        </p:grpSpPr>
        <p:sp>
          <p:nvSpPr>
            <p:cNvPr name="Freeform 26" id="26"/>
            <p:cNvSpPr/>
            <p:nvPr/>
          </p:nvSpPr>
          <p:spPr>
            <a:xfrm flipH="false" flipV="false" rot="0">
              <a:off x="0" y="0"/>
              <a:ext cx="203200" cy="6672326"/>
            </a:xfrm>
            <a:custGeom>
              <a:avLst/>
              <a:gdLst/>
              <a:ahLst/>
              <a:cxnLst/>
              <a:rect r="r" b="b" t="t" l="l"/>
              <a:pathLst>
                <a:path h="6672326" w="203200">
                  <a:moveTo>
                    <a:pt x="0" y="101600"/>
                  </a:moveTo>
                  <a:cubicBezTo>
                    <a:pt x="0" y="45466"/>
                    <a:pt x="45466" y="0"/>
                    <a:pt x="101600" y="0"/>
                  </a:cubicBezTo>
                  <a:cubicBezTo>
                    <a:pt x="157734" y="0"/>
                    <a:pt x="203200" y="45466"/>
                    <a:pt x="203200" y="101600"/>
                  </a:cubicBezTo>
                  <a:lnTo>
                    <a:pt x="203200" y="6570726"/>
                  </a:lnTo>
                  <a:cubicBezTo>
                    <a:pt x="203200" y="6626860"/>
                    <a:pt x="157734" y="6672326"/>
                    <a:pt x="101600" y="6672326"/>
                  </a:cubicBezTo>
                  <a:cubicBezTo>
                    <a:pt x="45466" y="6672326"/>
                    <a:pt x="0" y="6626860"/>
                    <a:pt x="0" y="6570726"/>
                  </a:cubicBezTo>
                  <a:close/>
                </a:path>
              </a:pathLst>
            </a:custGeom>
            <a:solidFill>
              <a:srgbClr val="FF954F"/>
            </a:solidFill>
            <a:ln w="12700">
              <a:solidFill>
                <a:srgbClr val="000000"/>
              </a:solidFill>
            </a:ln>
          </p:spPr>
        </p:sp>
      </p:grpSp>
      <p:sp>
        <p:nvSpPr>
          <p:cNvPr name="TextBox 27" id="27"/>
          <p:cNvSpPr txBox="true"/>
          <p:nvPr/>
        </p:nvSpPr>
        <p:spPr>
          <a:xfrm rot="0">
            <a:off x="13354190" y="5636214"/>
            <a:ext cx="4056906" cy="328519"/>
          </a:xfrm>
          <a:prstGeom prst="rect">
            <a:avLst/>
          </a:prstGeom>
        </p:spPr>
        <p:txBody>
          <a:bodyPr anchor="t" rtlCol="false" tIns="0" lIns="0" bIns="0" rIns="0">
            <a:spAutoFit/>
          </a:bodyPr>
          <a:lstStyle/>
          <a:p>
            <a:pPr algn="l">
              <a:lnSpc>
                <a:spcPts val="2588"/>
              </a:lnSpc>
            </a:pPr>
            <a:r>
              <a:rPr lang="en-US" sz="2000" b="true">
                <a:solidFill>
                  <a:srgbClr val="67534F"/>
                </a:solidFill>
                <a:latin typeface="Times New Roman Bold"/>
                <a:ea typeface="Times New Roman Bold"/>
                <a:cs typeface="Times New Roman Bold"/>
                <a:sym typeface="Times New Roman Bold"/>
              </a:rPr>
              <a:t>Date Format Validity</a:t>
            </a:r>
          </a:p>
        </p:txBody>
      </p:sp>
      <p:sp>
        <p:nvSpPr>
          <p:cNvPr name="TextBox 28" id="28"/>
          <p:cNvSpPr txBox="true"/>
          <p:nvPr/>
        </p:nvSpPr>
        <p:spPr>
          <a:xfrm rot="0">
            <a:off x="12488912" y="6346743"/>
            <a:ext cx="4494610" cy="1492731"/>
          </a:xfrm>
          <a:prstGeom prst="rect">
            <a:avLst/>
          </a:prstGeom>
        </p:spPr>
        <p:txBody>
          <a:bodyPr anchor="t" rtlCol="false" tIns="0" lIns="0" bIns="0" rIns="0">
            <a:spAutoFit/>
          </a:bodyPr>
          <a:lstStyle/>
          <a:p>
            <a:pPr algn="l">
              <a:lnSpc>
                <a:spcPts val="1971"/>
              </a:lnSpc>
            </a:pPr>
            <a:r>
              <a:rPr lang="en-US" sz="1500" b="true">
                <a:solidFill>
                  <a:srgbClr val="67534F"/>
                </a:solidFill>
                <a:latin typeface="Times New Roman Bold"/>
                <a:ea typeface="Times New Roman Bold"/>
                <a:cs typeface="Times New Roman Bold"/>
                <a:sym typeface="Times New Roman Bold"/>
              </a:rPr>
              <a:t>Problem:</a:t>
            </a:r>
            <a:r>
              <a:rPr lang="en-US" sz="1500">
                <a:solidFill>
                  <a:srgbClr val="67534F"/>
                </a:solidFill>
                <a:latin typeface="Times New Roman"/>
                <a:ea typeface="Times New Roman"/>
                <a:cs typeface="Times New Roman"/>
                <a:sym typeface="Times New Roman"/>
              </a:rPr>
              <a:t> Ambiguous or invalid date formats (e.g., "yesterday") can cause errors.              </a:t>
            </a:r>
          </a:p>
          <a:p>
            <a:pPr algn="l">
              <a:lnSpc>
                <a:spcPts val="1971"/>
              </a:lnSpc>
            </a:pPr>
            <a:r>
              <a:rPr lang="en-US" sz="1500" b="true">
                <a:solidFill>
                  <a:srgbClr val="67534F"/>
                </a:solidFill>
                <a:latin typeface="Times New Roman Bold"/>
                <a:ea typeface="Times New Roman Bold"/>
                <a:cs typeface="Times New Roman Bold"/>
                <a:sym typeface="Times New Roman Bold"/>
              </a:rPr>
              <a:t>Solution:</a:t>
            </a:r>
            <a:r>
              <a:rPr lang="en-US" sz="1500">
                <a:solidFill>
                  <a:srgbClr val="67534F"/>
                </a:solidFill>
                <a:latin typeface="Times New Roman"/>
                <a:ea typeface="Times New Roman"/>
                <a:cs typeface="Times New Roman"/>
                <a:sym typeface="Times New Roman"/>
              </a:rPr>
              <a:t> The application attempts conversion to a standard date format, catching ValueError.                                </a:t>
            </a:r>
            <a:r>
              <a:rPr lang="en-US" sz="1500" b="true">
                <a:solidFill>
                  <a:srgbClr val="67534F"/>
                </a:solidFill>
                <a:latin typeface="Times New Roman Bold"/>
                <a:ea typeface="Times New Roman Bold"/>
                <a:cs typeface="Times New Roman Bold"/>
                <a:sym typeface="Times New Roman Bold"/>
              </a:rPr>
              <a:t>User Feedback:</a:t>
            </a:r>
            <a:r>
              <a:rPr lang="en-US" sz="1500">
                <a:solidFill>
                  <a:srgbClr val="67534F"/>
                </a:solidFill>
                <a:latin typeface="Times New Roman"/>
                <a:ea typeface="Times New Roman"/>
                <a:cs typeface="Times New Roman"/>
                <a:sym typeface="Times New Roman"/>
              </a:rPr>
              <a:t> "Invalid Date Format Detected. Please Enter in YYYY-MM-DD Format."</a:t>
            </a:r>
          </a:p>
        </p:txBody>
      </p:sp>
      <p:sp>
        <p:nvSpPr>
          <p:cNvPr name="Freeform 29" id="29"/>
          <p:cNvSpPr/>
          <p:nvPr/>
        </p:nvSpPr>
        <p:spPr>
          <a:xfrm flipH="false" flipV="false" rot="0">
            <a:off x="8930582" y="9727123"/>
            <a:ext cx="1111669" cy="559877"/>
          </a:xfrm>
          <a:custGeom>
            <a:avLst/>
            <a:gdLst/>
            <a:ahLst/>
            <a:cxnLst/>
            <a:rect r="r" b="b" t="t" l="l"/>
            <a:pathLst>
              <a:path h="559877" w="1111669">
                <a:moveTo>
                  <a:pt x="0" y="0"/>
                </a:moveTo>
                <a:lnTo>
                  <a:pt x="1111669" y="0"/>
                </a:lnTo>
                <a:lnTo>
                  <a:pt x="1111669" y="559877"/>
                </a:lnTo>
                <a:lnTo>
                  <a:pt x="0" y="5598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C8AB"/>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4">
                <a:alpha val="90196"/>
              </a:srgbClr>
            </a:solidFill>
            <a:ln w="12700">
              <a:solidFill>
                <a:srgbClr val="000000"/>
              </a:solidFill>
            </a:ln>
          </p:spPr>
        </p:sp>
      </p:grpSp>
      <p:sp>
        <p:nvSpPr>
          <p:cNvPr name="TextBox 6" id="6"/>
          <p:cNvSpPr txBox="true"/>
          <p:nvPr/>
        </p:nvSpPr>
        <p:spPr>
          <a:xfrm rot="0">
            <a:off x="2855268" y="655045"/>
            <a:ext cx="11704736" cy="690160"/>
          </a:xfrm>
          <a:prstGeom prst="rect">
            <a:avLst/>
          </a:prstGeom>
        </p:spPr>
        <p:txBody>
          <a:bodyPr anchor="t" rtlCol="false" tIns="0" lIns="0" bIns="0" rIns="0">
            <a:spAutoFit/>
          </a:bodyPr>
          <a:lstStyle/>
          <a:p>
            <a:pPr algn="ctr">
              <a:lnSpc>
                <a:spcPts val="5455"/>
              </a:lnSpc>
            </a:pPr>
            <a:r>
              <a:rPr lang="en-US" sz="4200" b="true">
                <a:solidFill>
                  <a:srgbClr val="532418"/>
                </a:solidFill>
                <a:latin typeface="Times New Roman Bold"/>
                <a:ea typeface="Times New Roman Bold"/>
                <a:cs typeface="Times New Roman Bold"/>
                <a:sym typeface="Times New Roman Bold"/>
              </a:rPr>
              <a:t>Visualization Features and Quality</a:t>
            </a:r>
          </a:p>
        </p:txBody>
      </p:sp>
      <p:sp>
        <p:nvSpPr>
          <p:cNvPr name="TextBox 7" id="7"/>
          <p:cNvSpPr txBox="true"/>
          <p:nvPr/>
        </p:nvSpPr>
        <p:spPr>
          <a:xfrm rot="0">
            <a:off x="989559" y="2282875"/>
            <a:ext cx="16308884" cy="824538"/>
          </a:xfrm>
          <a:prstGeom prst="rect">
            <a:avLst/>
          </a:prstGeom>
        </p:spPr>
        <p:txBody>
          <a:bodyPr anchor="t" rtlCol="false" tIns="0" lIns="0" bIns="0" rIns="0">
            <a:spAutoFit/>
          </a:bodyPr>
          <a:lstStyle/>
          <a:p>
            <a:pPr algn="l">
              <a:lnSpc>
                <a:spcPts val="3257"/>
              </a:lnSpc>
            </a:pPr>
            <a:r>
              <a:rPr lang="en-US" sz="2499">
                <a:solidFill>
                  <a:srgbClr val="67534F"/>
                </a:solidFill>
                <a:latin typeface="Times New Roman"/>
                <a:ea typeface="Times New Roman"/>
                <a:cs typeface="Times New Roman"/>
                <a:sym typeface="Times New Roman"/>
              </a:rPr>
              <a:t>FinSight's visualization module is engineered for clarity and precision, offering robust tools for interpreting complex market data through intuitive charts.</a:t>
            </a:r>
          </a:p>
        </p:txBody>
      </p:sp>
      <p:grpSp>
        <p:nvGrpSpPr>
          <p:cNvPr name="Group 8" id="8"/>
          <p:cNvGrpSpPr/>
          <p:nvPr/>
        </p:nvGrpSpPr>
        <p:grpSpPr>
          <a:xfrm rot="0">
            <a:off x="989559" y="3623519"/>
            <a:ext cx="16308884" cy="38100"/>
            <a:chOff x="0" y="0"/>
            <a:chExt cx="21745178" cy="50800"/>
          </a:xfrm>
        </p:grpSpPr>
        <p:sp>
          <p:nvSpPr>
            <p:cNvPr name="Freeform 9" id="9"/>
            <p:cNvSpPr/>
            <p:nvPr/>
          </p:nvSpPr>
          <p:spPr>
            <a:xfrm flipH="false" flipV="false" rot="0">
              <a:off x="0" y="0"/>
              <a:ext cx="21745194" cy="50800"/>
            </a:xfrm>
            <a:custGeom>
              <a:avLst/>
              <a:gdLst/>
              <a:ahLst/>
              <a:cxnLst/>
              <a:rect r="r" b="b" t="t" l="l"/>
              <a:pathLst>
                <a:path h="50800" w="21745194">
                  <a:moveTo>
                    <a:pt x="0" y="25400"/>
                  </a:moveTo>
                  <a:cubicBezTo>
                    <a:pt x="0" y="11430"/>
                    <a:pt x="11430" y="0"/>
                    <a:pt x="25400" y="0"/>
                  </a:cubicBezTo>
                  <a:lnTo>
                    <a:pt x="21719794" y="0"/>
                  </a:lnTo>
                  <a:cubicBezTo>
                    <a:pt x="21733763" y="0"/>
                    <a:pt x="21745194" y="11430"/>
                    <a:pt x="21745194" y="25400"/>
                  </a:cubicBezTo>
                  <a:cubicBezTo>
                    <a:pt x="21745194" y="39370"/>
                    <a:pt x="21733763" y="50800"/>
                    <a:pt x="21719794" y="50800"/>
                  </a:cubicBezTo>
                  <a:lnTo>
                    <a:pt x="25400" y="50800"/>
                  </a:lnTo>
                  <a:cubicBezTo>
                    <a:pt x="11430" y="50800"/>
                    <a:pt x="0" y="39370"/>
                    <a:pt x="0" y="25400"/>
                  </a:cubicBezTo>
                  <a:close/>
                </a:path>
              </a:pathLst>
            </a:custGeom>
            <a:solidFill>
              <a:srgbClr val="FFE0CC"/>
            </a:solidFill>
            <a:ln w="12700">
              <a:solidFill>
                <a:srgbClr val="000000"/>
              </a:solidFill>
            </a:ln>
          </p:spPr>
        </p:sp>
      </p:grpSp>
      <p:grpSp>
        <p:nvGrpSpPr>
          <p:cNvPr name="Group 10" id="10"/>
          <p:cNvGrpSpPr/>
          <p:nvPr/>
        </p:nvGrpSpPr>
        <p:grpSpPr>
          <a:xfrm rot="0">
            <a:off x="2883099" y="3623519"/>
            <a:ext cx="38100" cy="805755"/>
            <a:chOff x="0" y="0"/>
            <a:chExt cx="50800" cy="1074340"/>
          </a:xfrm>
        </p:grpSpPr>
        <p:sp>
          <p:nvSpPr>
            <p:cNvPr name="Freeform 11" id="11"/>
            <p:cNvSpPr/>
            <p:nvPr/>
          </p:nvSpPr>
          <p:spPr>
            <a:xfrm flipH="false" flipV="false" rot="0">
              <a:off x="0" y="0"/>
              <a:ext cx="50800" cy="1074293"/>
            </a:xfrm>
            <a:custGeom>
              <a:avLst/>
              <a:gdLst/>
              <a:ahLst/>
              <a:cxnLst/>
              <a:rect r="r" b="b" t="t" l="l"/>
              <a:pathLst>
                <a:path h="1074293" w="50800">
                  <a:moveTo>
                    <a:pt x="0" y="25400"/>
                  </a:moveTo>
                  <a:cubicBezTo>
                    <a:pt x="0" y="11430"/>
                    <a:pt x="11430" y="0"/>
                    <a:pt x="25400" y="0"/>
                  </a:cubicBezTo>
                  <a:cubicBezTo>
                    <a:pt x="39370" y="0"/>
                    <a:pt x="50800" y="11430"/>
                    <a:pt x="50800" y="25400"/>
                  </a:cubicBezTo>
                  <a:lnTo>
                    <a:pt x="50800" y="1048893"/>
                  </a:lnTo>
                  <a:cubicBezTo>
                    <a:pt x="50800" y="1062863"/>
                    <a:pt x="39370" y="1074293"/>
                    <a:pt x="25400" y="1074293"/>
                  </a:cubicBezTo>
                  <a:cubicBezTo>
                    <a:pt x="11430" y="1074293"/>
                    <a:pt x="0" y="1062863"/>
                    <a:pt x="0" y="1048893"/>
                  </a:cubicBezTo>
                  <a:close/>
                </a:path>
              </a:pathLst>
            </a:custGeom>
            <a:solidFill>
              <a:srgbClr val="241512"/>
            </a:solidFill>
            <a:ln w="12700">
              <a:solidFill>
                <a:srgbClr val="000000"/>
              </a:solidFill>
            </a:ln>
          </p:spPr>
        </p:sp>
      </p:grpSp>
      <p:grpSp>
        <p:nvGrpSpPr>
          <p:cNvPr name="Group 12" id="12"/>
          <p:cNvGrpSpPr/>
          <p:nvPr/>
        </p:nvGrpSpPr>
        <p:grpSpPr>
          <a:xfrm rot="0">
            <a:off x="2585740" y="3307110"/>
            <a:ext cx="632817" cy="632817"/>
            <a:chOff x="0" y="0"/>
            <a:chExt cx="843757" cy="843757"/>
          </a:xfrm>
        </p:grpSpPr>
        <p:sp>
          <p:nvSpPr>
            <p:cNvPr name="Freeform 13" id="13"/>
            <p:cNvSpPr/>
            <p:nvPr/>
          </p:nvSpPr>
          <p:spPr>
            <a:xfrm flipH="false" flipV="false" rot="0">
              <a:off x="19050" y="19050"/>
              <a:ext cx="805561" cy="805561"/>
            </a:xfrm>
            <a:custGeom>
              <a:avLst/>
              <a:gdLst/>
              <a:ahLst/>
              <a:cxnLst/>
              <a:rect r="r" b="b" t="t" l="l"/>
              <a:pathLst>
                <a:path h="805561" w="805561">
                  <a:moveTo>
                    <a:pt x="0" y="150368"/>
                  </a:moveTo>
                  <a:cubicBezTo>
                    <a:pt x="0" y="67310"/>
                    <a:pt x="67310" y="0"/>
                    <a:pt x="150368" y="0"/>
                  </a:cubicBezTo>
                  <a:lnTo>
                    <a:pt x="655193" y="0"/>
                  </a:lnTo>
                  <a:cubicBezTo>
                    <a:pt x="738251" y="0"/>
                    <a:pt x="805561" y="67310"/>
                    <a:pt x="805561" y="150368"/>
                  </a:cubicBezTo>
                  <a:lnTo>
                    <a:pt x="805561" y="655193"/>
                  </a:lnTo>
                  <a:cubicBezTo>
                    <a:pt x="805561" y="738251"/>
                    <a:pt x="738251" y="805561"/>
                    <a:pt x="655193" y="805561"/>
                  </a:cubicBezTo>
                  <a:lnTo>
                    <a:pt x="150368" y="805561"/>
                  </a:lnTo>
                  <a:cubicBezTo>
                    <a:pt x="67310" y="805688"/>
                    <a:pt x="0" y="738251"/>
                    <a:pt x="0" y="655193"/>
                  </a:cubicBezTo>
                  <a:close/>
                </a:path>
              </a:pathLst>
            </a:custGeom>
            <a:solidFill>
              <a:srgbClr val="FFFFF4"/>
            </a:solidFill>
            <a:ln w="12700">
              <a:solidFill>
                <a:srgbClr val="000000"/>
              </a:solidFill>
            </a:ln>
          </p:spPr>
        </p:sp>
        <p:sp>
          <p:nvSpPr>
            <p:cNvPr name="Freeform 14" id="14"/>
            <p:cNvSpPr/>
            <p:nvPr/>
          </p:nvSpPr>
          <p:spPr>
            <a:xfrm flipH="false" flipV="false" rot="0">
              <a:off x="0" y="0"/>
              <a:ext cx="843661" cy="843661"/>
            </a:xfrm>
            <a:custGeom>
              <a:avLst/>
              <a:gdLst/>
              <a:ahLst/>
              <a:cxnLst/>
              <a:rect r="r" b="b" t="t" l="l"/>
              <a:pathLst>
                <a:path h="843661" w="843661">
                  <a:moveTo>
                    <a:pt x="0" y="169418"/>
                  </a:moveTo>
                  <a:cubicBezTo>
                    <a:pt x="0" y="75819"/>
                    <a:pt x="75819" y="0"/>
                    <a:pt x="169418" y="0"/>
                  </a:cubicBezTo>
                  <a:lnTo>
                    <a:pt x="674243" y="0"/>
                  </a:lnTo>
                  <a:lnTo>
                    <a:pt x="674243" y="19050"/>
                  </a:lnTo>
                  <a:lnTo>
                    <a:pt x="674243" y="0"/>
                  </a:lnTo>
                  <a:lnTo>
                    <a:pt x="674243" y="19050"/>
                  </a:lnTo>
                  <a:lnTo>
                    <a:pt x="674243" y="0"/>
                  </a:lnTo>
                  <a:cubicBezTo>
                    <a:pt x="767842" y="0"/>
                    <a:pt x="843661" y="75819"/>
                    <a:pt x="843661" y="169418"/>
                  </a:cubicBezTo>
                  <a:lnTo>
                    <a:pt x="843661" y="674243"/>
                  </a:lnTo>
                  <a:lnTo>
                    <a:pt x="824611" y="674243"/>
                  </a:lnTo>
                  <a:lnTo>
                    <a:pt x="843661" y="674243"/>
                  </a:lnTo>
                  <a:cubicBezTo>
                    <a:pt x="843661" y="767842"/>
                    <a:pt x="767842" y="843661"/>
                    <a:pt x="674243" y="843661"/>
                  </a:cubicBezTo>
                  <a:lnTo>
                    <a:pt x="674243" y="824611"/>
                  </a:lnTo>
                  <a:lnTo>
                    <a:pt x="674243" y="843661"/>
                  </a:lnTo>
                  <a:lnTo>
                    <a:pt x="169418" y="843661"/>
                  </a:lnTo>
                  <a:lnTo>
                    <a:pt x="169418" y="824611"/>
                  </a:lnTo>
                  <a:lnTo>
                    <a:pt x="169418" y="843661"/>
                  </a:lnTo>
                  <a:cubicBezTo>
                    <a:pt x="75819" y="843788"/>
                    <a:pt x="0" y="767842"/>
                    <a:pt x="0" y="674243"/>
                  </a:cubicBezTo>
                  <a:lnTo>
                    <a:pt x="0" y="169418"/>
                  </a:lnTo>
                  <a:lnTo>
                    <a:pt x="19050" y="169418"/>
                  </a:lnTo>
                  <a:lnTo>
                    <a:pt x="0" y="169418"/>
                  </a:lnTo>
                  <a:moveTo>
                    <a:pt x="38100" y="169418"/>
                  </a:moveTo>
                  <a:lnTo>
                    <a:pt x="38100" y="674243"/>
                  </a:lnTo>
                  <a:lnTo>
                    <a:pt x="19050" y="674243"/>
                  </a:lnTo>
                  <a:lnTo>
                    <a:pt x="38100" y="674243"/>
                  </a:lnTo>
                  <a:cubicBezTo>
                    <a:pt x="38100" y="746760"/>
                    <a:pt x="96901" y="805561"/>
                    <a:pt x="169418" y="805561"/>
                  </a:cubicBezTo>
                  <a:lnTo>
                    <a:pt x="674243" y="805561"/>
                  </a:lnTo>
                  <a:cubicBezTo>
                    <a:pt x="746760" y="805561"/>
                    <a:pt x="805561" y="746760"/>
                    <a:pt x="805561" y="674243"/>
                  </a:cubicBezTo>
                  <a:lnTo>
                    <a:pt x="805561" y="169418"/>
                  </a:lnTo>
                  <a:lnTo>
                    <a:pt x="824611" y="169418"/>
                  </a:lnTo>
                  <a:lnTo>
                    <a:pt x="805561" y="169418"/>
                  </a:lnTo>
                  <a:cubicBezTo>
                    <a:pt x="805688" y="96901"/>
                    <a:pt x="746887" y="38100"/>
                    <a:pt x="674243" y="38100"/>
                  </a:cubicBezTo>
                  <a:lnTo>
                    <a:pt x="169418" y="38100"/>
                  </a:lnTo>
                  <a:lnTo>
                    <a:pt x="169418" y="19050"/>
                  </a:lnTo>
                  <a:lnTo>
                    <a:pt x="169418" y="38100"/>
                  </a:lnTo>
                  <a:cubicBezTo>
                    <a:pt x="96901" y="38100"/>
                    <a:pt x="38100" y="96901"/>
                    <a:pt x="38100" y="169418"/>
                  </a:cubicBezTo>
                  <a:close/>
                </a:path>
              </a:pathLst>
            </a:custGeom>
            <a:solidFill>
              <a:srgbClr val="241512"/>
            </a:solidFill>
            <a:ln w="12700">
              <a:solidFill>
                <a:srgbClr val="000000"/>
              </a:solidFill>
            </a:ln>
          </p:spPr>
        </p:sp>
      </p:grpSp>
      <p:sp>
        <p:nvSpPr>
          <p:cNvPr name="TextBox 15" id="15"/>
          <p:cNvSpPr txBox="true"/>
          <p:nvPr/>
        </p:nvSpPr>
        <p:spPr>
          <a:xfrm rot="0">
            <a:off x="2670498" y="3518744"/>
            <a:ext cx="463303" cy="219075"/>
          </a:xfrm>
          <a:prstGeom prst="rect">
            <a:avLst/>
          </a:prstGeom>
        </p:spPr>
        <p:txBody>
          <a:bodyPr anchor="t" rtlCol="false" tIns="0" lIns="0" bIns="0" rIns="0">
            <a:spAutoFit/>
          </a:bodyPr>
          <a:lstStyle/>
          <a:p>
            <a:pPr algn="ctr">
              <a:lnSpc>
                <a:spcPts val="1500"/>
              </a:lnSpc>
            </a:pPr>
            <a:r>
              <a:rPr lang="en-US" sz="1500">
                <a:solidFill>
                  <a:srgbClr val="67534F"/>
                </a:solidFill>
                <a:latin typeface="Times New Roman"/>
                <a:ea typeface="Times New Roman"/>
                <a:cs typeface="Times New Roman"/>
                <a:sym typeface="Times New Roman"/>
              </a:rPr>
              <a:t>1</a:t>
            </a:r>
          </a:p>
        </p:txBody>
      </p:sp>
      <p:sp>
        <p:nvSpPr>
          <p:cNvPr name="TextBox 16" id="16"/>
          <p:cNvSpPr txBox="true"/>
          <p:nvPr/>
        </p:nvSpPr>
        <p:spPr>
          <a:xfrm rot="0">
            <a:off x="1277020" y="4391174"/>
            <a:ext cx="3288357" cy="666813"/>
          </a:xfrm>
          <a:prstGeom prst="rect">
            <a:avLst/>
          </a:prstGeom>
        </p:spPr>
        <p:txBody>
          <a:bodyPr anchor="t" rtlCol="false" tIns="0" lIns="0" bIns="0" rIns="0">
            <a:spAutoFit/>
          </a:bodyPr>
          <a:lstStyle/>
          <a:p>
            <a:pPr algn="ctr">
              <a:lnSpc>
                <a:spcPts val="2624"/>
              </a:lnSpc>
            </a:pPr>
            <a:r>
              <a:rPr lang="en-US" sz="2000" b="true">
                <a:solidFill>
                  <a:srgbClr val="67534F"/>
                </a:solidFill>
                <a:latin typeface="Times New Roman Bold"/>
                <a:ea typeface="Times New Roman Bold"/>
                <a:cs typeface="Times New Roman Bold"/>
                <a:sym typeface="Times New Roman Bold"/>
              </a:rPr>
              <a:t>Matplotlib </a:t>
            </a:r>
          </a:p>
          <a:p>
            <a:pPr algn="ctr">
              <a:lnSpc>
                <a:spcPts val="2625"/>
              </a:lnSpc>
            </a:pPr>
            <a:r>
              <a:rPr lang="en-US" sz="2000" b="true">
                <a:solidFill>
                  <a:srgbClr val="67534F"/>
                </a:solidFill>
                <a:latin typeface="Times New Roman Bold"/>
                <a:ea typeface="Times New Roman Bold"/>
                <a:cs typeface="Times New Roman Bold"/>
                <a:sym typeface="Times New Roman Bold"/>
              </a:rPr>
              <a:t>Object-Oriented API</a:t>
            </a:r>
          </a:p>
        </p:txBody>
      </p:sp>
      <p:sp>
        <p:nvSpPr>
          <p:cNvPr name="TextBox 17" id="17"/>
          <p:cNvSpPr txBox="true"/>
          <p:nvPr/>
        </p:nvSpPr>
        <p:spPr>
          <a:xfrm rot="0">
            <a:off x="1257970" y="5879534"/>
            <a:ext cx="3288357" cy="1247198"/>
          </a:xfrm>
          <a:prstGeom prst="rect">
            <a:avLst/>
          </a:prstGeom>
        </p:spPr>
        <p:txBody>
          <a:bodyPr anchor="t" rtlCol="false" tIns="0" lIns="0" bIns="0" rIns="0">
            <a:spAutoFit/>
          </a:bodyPr>
          <a:lstStyle/>
          <a:p>
            <a:pPr algn="ctr">
              <a:lnSpc>
                <a:spcPts val="1954"/>
              </a:lnSpc>
            </a:pPr>
            <a:r>
              <a:rPr lang="en-US" sz="1500">
                <a:solidFill>
                  <a:srgbClr val="67534F"/>
                </a:solidFill>
                <a:latin typeface="Times New Roman"/>
                <a:ea typeface="Times New Roman"/>
                <a:cs typeface="Times New Roman"/>
                <a:sym typeface="Times New Roman"/>
              </a:rPr>
              <a:t>I utilized the matplotlib  object-oriented API (fig, ax= plt.subplots()) to gain granular control over plot elements, titles, and axes, ensuring highly customized and professional outputs.</a:t>
            </a:r>
          </a:p>
        </p:txBody>
      </p:sp>
      <p:grpSp>
        <p:nvGrpSpPr>
          <p:cNvPr name="Group 18" id="18"/>
          <p:cNvGrpSpPr/>
          <p:nvPr/>
        </p:nvGrpSpPr>
        <p:grpSpPr>
          <a:xfrm rot="0">
            <a:off x="7044332" y="3623519"/>
            <a:ext cx="38100" cy="805755"/>
            <a:chOff x="0" y="0"/>
            <a:chExt cx="50800" cy="1074340"/>
          </a:xfrm>
        </p:grpSpPr>
        <p:sp>
          <p:nvSpPr>
            <p:cNvPr name="Freeform 19" id="19"/>
            <p:cNvSpPr/>
            <p:nvPr/>
          </p:nvSpPr>
          <p:spPr>
            <a:xfrm flipH="false" flipV="false" rot="0">
              <a:off x="0" y="0"/>
              <a:ext cx="50800" cy="1074293"/>
            </a:xfrm>
            <a:custGeom>
              <a:avLst/>
              <a:gdLst/>
              <a:ahLst/>
              <a:cxnLst/>
              <a:rect r="r" b="b" t="t" l="l"/>
              <a:pathLst>
                <a:path h="1074293" w="50800">
                  <a:moveTo>
                    <a:pt x="0" y="25400"/>
                  </a:moveTo>
                  <a:cubicBezTo>
                    <a:pt x="0" y="11430"/>
                    <a:pt x="11430" y="0"/>
                    <a:pt x="25400" y="0"/>
                  </a:cubicBezTo>
                  <a:cubicBezTo>
                    <a:pt x="39370" y="0"/>
                    <a:pt x="50800" y="11430"/>
                    <a:pt x="50800" y="25400"/>
                  </a:cubicBezTo>
                  <a:lnTo>
                    <a:pt x="50800" y="1048893"/>
                  </a:lnTo>
                  <a:cubicBezTo>
                    <a:pt x="50800" y="1062863"/>
                    <a:pt x="39370" y="1074293"/>
                    <a:pt x="25400" y="1074293"/>
                  </a:cubicBezTo>
                  <a:cubicBezTo>
                    <a:pt x="11430" y="1074293"/>
                    <a:pt x="0" y="1062863"/>
                    <a:pt x="0" y="1048893"/>
                  </a:cubicBezTo>
                  <a:close/>
                </a:path>
              </a:pathLst>
            </a:custGeom>
            <a:solidFill>
              <a:srgbClr val="FFE0CC"/>
            </a:solidFill>
            <a:ln w="12700">
              <a:solidFill>
                <a:srgbClr val="000000"/>
              </a:solidFill>
            </a:ln>
          </p:spPr>
        </p:sp>
      </p:grpSp>
      <p:grpSp>
        <p:nvGrpSpPr>
          <p:cNvPr name="Group 20" id="20"/>
          <p:cNvGrpSpPr/>
          <p:nvPr/>
        </p:nvGrpSpPr>
        <p:grpSpPr>
          <a:xfrm rot="0">
            <a:off x="6746974" y="3307110"/>
            <a:ext cx="632817" cy="632817"/>
            <a:chOff x="0" y="0"/>
            <a:chExt cx="843757" cy="843757"/>
          </a:xfrm>
        </p:grpSpPr>
        <p:sp>
          <p:nvSpPr>
            <p:cNvPr name="Freeform 21" id="21"/>
            <p:cNvSpPr/>
            <p:nvPr/>
          </p:nvSpPr>
          <p:spPr>
            <a:xfrm flipH="false" flipV="false" rot="0">
              <a:off x="19050" y="19050"/>
              <a:ext cx="805561" cy="805561"/>
            </a:xfrm>
            <a:custGeom>
              <a:avLst/>
              <a:gdLst/>
              <a:ahLst/>
              <a:cxnLst/>
              <a:rect r="r" b="b" t="t" l="l"/>
              <a:pathLst>
                <a:path h="805561" w="805561">
                  <a:moveTo>
                    <a:pt x="0" y="150368"/>
                  </a:moveTo>
                  <a:cubicBezTo>
                    <a:pt x="0" y="67310"/>
                    <a:pt x="67310" y="0"/>
                    <a:pt x="150368" y="0"/>
                  </a:cubicBezTo>
                  <a:lnTo>
                    <a:pt x="655193" y="0"/>
                  </a:lnTo>
                  <a:cubicBezTo>
                    <a:pt x="738251" y="0"/>
                    <a:pt x="805561" y="67310"/>
                    <a:pt x="805561" y="150368"/>
                  </a:cubicBezTo>
                  <a:lnTo>
                    <a:pt x="805561" y="655193"/>
                  </a:lnTo>
                  <a:cubicBezTo>
                    <a:pt x="805561" y="738251"/>
                    <a:pt x="738251" y="805561"/>
                    <a:pt x="655193" y="805561"/>
                  </a:cubicBezTo>
                  <a:lnTo>
                    <a:pt x="150368" y="805561"/>
                  </a:lnTo>
                  <a:cubicBezTo>
                    <a:pt x="67310" y="805688"/>
                    <a:pt x="0" y="738251"/>
                    <a:pt x="0" y="655193"/>
                  </a:cubicBezTo>
                  <a:close/>
                </a:path>
              </a:pathLst>
            </a:custGeom>
            <a:solidFill>
              <a:srgbClr val="FFFFF4"/>
            </a:solidFill>
            <a:ln w="12700">
              <a:solidFill>
                <a:srgbClr val="000000"/>
              </a:solidFill>
            </a:ln>
          </p:spPr>
        </p:sp>
        <p:sp>
          <p:nvSpPr>
            <p:cNvPr name="Freeform 22" id="22"/>
            <p:cNvSpPr/>
            <p:nvPr/>
          </p:nvSpPr>
          <p:spPr>
            <a:xfrm flipH="false" flipV="false" rot="0">
              <a:off x="0" y="0"/>
              <a:ext cx="843661" cy="843661"/>
            </a:xfrm>
            <a:custGeom>
              <a:avLst/>
              <a:gdLst/>
              <a:ahLst/>
              <a:cxnLst/>
              <a:rect r="r" b="b" t="t" l="l"/>
              <a:pathLst>
                <a:path h="843661" w="843661">
                  <a:moveTo>
                    <a:pt x="0" y="169418"/>
                  </a:moveTo>
                  <a:cubicBezTo>
                    <a:pt x="0" y="75819"/>
                    <a:pt x="75819" y="0"/>
                    <a:pt x="169418" y="0"/>
                  </a:cubicBezTo>
                  <a:lnTo>
                    <a:pt x="674243" y="0"/>
                  </a:lnTo>
                  <a:lnTo>
                    <a:pt x="674243" y="19050"/>
                  </a:lnTo>
                  <a:lnTo>
                    <a:pt x="674243" y="0"/>
                  </a:lnTo>
                  <a:lnTo>
                    <a:pt x="674243" y="19050"/>
                  </a:lnTo>
                  <a:lnTo>
                    <a:pt x="674243" y="0"/>
                  </a:lnTo>
                  <a:cubicBezTo>
                    <a:pt x="767842" y="0"/>
                    <a:pt x="843661" y="75819"/>
                    <a:pt x="843661" y="169418"/>
                  </a:cubicBezTo>
                  <a:lnTo>
                    <a:pt x="843661" y="674243"/>
                  </a:lnTo>
                  <a:lnTo>
                    <a:pt x="824611" y="674243"/>
                  </a:lnTo>
                  <a:lnTo>
                    <a:pt x="843661" y="674243"/>
                  </a:lnTo>
                  <a:cubicBezTo>
                    <a:pt x="843661" y="767842"/>
                    <a:pt x="767842" y="843661"/>
                    <a:pt x="674243" y="843661"/>
                  </a:cubicBezTo>
                  <a:lnTo>
                    <a:pt x="674243" y="824611"/>
                  </a:lnTo>
                  <a:lnTo>
                    <a:pt x="674243" y="843661"/>
                  </a:lnTo>
                  <a:lnTo>
                    <a:pt x="169418" y="843661"/>
                  </a:lnTo>
                  <a:lnTo>
                    <a:pt x="169418" y="824611"/>
                  </a:lnTo>
                  <a:lnTo>
                    <a:pt x="169418" y="843661"/>
                  </a:lnTo>
                  <a:cubicBezTo>
                    <a:pt x="75819" y="843788"/>
                    <a:pt x="0" y="767842"/>
                    <a:pt x="0" y="674243"/>
                  </a:cubicBezTo>
                  <a:lnTo>
                    <a:pt x="0" y="169418"/>
                  </a:lnTo>
                  <a:lnTo>
                    <a:pt x="19050" y="169418"/>
                  </a:lnTo>
                  <a:lnTo>
                    <a:pt x="0" y="169418"/>
                  </a:lnTo>
                  <a:moveTo>
                    <a:pt x="38100" y="169418"/>
                  </a:moveTo>
                  <a:lnTo>
                    <a:pt x="38100" y="674243"/>
                  </a:lnTo>
                  <a:lnTo>
                    <a:pt x="19050" y="674243"/>
                  </a:lnTo>
                  <a:lnTo>
                    <a:pt x="38100" y="674243"/>
                  </a:lnTo>
                  <a:cubicBezTo>
                    <a:pt x="38100" y="746760"/>
                    <a:pt x="96901" y="805561"/>
                    <a:pt x="169418" y="805561"/>
                  </a:cubicBezTo>
                  <a:lnTo>
                    <a:pt x="674243" y="805561"/>
                  </a:lnTo>
                  <a:cubicBezTo>
                    <a:pt x="746760" y="805561"/>
                    <a:pt x="805561" y="746760"/>
                    <a:pt x="805561" y="674243"/>
                  </a:cubicBezTo>
                  <a:lnTo>
                    <a:pt x="805561" y="169418"/>
                  </a:lnTo>
                  <a:lnTo>
                    <a:pt x="824611" y="169418"/>
                  </a:lnTo>
                  <a:lnTo>
                    <a:pt x="805561" y="169418"/>
                  </a:lnTo>
                  <a:cubicBezTo>
                    <a:pt x="805688" y="96901"/>
                    <a:pt x="746887" y="38100"/>
                    <a:pt x="674243" y="38100"/>
                  </a:cubicBezTo>
                  <a:lnTo>
                    <a:pt x="169418" y="38100"/>
                  </a:lnTo>
                  <a:lnTo>
                    <a:pt x="169418" y="19050"/>
                  </a:lnTo>
                  <a:lnTo>
                    <a:pt x="169418" y="38100"/>
                  </a:lnTo>
                  <a:cubicBezTo>
                    <a:pt x="96901" y="38100"/>
                    <a:pt x="38100" y="96901"/>
                    <a:pt x="38100" y="169418"/>
                  </a:cubicBezTo>
                  <a:close/>
                </a:path>
              </a:pathLst>
            </a:custGeom>
            <a:solidFill>
              <a:srgbClr val="FFE0CC"/>
            </a:solidFill>
            <a:ln w="12700">
              <a:solidFill>
                <a:srgbClr val="000000"/>
              </a:solidFill>
            </a:ln>
          </p:spPr>
        </p:sp>
      </p:grpSp>
      <p:sp>
        <p:nvSpPr>
          <p:cNvPr name="TextBox 23" id="23"/>
          <p:cNvSpPr txBox="true"/>
          <p:nvPr/>
        </p:nvSpPr>
        <p:spPr>
          <a:xfrm rot="0">
            <a:off x="6841927" y="3556844"/>
            <a:ext cx="463303" cy="219075"/>
          </a:xfrm>
          <a:prstGeom prst="rect">
            <a:avLst/>
          </a:prstGeom>
        </p:spPr>
        <p:txBody>
          <a:bodyPr anchor="t" rtlCol="false" tIns="0" lIns="0" bIns="0" rIns="0">
            <a:spAutoFit/>
          </a:bodyPr>
          <a:lstStyle/>
          <a:p>
            <a:pPr algn="ctr">
              <a:lnSpc>
                <a:spcPts val="1500"/>
              </a:lnSpc>
            </a:pPr>
            <a:r>
              <a:rPr lang="en-US" sz="1500">
                <a:solidFill>
                  <a:srgbClr val="67534F"/>
                </a:solidFill>
                <a:latin typeface="Times New Roman"/>
                <a:ea typeface="Times New Roman"/>
                <a:cs typeface="Times New Roman"/>
                <a:sym typeface="Times New Roman"/>
              </a:rPr>
              <a:t>2</a:t>
            </a:r>
          </a:p>
        </p:txBody>
      </p:sp>
      <p:sp>
        <p:nvSpPr>
          <p:cNvPr name="TextBox 24" id="24"/>
          <p:cNvSpPr txBox="true"/>
          <p:nvPr/>
        </p:nvSpPr>
        <p:spPr>
          <a:xfrm rot="0">
            <a:off x="5419130" y="4391174"/>
            <a:ext cx="3288506" cy="342900"/>
          </a:xfrm>
          <a:prstGeom prst="rect">
            <a:avLst/>
          </a:prstGeom>
        </p:spPr>
        <p:txBody>
          <a:bodyPr anchor="t" rtlCol="false" tIns="0" lIns="0" bIns="0" rIns="0">
            <a:spAutoFit/>
          </a:bodyPr>
          <a:lstStyle/>
          <a:p>
            <a:pPr algn="ctr">
              <a:lnSpc>
                <a:spcPts val="2625"/>
              </a:lnSpc>
            </a:pPr>
            <a:r>
              <a:rPr lang="en-US" sz="2000" b="true">
                <a:solidFill>
                  <a:srgbClr val="67534F"/>
                </a:solidFill>
                <a:latin typeface="Times New Roman Bold"/>
                <a:ea typeface="Times New Roman Bold"/>
                <a:cs typeface="Times New Roman Bold"/>
                <a:sym typeface="Times New Roman Bold"/>
              </a:rPr>
              <a:t>Multi-Series Plotting</a:t>
            </a:r>
          </a:p>
        </p:txBody>
      </p:sp>
      <p:sp>
        <p:nvSpPr>
          <p:cNvPr name="TextBox 25" id="25"/>
          <p:cNvSpPr txBox="true"/>
          <p:nvPr/>
        </p:nvSpPr>
        <p:spPr>
          <a:xfrm rot="0">
            <a:off x="5419130" y="5834063"/>
            <a:ext cx="3288506" cy="1247198"/>
          </a:xfrm>
          <a:prstGeom prst="rect">
            <a:avLst/>
          </a:prstGeom>
        </p:spPr>
        <p:txBody>
          <a:bodyPr anchor="t" rtlCol="false" tIns="0" lIns="0" bIns="0" rIns="0">
            <a:spAutoFit/>
          </a:bodyPr>
          <a:lstStyle/>
          <a:p>
            <a:pPr algn="ctr">
              <a:lnSpc>
                <a:spcPts val="1954"/>
              </a:lnSpc>
            </a:pPr>
            <a:r>
              <a:rPr lang="en-US" sz="1500">
                <a:solidFill>
                  <a:srgbClr val="67534F"/>
                </a:solidFill>
                <a:latin typeface="Times New Roman"/>
                <a:ea typeface="Times New Roman"/>
                <a:cs typeface="Times New Roman"/>
                <a:sym typeface="Times New Roman"/>
              </a:rPr>
              <a:t>The module implements multi-series plots to display the raw closing price (solid line) alongside calculated indicators (dashed lines in distinct colors), enabling traders to easily spot potential trend reversal signals.</a:t>
            </a:r>
          </a:p>
        </p:txBody>
      </p:sp>
      <p:grpSp>
        <p:nvGrpSpPr>
          <p:cNvPr name="Group 26" id="26"/>
          <p:cNvGrpSpPr/>
          <p:nvPr/>
        </p:nvGrpSpPr>
        <p:grpSpPr>
          <a:xfrm rot="0">
            <a:off x="11205419" y="3623519"/>
            <a:ext cx="38100" cy="805755"/>
            <a:chOff x="0" y="0"/>
            <a:chExt cx="50800" cy="1074340"/>
          </a:xfrm>
        </p:grpSpPr>
        <p:sp>
          <p:nvSpPr>
            <p:cNvPr name="Freeform 27" id="27"/>
            <p:cNvSpPr/>
            <p:nvPr/>
          </p:nvSpPr>
          <p:spPr>
            <a:xfrm flipH="false" flipV="false" rot="0">
              <a:off x="0" y="0"/>
              <a:ext cx="50800" cy="1074293"/>
            </a:xfrm>
            <a:custGeom>
              <a:avLst/>
              <a:gdLst/>
              <a:ahLst/>
              <a:cxnLst/>
              <a:rect r="r" b="b" t="t" l="l"/>
              <a:pathLst>
                <a:path h="1074293" w="50800">
                  <a:moveTo>
                    <a:pt x="0" y="25400"/>
                  </a:moveTo>
                  <a:cubicBezTo>
                    <a:pt x="0" y="11430"/>
                    <a:pt x="11430" y="0"/>
                    <a:pt x="25400" y="0"/>
                  </a:cubicBezTo>
                  <a:cubicBezTo>
                    <a:pt x="39370" y="0"/>
                    <a:pt x="50800" y="11430"/>
                    <a:pt x="50800" y="25400"/>
                  </a:cubicBezTo>
                  <a:lnTo>
                    <a:pt x="50800" y="1048893"/>
                  </a:lnTo>
                  <a:cubicBezTo>
                    <a:pt x="50800" y="1062863"/>
                    <a:pt x="39370" y="1074293"/>
                    <a:pt x="25400" y="1074293"/>
                  </a:cubicBezTo>
                  <a:cubicBezTo>
                    <a:pt x="11430" y="1074293"/>
                    <a:pt x="0" y="1062863"/>
                    <a:pt x="0" y="1048893"/>
                  </a:cubicBezTo>
                  <a:close/>
                </a:path>
              </a:pathLst>
            </a:custGeom>
            <a:solidFill>
              <a:srgbClr val="FFE0CC"/>
            </a:solidFill>
            <a:ln w="12700">
              <a:solidFill>
                <a:srgbClr val="000000"/>
              </a:solidFill>
            </a:ln>
          </p:spPr>
        </p:sp>
      </p:grpSp>
      <p:grpSp>
        <p:nvGrpSpPr>
          <p:cNvPr name="Group 28" id="28"/>
          <p:cNvGrpSpPr/>
          <p:nvPr/>
        </p:nvGrpSpPr>
        <p:grpSpPr>
          <a:xfrm rot="0">
            <a:off x="10908060" y="3307110"/>
            <a:ext cx="632817" cy="632817"/>
            <a:chOff x="0" y="0"/>
            <a:chExt cx="843757" cy="843757"/>
          </a:xfrm>
        </p:grpSpPr>
        <p:sp>
          <p:nvSpPr>
            <p:cNvPr name="Freeform 29" id="29"/>
            <p:cNvSpPr/>
            <p:nvPr/>
          </p:nvSpPr>
          <p:spPr>
            <a:xfrm flipH="false" flipV="false" rot="0">
              <a:off x="19050" y="19050"/>
              <a:ext cx="805561" cy="805561"/>
            </a:xfrm>
            <a:custGeom>
              <a:avLst/>
              <a:gdLst/>
              <a:ahLst/>
              <a:cxnLst/>
              <a:rect r="r" b="b" t="t" l="l"/>
              <a:pathLst>
                <a:path h="805561" w="805561">
                  <a:moveTo>
                    <a:pt x="0" y="150368"/>
                  </a:moveTo>
                  <a:cubicBezTo>
                    <a:pt x="0" y="67310"/>
                    <a:pt x="67310" y="0"/>
                    <a:pt x="150368" y="0"/>
                  </a:cubicBezTo>
                  <a:lnTo>
                    <a:pt x="655193" y="0"/>
                  </a:lnTo>
                  <a:cubicBezTo>
                    <a:pt x="738251" y="0"/>
                    <a:pt x="805561" y="67310"/>
                    <a:pt x="805561" y="150368"/>
                  </a:cubicBezTo>
                  <a:lnTo>
                    <a:pt x="805561" y="655193"/>
                  </a:lnTo>
                  <a:cubicBezTo>
                    <a:pt x="805561" y="738251"/>
                    <a:pt x="738251" y="805561"/>
                    <a:pt x="655193" y="805561"/>
                  </a:cubicBezTo>
                  <a:lnTo>
                    <a:pt x="150368" y="805561"/>
                  </a:lnTo>
                  <a:cubicBezTo>
                    <a:pt x="67310" y="805688"/>
                    <a:pt x="0" y="738251"/>
                    <a:pt x="0" y="655193"/>
                  </a:cubicBezTo>
                  <a:close/>
                </a:path>
              </a:pathLst>
            </a:custGeom>
            <a:solidFill>
              <a:srgbClr val="FFFFF4"/>
            </a:solidFill>
            <a:ln w="12700">
              <a:solidFill>
                <a:srgbClr val="000000"/>
              </a:solidFill>
            </a:ln>
          </p:spPr>
        </p:sp>
        <p:sp>
          <p:nvSpPr>
            <p:cNvPr name="Freeform 30" id="30"/>
            <p:cNvSpPr/>
            <p:nvPr/>
          </p:nvSpPr>
          <p:spPr>
            <a:xfrm flipH="false" flipV="false" rot="0">
              <a:off x="0" y="0"/>
              <a:ext cx="843661" cy="843661"/>
            </a:xfrm>
            <a:custGeom>
              <a:avLst/>
              <a:gdLst/>
              <a:ahLst/>
              <a:cxnLst/>
              <a:rect r="r" b="b" t="t" l="l"/>
              <a:pathLst>
                <a:path h="843661" w="843661">
                  <a:moveTo>
                    <a:pt x="0" y="169418"/>
                  </a:moveTo>
                  <a:cubicBezTo>
                    <a:pt x="0" y="75819"/>
                    <a:pt x="75819" y="0"/>
                    <a:pt x="169418" y="0"/>
                  </a:cubicBezTo>
                  <a:lnTo>
                    <a:pt x="674243" y="0"/>
                  </a:lnTo>
                  <a:lnTo>
                    <a:pt x="674243" y="19050"/>
                  </a:lnTo>
                  <a:lnTo>
                    <a:pt x="674243" y="0"/>
                  </a:lnTo>
                  <a:lnTo>
                    <a:pt x="674243" y="19050"/>
                  </a:lnTo>
                  <a:lnTo>
                    <a:pt x="674243" y="0"/>
                  </a:lnTo>
                  <a:cubicBezTo>
                    <a:pt x="767842" y="0"/>
                    <a:pt x="843661" y="75819"/>
                    <a:pt x="843661" y="169418"/>
                  </a:cubicBezTo>
                  <a:lnTo>
                    <a:pt x="843661" y="674243"/>
                  </a:lnTo>
                  <a:lnTo>
                    <a:pt x="824611" y="674243"/>
                  </a:lnTo>
                  <a:lnTo>
                    <a:pt x="843661" y="674243"/>
                  </a:lnTo>
                  <a:cubicBezTo>
                    <a:pt x="843661" y="767842"/>
                    <a:pt x="767842" y="843661"/>
                    <a:pt x="674243" y="843661"/>
                  </a:cubicBezTo>
                  <a:lnTo>
                    <a:pt x="674243" y="824611"/>
                  </a:lnTo>
                  <a:lnTo>
                    <a:pt x="674243" y="843661"/>
                  </a:lnTo>
                  <a:lnTo>
                    <a:pt x="169418" y="843661"/>
                  </a:lnTo>
                  <a:lnTo>
                    <a:pt x="169418" y="824611"/>
                  </a:lnTo>
                  <a:lnTo>
                    <a:pt x="169418" y="843661"/>
                  </a:lnTo>
                  <a:cubicBezTo>
                    <a:pt x="75819" y="843788"/>
                    <a:pt x="0" y="767842"/>
                    <a:pt x="0" y="674243"/>
                  </a:cubicBezTo>
                  <a:lnTo>
                    <a:pt x="0" y="169418"/>
                  </a:lnTo>
                  <a:lnTo>
                    <a:pt x="19050" y="169418"/>
                  </a:lnTo>
                  <a:lnTo>
                    <a:pt x="0" y="169418"/>
                  </a:lnTo>
                  <a:moveTo>
                    <a:pt x="38100" y="169418"/>
                  </a:moveTo>
                  <a:lnTo>
                    <a:pt x="38100" y="674243"/>
                  </a:lnTo>
                  <a:lnTo>
                    <a:pt x="19050" y="674243"/>
                  </a:lnTo>
                  <a:lnTo>
                    <a:pt x="38100" y="674243"/>
                  </a:lnTo>
                  <a:cubicBezTo>
                    <a:pt x="38100" y="746760"/>
                    <a:pt x="96901" y="805561"/>
                    <a:pt x="169418" y="805561"/>
                  </a:cubicBezTo>
                  <a:lnTo>
                    <a:pt x="674243" y="805561"/>
                  </a:lnTo>
                  <a:cubicBezTo>
                    <a:pt x="746760" y="805561"/>
                    <a:pt x="805561" y="746760"/>
                    <a:pt x="805561" y="674243"/>
                  </a:cubicBezTo>
                  <a:lnTo>
                    <a:pt x="805561" y="169418"/>
                  </a:lnTo>
                  <a:lnTo>
                    <a:pt x="824611" y="169418"/>
                  </a:lnTo>
                  <a:lnTo>
                    <a:pt x="805561" y="169418"/>
                  </a:lnTo>
                  <a:cubicBezTo>
                    <a:pt x="805688" y="96901"/>
                    <a:pt x="746887" y="38100"/>
                    <a:pt x="674243" y="38100"/>
                  </a:cubicBezTo>
                  <a:lnTo>
                    <a:pt x="169418" y="38100"/>
                  </a:lnTo>
                  <a:lnTo>
                    <a:pt x="169418" y="19050"/>
                  </a:lnTo>
                  <a:lnTo>
                    <a:pt x="169418" y="38100"/>
                  </a:lnTo>
                  <a:cubicBezTo>
                    <a:pt x="96901" y="38100"/>
                    <a:pt x="38100" y="96901"/>
                    <a:pt x="38100" y="169418"/>
                  </a:cubicBezTo>
                  <a:close/>
                </a:path>
              </a:pathLst>
            </a:custGeom>
            <a:solidFill>
              <a:srgbClr val="FFE0CC"/>
            </a:solidFill>
            <a:ln w="12700">
              <a:solidFill>
                <a:srgbClr val="000000"/>
              </a:solidFill>
            </a:ln>
          </p:spPr>
        </p:sp>
      </p:grpSp>
      <p:sp>
        <p:nvSpPr>
          <p:cNvPr name="TextBox 31" id="31"/>
          <p:cNvSpPr txBox="true"/>
          <p:nvPr/>
        </p:nvSpPr>
        <p:spPr>
          <a:xfrm rot="0">
            <a:off x="10973767" y="3537794"/>
            <a:ext cx="463303" cy="219075"/>
          </a:xfrm>
          <a:prstGeom prst="rect">
            <a:avLst/>
          </a:prstGeom>
        </p:spPr>
        <p:txBody>
          <a:bodyPr anchor="t" rtlCol="false" tIns="0" lIns="0" bIns="0" rIns="0">
            <a:spAutoFit/>
          </a:bodyPr>
          <a:lstStyle/>
          <a:p>
            <a:pPr algn="ctr">
              <a:lnSpc>
                <a:spcPts val="1500"/>
              </a:lnSpc>
            </a:pPr>
            <a:r>
              <a:rPr lang="en-US" sz="1500">
                <a:solidFill>
                  <a:srgbClr val="67534F"/>
                </a:solidFill>
                <a:latin typeface="Times New Roman"/>
                <a:ea typeface="Times New Roman"/>
                <a:cs typeface="Times New Roman"/>
                <a:sym typeface="Times New Roman"/>
              </a:rPr>
              <a:t>3</a:t>
            </a:r>
          </a:p>
        </p:txBody>
      </p:sp>
      <p:sp>
        <p:nvSpPr>
          <p:cNvPr name="TextBox 32" id="32"/>
          <p:cNvSpPr txBox="true"/>
          <p:nvPr/>
        </p:nvSpPr>
        <p:spPr>
          <a:xfrm rot="0">
            <a:off x="9580364" y="4391174"/>
            <a:ext cx="3288357" cy="342900"/>
          </a:xfrm>
          <a:prstGeom prst="rect">
            <a:avLst/>
          </a:prstGeom>
        </p:spPr>
        <p:txBody>
          <a:bodyPr anchor="t" rtlCol="false" tIns="0" lIns="0" bIns="0" rIns="0">
            <a:spAutoFit/>
          </a:bodyPr>
          <a:lstStyle/>
          <a:p>
            <a:pPr algn="ctr">
              <a:lnSpc>
                <a:spcPts val="2625"/>
              </a:lnSpc>
            </a:pPr>
            <a:r>
              <a:rPr lang="en-US" sz="2000" b="true">
                <a:solidFill>
                  <a:srgbClr val="67534F"/>
                </a:solidFill>
                <a:latin typeface="Times New Roman Bold"/>
                <a:ea typeface="Times New Roman Bold"/>
                <a:cs typeface="Times New Roman Bold"/>
                <a:sym typeface="Times New Roman Bold"/>
              </a:rPr>
              <a:t>Handling Data Gaps</a:t>
            </a:r>
          </a:p>
        </p:txBody>
      </p:sp>
      <p:sp>
        <p:nvSpPr>
          <p:cNvPr name="TextBox 33" id="33"/>
          <p:cNvSpPr txBox="true"/>
          <p:nvPr/>
        </p:nvSpPr>
        <p:spPr>
          <a:xfrm rot="0">
            <a:off x="9580364" y="5834063"/>
            <a:ext cx="3288357" cy="1494848"/>
          </a:xfrm>
          <a:prstGeom prst="rect">
            <a:avLst/>
          </a:prstGeom>
        </p:spPr>
        <p:txBody>
          <a:bodyPr anchor="t" rtlCol="false" tIns="0" lIns="0" bIns="0" rIns="0">
            <a:spAutoFit/>
          </a:bodyPr>
          <a:lstStyle/>
          <a:p>
            <a:pPr algn="ctr">
              <a:lnSpc>
                <a:spcPts val="1954"/>
              </a:lnSpc>
            </a:pPr>
            <a:r>
              <a:rPr lang="en-US" sz="1500">
                <a:solidFill>
                  <a:srgbClr val="67534F"/>
                </a:solidFill>
                <a:latin typeface="Times New Roman"/>
                <a:ea typeface="Times New Roman"/>
                <a:cs typeface="Times New Roman"/>
                <a:sym typeface="Times New Roman"/>
              </a:rPr>
              <a:t>A technical challenge, temporal discontinues  (e.g., weekends), can create misleading visual artifacts. Our solution uses Pandas functionality to re-index data, focusing on discrete trading periods to avoid flat lines.</a:t>
            </a:r>
          </a:p>
        </p:txBody>
      </p:sp>
      <p:grpSp>
        <p:nvGrpSpPr>
          <p:cNvPr name="Group 34" id="34"/>
          <p:cNvGrpSpPr/>
          <p:nvPr/>
        </p:nvGrpSpPr>
        <p:grpSpPr>
          <a:xfrm rot="0">
            <a:off x="15366652" y="3623519"/>
            <a:ext cx="38100" cy="805755"/>
            <a:chOff x="0" y="0"/>
            <a:chExt cx="50800" cy="1074340"/>
          </a:xfrm>
        </p:grpSpPr>
        <p:sp>
          <p:nvSpPr>
            <p:cNvPr name="Freeform 35" id="35"/>
            <p:cNvSpPr/>
            <p:nvPr/>
          </p:nvSpPr>
          <p:spPr>
            <a:xfrm flipH="false" flipV="false" rot="0">
              <a:off x="0" y="0"/>
              <a:ext cx="50800" cy="1074293"/>
            </a:xfrm>
            <a:custGeom>
              <a:avLst/>
              <a:gdLst/>
              <a:ahLst/>
              <a:cxnLst/>
              <a:rect r="r" b="b" t="t" l="l"/>
              <a:pathLst>
                <a:path h="1074293" w="50800">
                  <a:moveTo>
                    <a:pt x="0" y="25400"/>
                  </a:moveTo>
                  <a:cubicBezTo>
                    <a:pt x="0" y="11430"/>
                    <a:pt x="11430" y="0"/>
                    <a:pt x="25400" y="0"/>
                  </a:cubicBezTo>
                  <a:cubicBezTo>
                    <a:pt x="39370" y="0"/>
                    <a:pt x="50800" y="11430"/>
                    <a:pt x="50800" y="25400"/>
                  </a:cubicBezTo>
                  <a:lnTo>
                    <a:pt x="50800" y="1048893"/>
                  </a:lnTo>
                  <a:cubicBezTo>
                    <a:pt x="50800" y="1062863"/>
                    <a:pt x="39370" y="1074293"/>
                    <a:pt x="25400" y="1074293"/>
                  </a:cubicBezTo>
                  <a:cubicBezTo>
                    <a:pt x="11430" y="1074293"/>
                    <a:pt x="0" y="1062863"/>
                    <a:pt x="0" y="1048893"/>
                  </a:cubicBezTo>
                  <a:close/>
                </a:path>
              </a:pathLst>
            </a:custGeom>
            <a:solidFill>
              <a:srgbClr val="FFE0CC"/>
            </a:solidFill>
            <a:ln w="12700">
              <a:solidFill>
                <a:srgbClr val="000000"/>
              </a:solidFill>
            </a:ln>
          </p:spPr>
        </p:sp>
      </p:grpSp>
      <p:grpSp>
        <p:nvGrpSpPr>
          <p:cNvPr name="Group 36" id="36"/>
          <p:cNvGrpSpPr/>
          <p:nvPr/>
        </p:nvGrpSpPr>
        <p:grpSpPr>
          <a:xfrm rot="0">
            <a:off x="15069294" y="3307110"/>
            <a:ext cx="632818" cy="632817"/>
            <a:chOff x="0" y="0"/>
            <a:chExt cx="843757" cy="843757"/>
          </a:xfrm>
        </p:grpSpPr>
        <p:sp>
          <p:nvSpPr>
            <p:cNvPr name="Freeform 37" id="37"/>
            <p:cNvSpPr/>
            <p:nvPr/>
          </p:nvSpPr>
          <p:spPr>
            <a:xfrm flipH="false" flipV="false" rot="0">
              <a:off x="19050" y="19050"/>
              <a:ext cx="805561" cy="805561"/>
            </a:xfrm>
            <a:custGeom>
              <a:avLst/>
              <a:gdLst/>
              <a:ahLst/>
              <a:cxnLst/>
              <a:rect r="r" b="b" t="t" l="l"/>
              <a:pathLst>
                <a:path h="805561" w="805561">
                  <a:moveTo>
                    <a:pt x="0" y="150368"/>
                  </a:moveTo>
                  <a:cubicBezTo>
                    <a:pt x="0" y="67310"/>
                    <a:pt x="67310" y="0"/>
                    <a:pt x="150368" y="0"/>
                  </a:cubicBezTo>
                  <a:lnTo>
                    <a:pt x="655193" y="0"/>
                  </a:lnTo>
                  <a:cubicBezTo>
                    <a:pt x="738251" y="0"/>
                    <a:pt x="805561" y="67310"/>
                    <a:pt x="805561" y="150368"/>
                  </a:cubicBezTo>
                  <a:lnTo>
                    <a:pt x="805561" y="655193"/>
                  </a:lnTo>
                  <a:cubicBezTo>
                    <a:pt x="805561" y="738251"/>
                    <a:pt x="738251" y="805561"/>
                    <a:pt x="655193" y="805561"/>
                  </a:cubicBezTo>
                  <a:lnTo>
                    <a:pt x="150368" y="805561"/>
                  </a:lnTo>
                  <a:cubicBezTo>
                    <a:pt x="67310" y="805688"/>
                    <a:pt x="0" y="738251"/>
                    <a:pt x="0" y="655193"/>
                  </a:cubicBezTo>
                  <a:close/>
                </a:path>
              </a:pathLst>
            </a:custGeom>
            <a:solidFill>
              <a:srgbClr val="FFFFF4"/>
            </a:solidFill>
            <a:ln w="12700">
              <a:solidFill>
                <a:srgbClr val="000000"/>
              </a:solidFill>
            </a:ln>
          </p:spPr>
        </p:sp>
        <p:sp>
          <p:nvSpPr>
            <p:cNvPr name="Freeform 38" id="38"/>
            <p:cNvSpPr/>
            <p:nvPr/>
          </p:nvSpPr>
          <p:spPr>
            <a:xfrm flipH="false" flipV="false" rot="0">
              <a:off x="0" y="0"/>
              <a:ext cx="843661" cy="843661"/>
            </a:xfrm>
            <a:custGeom>
              <a:avLst/>
              <a:gdLst/>
              <a:ahLst/>
              <a:cxnLst/>
              <a:rect r="r" b="b" t="t" l="l"/>
              <a:pathLst>
                <a:path h="843661" w="843661">
                  <a:moveTo>
                    <a:pt x="0" y="169418"/>
                  </a:moveTo>
                  <a:cubicBezTo>
                    <a:pt x="0" y="75819"/>
                    <a:pt x="75819" y="0"/>
                    <a:pt x="169418" y="0"/>
                  </a:cubicBezTo>
                  <a:lnTo>
                    <a:pt x="674243" y="0"/>
                  </a:lnTo>
                  <a:lnTo>
                    <a:pt x="674243" y="19050"/>
                  </a:lnTo>
                  <a:lnTo>
                    <a:pt x="674243" y="0"/>
                  </a:lnTo>
                  <a:lnTo>
                    <a:pt x="674243" y="19050"/>
                  </a:lnTo>
                  <a:lnTo>
                    <a:pt x="674243" y="0"/>
                  </a:lnTo>
                  <a:cubicBezTo>
                    <a:pt x="767842" y="0"/>
                    <a:pt x="843661" y="75819"/>
                    <a:pt x="843661" y="169418"/>
                  </a:cubicBezTo>
                  <a:lnTo>
                    <a:pt x="843661" y="674243"/>
                  </a:lnTo>
                  <a:lnTo>
                    <a:pt x="824611" y="674243"/>
                  </a:lnTo>
                  <a:lnTo>
                    <a:pt x="843661" y="674243"/>
                  </a:lnTo>
                  <a:cubicBezTo>
                    <a:pt x="843661" y="767842"/>
                    <a:pt x="767842" y="843661"/>
                    <a:pt x="674243" y="843661"/>
                  </a:cubicBezTo>
                  <a:lnTo>
                    <a:pt x="674243" y="824611"/>
                  </a:lnTo>
                  <a:lnTo>
                    <a:pt x="674243" y="843661"/>
                  </a:lnTo>
                  <a:lnTo>
                    <a:pt x="169418" y="843661"/>
                  </a:lnTo>
                  <a:lnTo>
                    <a:pt x="169418" y="824611"/>
                  </a:lnTo>
                  <a:lnTo>
                    <a:pt x="169418" y="843661"/>
                  </a:lnTo>
                  <a:cubicBezTo>
                    <a:pt x="75819" y="843788"/>
                    <a:pt x="0" y="767842"/>
                    <a:pt x="0" y="674243"/>
                  </a:cubicBezTo>
                  <a:lnTo>
                    <a:pt x="0" y="169418"/>
                  </a:lnTo>
                  <a:lnTo>
                    <a:pt x="19050" y="169418"/>
                  </a:lnTo>
                  <a:lnTo>
                    <a:pt x="0" y="169418"/>
                  </a:lnTo>
                  <a:moveTo>
                    <a:pt x="38100" y="169418"/>
                  </a:moveTo>
                  <a:lnTo>
                    <a:pt x="38100" y="674243"/>
                  </a:lnTo>
                  <a:lnTo>
                    <a:pt x="19050" y="674243"/>
                  </a:lnTo>
                  <a:lnTo>
                    <a:pt x="38100" y="674243"/>
                  </a:lnTo>
                  <a:cubicBezTo>
                    <a:pt x="38100" y="746760"/>
                    <a:pt x="96901" y="805561"/>
                    <a:pt x="169418" y="805561"/>
                  </a:cubicBezTo>
                  <a:lnTo>
                    <a:pt x="674243" y="805561"/>
                  </a:lnTo>
                  <a:cubicBezTo>
                    <a:pt x="746760" y="805561"/>
                    <a:pt x="805561" y="746760"/>
                    <a:pt x="805561" y="674243"/>
                  </a:cubicBezTo>
                  <a:lnTo>
                    <a:pt x="805561" y="169418"/>
                  </a:lnTo>
                  <a:lnTo>
                    <a:pt x="824611" y="169418"/>
                  </a:lnTo>
                  <a:lnTo>
                    <a:pt x="805561" y="169418"/>
                  </a:lnTo>
                  <a:cubicBezTo>
                    <a:pt x="805688" y="96901"/>
                    <a:pt x="746887" y="38100"/>
                    <a:pt x="674243" y="38100"/>
                  </a:cubicBezTo>
                  <a:lnTo>
                    <a:pt x="169418" y="38100"/>
                  </a:lnTo>
                  <a:lnTo>
                    <a:pt x="169418" y="19050"/>
                  </a:lnTo>
                  <a:lnTo>
                    <a:pt x="169418" y="38100"/>
                  </a:lnTo>
                  <a:cubicBezTo>
                    <a:pt x="96901" y="38100"/>
                    <a:pt x="38100" y="96901"/>
                    <a:pt x="38100" y="169418"/>
                  </a:cubicBezTo>
                  <a:close/>
                </a:path>
              </a:pathLst>
            </a:custGeom>
            <a:solidFill>
              <a:srgbClr val="FFE0CC"/>
            </a:solidFill>
            <a:ln w="12700">
              <a:solidFill>
                <a:srgbClr val="000000"/>
              </a:solidFill>
            </a:ln>
          </p:spPr>
        </p:sp>
      </p:grpSp>
      <p:sp>
        <p:nvSpPr>
          <p:cNvPr name="TextBox 39" id="39"/>
          <p:cNvSpPr txBox="true"/>
          <p:nvPr/>
        </p:nvSpPr>
        <p:spPr>
          <a:xfrm rot="0">
            <a:off x="15173101" y="3556844"/>
            <a:ext cx="463303" cy="219075"/>
          </a:xfrm>
          <a:prstGeom prst="rect">
            <a:avLst/>
          </a:prstGeom>
        </p:spPr>
        <p:txBody>
          <a:bodyPr anchor="t" rtlCol="false" tIns="0" lIns="0" bIns="0" rIns="0">
            <a:spAutoFit/>
          </a:bodyPr>
          <a:lstStyle/>
          <a:p>
            <a:pPr algn="ctr">
              <a:lnSpc>
                <a:spcPts val="1500"/>
              </a:lnSpc>
            </a:pPr>
            <a:r>
              <a:rPr lang="en-US" sz="1500">
                <a:solidFill>
                  <a:srgbClr val="67534F"/>
                </a:solidFill>
                <a:latin typeface="Times New Roman"/>
                <a:ea typeface="Times New Roman"/>
                <a:cs typeface="Times New Roman"/>
                <a:sym typeface="Times New Roman"/>
              </a:rPr>
              <a:t>4</a:t>
            </a:r>
          </a:p>
        </p:txBody>
      </p:sp>
      <p:sp>
        <p:nvSpPr>
          <p:cNvPr name="TextBox 40" id="40"/>
          <p:cNvSpPr txBox="true"/>
          <p:nvPr/>
        </p:nvSpPr>
        <p:spPr>
          <a:xfrm rot="0">
            <a:off x="13760499" y="4459858"/>
            <a:ext cx="3288506" cy="342900"/>
          </a:xfrm>
          <a:prstGeom prst="rect">
            <a:avLst/>
          </a:prstGeom>
        </p:spPr>
        <p:txBody>
          <a:bodyPr anchor="t" rtlCol="false" tIns="0" lIns="0" bIns="0" rIns="0">
            <a:spAutoFit/>
          </a:bodyPr>
          <a:lstStyle/>
          <a:p>
            <a:pPr algn="ctr">
              <a:lnSpc>
                <a:spcPts val="2625"/>
              </a:lnSpc>
            </a:pPr>
            <a:r>
              <a:rPr lang="en-US" sz="2000" b="true">
                <a:solidFill>
                  <a:srgbClr val="67534F"/>
                </a:solidFill>
                <a:latin typeface="Times New Roman Bold"/>
                <a:ea typeface="Times New Roman Bold"/>
                <a:cs typeface="Times New Roman Bold"/>
                <a:sym typeface="Times New Roman Bold"/>
              </a:rPr>
              <a:t>Enhanced Usability</a:t>
            </a:r>
          </a:p>
        </p:txBody>
      </p:sp>
      <p:sp>
        <p:nvSpPr>
          <p:cNvPr name="TextBox 41" id="41"/>
          <p:cNvSpPr txBox="true"/>
          <p:nvPr/>
        </p:nvSpPr>
        <p:spPr>
          <a:xfrm rot="0">
            <a:off x="13722399" y="5834063"/>
            <a:ext cx="3288506" cy="1247198"/>
          </a:xfrm>
          <a:prstGeom prst="rect">
            <a:avLst/>
          </a:prstGeom>
        </p:spPr>
        <p:txBody>
          <a:bodyPr anchor="t" rtlCol="false" tIns="0" lIns="0" bIns="0" rIns="0">
            <a:spAutoFit/>
          </a:bodyPr>
          <a:lstStyle/>
          <a:p>
            <a:pPr algn="ctr">
              <a:lnSpc>
                <a:spcPts val="1954"/>
              </a:lnSpc>
            </a:pPr>
            <a:r>
              <a:rPr lang="en-US" sz="1500">
                <a:solidFill>
                  <a:srgbClr val="67534F"/>
                </a:solidFill>
                <a:latin typeface="Times New Roman"/>
                <a:ea typeface="Times New Roman"/>
                <a:cs typeface="Times New Roman"/>
                <a:sym typeface="Times New Roman"/>
              </a:rPr>
              <a:t>All charts include essential features such as Legends for clear identification, Gridlines  for easy price level reading, and automatic Date Formatting on the x-axis to prevent clutter.</a:t>
            </a:r>
          </a:p>
        </p:txBody>
      </p:sp>
      <p:sp>
        <p:nvSpPr>
          <p:cNvPr name="Freeform 42" id="42"/>
          <p:cNvSpPr/>
          <p:nvPr/>
        </p:nvSpPr>
        <p:spPr>
          <a:xfrm flipH="false" flipV="false" rot="0">
            <a:off x="16294383" y="8471910"/>
            <a:ext cx="2008120" cy="1781750"/>
          </a:xfrm>
          <a:custGeom>
            <a:avLst/>
            <a:gdLst/>
            <a:ahLst/>
            <a:cxnLst/>
            <a:rect r="r" b="b" t="t" l="l"/>
            <a:pathLst>
              <a:path h="1781750" w="2008120">
                <a:moveTo>
                  <a:pt x="0" y="0"/>
                </a:moveTo>
                <a:lnTo>
                  <a:pt x="2008119" y="0"/>
                </a:lnTo>
                <a:lnTo>
                  <a:pt x="2008119" y="1781750"/>
                </a:lnTo>
                <a:lnTo>
                  <a:pt x="0" y="1781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3" id="43"/>
          <p:cNvSpPr/>
          <p:nvPr/>
        </p:nvSpPr>
        <p:spPr>
          <a:xfrm flipH="false" flipV="false" rot="0">
            <a:off x="24640" y="8450707"/>
            <a:ext cx="2008120" cy="1781750"/>
          </a:xfrm>
          <a:custGeom>
            <a:avLst/>
            <a:gdLst/>
            <a:ahLst/>
            <a:cxnLst/>
            <a:rect r="r" b="b" t="t" l="l"/>
            <a:pathLst>
              <a:path h="1781750" w="2008120">
                <a:moveTo>
                  <a:pt x="0" y="0"/>
                </a:moveTo>
                <a:lnTo>
                  <a:pt x="2008120" y="0"/>
                </a:lnTo>
                <a:lnTo>
                  <a:pt x="2008120" y="1781750"/>
                </a:lnTo>
                <a:lnTo>
                  <a:pt x="0" y="1781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4" id="44"/>
          <p:cNvSpPr/>
          <p:nvPr/>
        </p:nvSpPr>
        <p:spPr>
          <a:xfrm flipH="false" flipV="false" rot="0">
            <a:off x="7838487" y="8803513"/>
            <a:ext cx="2611028" cy="1428944"/>
          </a:xfrm>
          <a:custGeom>
            <a:avLst/>
            <a:gdLst/>
            <a:ahLst/>
            <a:cxnLst/>
            <a:rect r="r" b="b" t="t" l="l"/>
            <a:pathLst>
              <a:path h="1428944" w="2611028">
                <a:moveTo>
                  <a:pt x="0" y="0"/>
                </a:moveTo>
                <a:lnTo>
                  <a:pt x="2611027" y="0"/>
                </a:lnTo>
                <a:lnTo>
                  <a:pt x="2611027" y="1428944"/>
                </a:lnTo>
                <a:lnTo>
                  <a:pt x="0" y="14289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C8AB"/>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4">
                <a:alpha val="90196"/>
              </a:srgbClr>
            </a:solidFill>
            <a:ln w="12700">
              <a:solidFill>
                <a:srgbClr val="000000"/>
              </a:solidFill>
            </a:ln>
          </p:spPr>
        </p:sp>
      </p:grpSp>
      <p:sp>
        <p:nvSpPr>
          <p:cNvPr name="TextBox 6" id="6"/>
          <p:cNvSpPr txBox="true"/>
          <p:nvPr/>
        </p:nvSpPr>
        <p:spPr>
          <a:xfrm rot="0">
            <a:off x="4824227" y="643662"/>
            <a:ext cx="6350347" cy="703401"/>
          </a:xfrm>
          <a:prstGeom prst="rect">
            <a:avLst/>
          </a:prstGeom>
        </p:spPr>
        <p:txBody>
          <a:bodyPr anchor="t" rtlCol="false" tIns="0" lIns="0" bIns="0" rIns="0">
            <a:spAutoFit/>
          </a:bodyPr>
          <a:lstStyle/>
          <a:p>
            <a:pPr algn="ctr">
              <a:lnSpc>
                <a:spcPts val="5501"/>
              </a:lnSpc>
            </a:pPr>
            <a:r>
              <a:rPr lang="en-US" sz="4200">
                <a:solidFill>
                  <a:srgbClr val="532418"/>
                </a:solidFill>
                <a:latin typeface="Times New Roman"/>
                <a:ea typeface="Times New Roman"/>
                <a:cs typeface="Times New Roman"/>
                <a:sym typeface="Times New Roman"/>
              </a:rPr>
              <a:t>Use Cases and Validation</a:t>
            </a:r>
          </a:p>
        </p:txBody>
      </p:sp>
      <p:sp>
        <p:nvSpPr>
          <p:cNvPr name="TextBox 7" id="7"/>
          <p:cNvSpPr txBox="true"/>
          <p:nvPr/>
        </p:nvSpPr>
        <p:spPr>
          <a:xfrm rot="0">
            <a:off x="1028700" y="1524118"/>
            <a:ext cx="16308884" cy="843492"/>
          </a:xfrm>
          <a:prstGeom prst="rect">
            <a:avLst/>
          </a:prstGeom>
        </p:spPr>
        <p:txBody>
          <a:bodyPr anchor="t" rtlCol="false" tIns="0" lIns="0" bIns="0" rIns="0">
            <a:spAutoFit/>
          </a:bodyPr>
          <a:lstStyle/>
          <a:p>
            <a:pPr algn="l">
              <a:lnSpc>
                <a:spcPts val="3333"/>
              </a:lnSpc>
            </a:pPr>
            <a:r>
              <a:rPr lang="en-US" sz="2499">
                <a:solidFill>
                  <a:srgbClr val="67534F"/>
                </a:solidFill>
                <a:latin typeface="Times New Roman"/>
                <a:ea typeface="Times New Roman"/>
                <a:cs typeface="Times New Roman"/>
                <a:sym typeface="Times New Roman"/>
              </a:rPr>
              <a:t>FinSight's practical applications showcase its analytical power and robust error handling, providing immediate insights and a stable user experience.</a:t>
            </a:r>
          </a:p>
        </p:txBody>
      </p:sp>
      <p:sp>
        <p:nvSpPr>
          <p:cNvPr name="TextBox 8" id="8"/>
          <p:cNvSpPr txBox="true"/>
          <p:nvPr/>
        </p:nvSpPr>
        <p:spPr>
          <a:xfrm rot="0">
            <a:off x="989559" y="2686825"/>
            <a:ext cx="3414118" cy="403520"/>
          </a:xfrm>
          <a:prstGeom prst="rect">
            <a:avLst/>
          </a:prstGeom>
        </p:spPr>
        <p:txBody>
          <a:bodyPr anchor="t" rtlCol="false" tIns="0" lIns="0" bIns="0" rIns="0">
            <a:spAutoFit/>
          </a:bodyPr>
          <a:lstStyle/>
          <a:p>
            <a:pPr algn="l">
              <a:lnSpc>
                <a:spcPts val="3197"/>
              </a:lnSpc>
            </a:pPr>
            <a:r>
              <a:rPr lang="en-US" sz="2499" b="true">
                <a:solidFill>
                  <a:srgbClr val="532418"/>
                </a:solidFill>
                <a:latin typeface="Times New Roman Bold"/>
                <a:ea typeface="Times New Roman Bold"/>
                <a:cs typeface="Times New Roman Bold"/>
                <a:sym typeface="Times New Roman Bold"/>
              </a:rPr>
              <a:t>Key Use Cases</a:t>
            </a:r>
          </a:p>
        </p:txBody>
      </p:sp>
      <p:sp>
        <p:nvSpPr>
          <p:cNvPr name="TextBox 9" id="9"/>
          <p:cNvSpPr txBox="true"/>
          <p:nvPr/>
        </p:nvSpPr>
        <p:spPr>
          <a:xfrm rot="0">
            <a:off x="2976451" y="3376612"/>
            <a:ext cx="698525" cy="279400"/>
          </a:xfrm>
          <a:prstGeom prst="rect">
            <a:avLst/>
          </a:prstGeom>
        </p:spPr>
        <p:txBody>
          <a:bodyPr anchor="t" rtlCol="false" tIns="0" lIns="0" bIns="0" rIns="0">
            <a:spAutoFit/>
          </a:bodyPr>
          <a:lstStyle/>
          <a:p>
            <a:pPr algn="ctr">
              <a:lnSpc>
                <a:spcPts val="2000"/>
              </a:lnSpc>
            </a:pPr>
            <a:r>
              <a:rPr lang="en-US" sz="2000" b="true">
                <a:solidFill>
                  <a:srgbClr val="67534F"/>
                </a:solidFill>
                <a:latin typeface="Times New Roman Bold"/>
                <a:ea typeface="Times New Roman Bold"/>
                <a:cs typeface="Times New Roman Bold"/>
                <a:sym typeface="Times New Roman Bold"/>
              </a:rPr>
              <a:t>1.44%</a:t>
            </a:r>
          </a:p>
        </p:txBody>
      </p:sp>
      <p:sp>
        <p:nvSpPr>
          <p:cNvPr name="TextBox 10" id="10"/>
          <p:cNvSpPr txBox="true"/>
          <p:nvPr/>
        </p:nvSpPr>
        <p:spPr>
          <a:xfrm rot="0">
            <a:off x="1903065" y="4219724"/>
            <a:ext cx="2845148" cy="342447"/>
          </a:xfrm>
          <a:prstGeom prst="rect">
            <a:avLst/>
          </a:prstGeom>
        </p:spPr>
        <p:txBody>
          <a:bodyPr anchor="t" rtlCol="false" tIns="0" lIns="0" bIns="0" rIns="0">
            <a:spAutoFit/>
          </a:bodyPr>
          <a:lstStyle/>
          <a:p>
            <a:pPr algn="ctr">
              <a:lnSpc>
                <a:spcPts val="2628"/>
              </a:lnSpc>
            </a:pPr>
            <a:r>
              <a:rPr lang="en-US" sz="1999" b="true">
                <a:solidFill>
                  <a:srgbClr val="67534F"/>
                </a:solidFill>
                <a:latin typeface="Times New Roman Bold"/>
                <a:ea typeface="Times New Roman Bold"/>
                <a:cs typeface="Times New Roman Bold"/>
                <a:sym typeface="Times New Roman Bold"/>
              </a:rPr>
              <a:t>AAPL Volatility</a:t>
            </a:r>
          </a:p>
        </p:txBody>
      </p:sp>
      <p:sp>
        <p:nvSpPr>
          <p:cNvPr name="TextBox 11" id="11"/>
          <p:cNvSpPr txBox="true"/>
          <p:nvPr/>
        </p:nvSpPr>
        <p:spPr>
          <a:xfrm rot="0">
            <a:off x="989559" y="4787354"/>
            <a:ext cx="4672310" cy="670984"/>
          </a:xfrm>
          <a:prstGeom prst="rect">
            <a:avLst/>
          </a:prstGeom>
        </p:spPr>
        <p:txBody>
          <a:bodyPr anchor="t" rtlCol="false" tIns="0" lIns="0" bIns="0" rIns="0">
            <a:spAutoFit/>
          </a:bodyPr>
          <a:lstStyle/>
          <a:p>
            <a:pPr algn="ctr">
              <a:lnSpc>
                <a:spcPts val="2666"/>
              </a:lnSpc>
            </a:pPr>
            <a:r>
              <a:rPr lang="en-US" sz="1999" b="true">
                <a:solidFill>
                  <a:srgbClr val="67534F"/>
                </a:solidFill>
                <a:latin typeface="Times New Roman Bold"/>
                <a:ea typeface="Times New Roman Bold"/>
                <a:cs typeface="Times New Roman Bold"/>
                <a:sym typeface="Times New Roman Bold"/>
              </a:rPr>
              <a:t>Daily volatility for Apple, indicating its price fluctuation for a specified period.</a:t>
            </a:r>
          </a:p>
        </p:txBody>
      </p:sp>
      <p:sp>
        <p:nvSpPr>
          <p:cNvPr name="TextBox 12" id="12"/>
          <p:cNvSpPr txBox="true"/>
          <p:nvPr/>
        </p:nvSpPr>
        <p:spPr>
          <a:xfrm rot="0">
            <a:off x="7896188" y="3376612"/>
            <a:ext cx="698525" cy="279400"/>
          </a:xfrm>
          <a:prstGeom prst="rect">
            <a:avLst/>
          </a:prstGeom>
        </p:spPr>
        <p:txBody>
          <a:bodyPr anchor="t" rtlCol="false" tIns="0" lIns="0" bIns="0" rIns="0">
            <a:spAutoFit/>
          </a:bodyPr>
          <a:lstStyle/>
          <a:p>
            <a:pPr algn="ctr">
              <a:lnSpc>
                <a:spcPts val="2000"/>
              </a:lnSpc>
            </a:pPr>
            <a:r>
              <a:rPr lang="en-US" sz="2000" b="true">
                <a:solidFill>
                  <a:srgbClr val="67534F"/>
                </a:solidFill>
                <a:latin typeface="Times New Roman Bold"/>
                <a:ea typeface="Times New Roman Bold"/>
                <a:cs typeface="Times New Roman Bold"/>
                <a:sym typeface="Times New Roman Bold"/>
              </a:rPr>
              <a:t>1.26%</a:t>
            </a:r>
          </a:p>
        </p:txBody>
      </p:sp>
      <p:sp>
        <p:nvSpPr>
          <p:cNvPr name="TextBox 13" id="13"/>
          <p:cNvSpPr txBox="true"/>
          <p:nvPr/>
        </p:nvSpPr>
        <p:spPr>
          <a:xfrm rot="0">
            <a:off x="6822876" y="4219724"/>
            <a:ext cx="2845148" cy="342447"/>
          </a:xfrm>
          <a:prstGeom prst="rect">
            <a:avLst/>
          </a:prstGeom>
        </p:spPr>
        <p:txBody>
          <a:bodyPr anchor="t" rtlCol="false" tIns="0" lIns="0" bIns="0" rIns="0">
            <a:spAutoFit/>
          </a:bodyPr>
          <a:lstStyle/>
          <a:p>
            <a:pPr algn="ctr">
              <a:lnSpc>
                <a:spcPts val="2628"/>
              </a:lnSpc>
            </a:pPr>
            <a:r>
              <a:rPr lang="en-US" sz="1999" b="true">
                <a:solidFill>
                  <a:srgbClr val="67534F"/>
                </a:solidFill>
                <a:latin typeface="Times New Roman Bold"/>
                <a:ea typeface="Times New Roman Bold"/>
                <a:cs typeface="Times New Roman Bold"/>
                <a:sym typeface="Times New Roman Bold"/>
              </a:rPr>
              <a:t>MSFT Volatility</a:t>
            </a:r>
          </a:p>
        </p:txBody>
      </p:sp>
      <p:sp>
        <p:nvSpPr>
          <p:cNvPr name="TextBox 14" id="14"/>
          <p:cNvSpPr txBox="true"/>
          <p:nvPr/>
        </p:nvSpPr>
        <p:spPr>
          <a:xfrm rot="0">
            <a:off x="5909221" y="4787354"/>
            <a:ext cx="4672459" cy="1004359"/>
          </a:xfrm>
          <a:prstGeom prst="rect">
            <a:avLst/>
          </a:prstGeom>
        </p:spPr>
        <p:txBody>
          <a:bodyPr anchor="t" rtlCol="false" tIns="0" lIns="0" bIns="0" rIns="0">
            <a:spAutoFit/>
          </a:bodyPr>
          <a:lstStyle/>
          <a:p>
            <a:pPr algn="ctr">
              <a:lnSpc>
                <a:spcPts val="2666"/>
              </a:lnSpc>
            </a:pPr>
            <a:r>
              <a:rPr lang="en-US" sz="1999" b="true">
                <a:solidFill>
                  <a:srgbClr val="67534F"/>
                </a:solidFill>
                <a:latin typeface="Times New Roman Bold"/>
                <a:ea typeface="Times New Roman Bold"/>
                <a:cs typeface="Times New Roman Bold"/>
                <a:sym typeface="Times New Roman Bold"/>
              </a:rPr>
              <a:t>Daily volatility for Microsoft, demonstrating comparative risk assessment.</a:t>
            </a:r>
          </a:p>
        </p:txBody>
      </p:sp>
      <p:sp>
        <p:nvSpPr>
          <p:cNvPr name="TextBox 15" id="15"/>
          <p:cNvSpPr txBox="true"/>
          <p:nvPr/>
        </p:nvSpPr>
        <p:spPr>
          <a:xfrm rot="0">
            <a:off x="989559" y="5915174"/>
            <a:ext cx="9592121" cy="508000"/>
          </a:xfrm>
          <a:prstGeom prst="rect">
            <a:avLst/>
          </a:prstGeom>
        </p:spPr>
        <p:txBody>
          <a:bodyPr anchor="t" rtlCol="false" tIns="0" lIns="0" bIns="0" rIns="0">
            <a:spAutoFit/>
          </a:bodyPr>
          <a:lstStyle/>
          <a:p>
            <a:pPr algn="l">
              <a:lnSpc>
                <a:spcPts val="2000"/>
              </a:lnSpc>
            </a:pPr>
            <a:r>
              <a:rPr lang="en-US" sz="1500">
                <a:solidFill>
                  <a:srgbClr val="67534F"/>
                </a:solidFill>
                <a:latin typeface="Times New Roman"/>
                <a:ea typeface="Times New Roman"/>
                <a:cs typeface="Times New Roman"/>
                <a:sym typeface="Times New Roman"/>
              </a:rPr>
              <a:t>Trend Analysis: We analyzed TSLA by plotting both the 50-day and 200-day SMAs, allowing active traders to spot key trend changes (e.g., Golden Cross/Death Cross signals).</a:t>
            </a:r>
          </a:p>
        </p:txBody>
      </p:sp>
      <p:sp>
        <p:nvSpPr>
          <p:cNvPr name="TextBox 16" id="16"/>
          <p:cNvSpPr txBox="true"/>
          <p:nvPr/>
        </p:nvSpPr>
        <p:spPr>
          <a:xfrm rot="0">
            <a:off x="989559" y="6604149"/>
            <a:ext cx="3414118" cy="332341"/>
          </a:xfrm>
          <a:prstGeom prst="rect">
            <a:avLst/>
          </a:prstGeom>
        </p:spPr>
        <p:txBody>
          <a:bodyPr anchor="t" rtlCol="false" tIns="0" lIns="0" bIns="0" rIns="0">
            <a:spAutoFit/>
          </a:bodyPr>
          <a:lstStyle/>
          <a:p>
            <a:pPr algn="l">
              <a:lnSpc>
                <a:spcPts val="2558"/>
              </a:lnSpc>
            </a:pPr>
            <a:r>
              <a:rPr lang="en-US" sz="2000" b="true">
                <a:solidFill>
                  <a:srgbClr val="532418"/>
                </a:solidFill>
                <a:latin typeface="Times New Roman Bold"/>
                <a:ea typeface="Times New Roman Bold"/>
                <a:cs typeface="Times New Roman Bold"/>
                <a:sym typeface="Times New Roman Bold"/>
              </a:rPr>
              <a:t>Rigorous Validation</a:t>
            </a:r>
          </a:p>
        </p:txBody>
      </p:sp>
      <p:sp>
        <p:nvSpPr>
          <p:cNvPr name="TextBox 17" id="17"/>
          <p:cNvSpPr txBox="true"/>
          <p:nvPr/>
        </p:nvSpPr>
        <p:spPr>
          <a:xfrm rot="0">
            <a:off x="989559" y="7170614"/>
            <a:ext cx="9592121" cy="508000"/>
          </a:xfrm>
          <a:prstGeom prst="rect">
            <a:avLst/>
          </a:prstGeom>
        </p:spPr>
        <p:txBody>
          <a:bodyPr anchor="t" rtlCol="false" tIns="0" lIns="0" bIns="0" rIns="0">
            <a:spAutoFit/>
          </a:bodyPr>
          <a:lstStyle/>
          <a:p>
            <a:pPr algn="l">
              <a:lnSpc>
                <a:spcPts val="2000"/>
              </a:lnSpc>
            </a:pPr>
            <a:r>
              <a:rPr lang="en-US" sz="1500">
                <a:solidFill>
                  <a:srgbClr val="67534F"/>
                </a:solidFill>
                <a:latin typeface="Times New Roman"/>
                <a:ea typeface="Times New Roman"/>
                <a:cs typeface="Times New Roman"/>
                <a:sym typeface="Times New Roman"/>
              </a:rPr>
              <a:t>The program was rigorously validated. For example, Test Case 2 confirmed that an invalid ticker ('INVALID123') successfully resulted in the user-friendly message "</a:t>
            </a:r>
            <a:r>
              <a:rPr lang="en-US" sz="1500">
                <a:solidFill>
                  <a:srgbClr val="241512"/>
                </a:solidFill>
                <a:latin typeface="Times New Roman"/>
                <a:ea typeface="Times New Roman"/>
                <a:cs typeface="Times New Roman"/>
                <a:sym typeface="Times New Roman"/>
              </a:rPr>
              <a:t>Ticker not found: Please check your symbol,"</a:t>
            </a:r>
            <a:r>
              <a:rPr lang="en-US" sz="1500">
                <a:solidFill>
                  <a:srgbClr val="67534F"/>
                </a:solidFill>
                <a:latin typeface="Times New Roman"/>
                <a:ea typeface="Times New Roman"/>
                <a:cs typeface="Times New Roman"/>
                <a:sym typeface="Times New Roman"/>
              </a:rPr>
              <a:t> rather than a crash.</a:t>
            </a:r>
          </a:p>
        </p:txBody>
      </p:sp>
      <p:sp>
        <p:nvSpPr>
          <p:cNvPr name="TextBox 18" id="18"/>
          <p:cNvSpPr txBox="true"/>
          <p:nvPr/>
        </p:nvSpPr>
        <p:spPr>
          <a:xfrm rot="0">
            <a:off x="989559" y="7857976"/>
            <a:ext cx="3414118" cy="332341"/>
          </a:xfrm>
          <a:prstGeom prst="rect">
            <a:avLst/>
          </a:prstGeom>
        </p:spPr>
        <p:txBody>
          <a:bodyPr anchor="t" rtlCol="false" tIns="0" lIns="0" bIns="0" rIns="0">
            <a:spAutoFit/>
          </a:bodyPr>
          <a:lstStyle/>
          <a:p>
            <a:pPr algn="l">
              <a:lnSpc>
                <a:spcPts val="2558"/>
              </a:lnSpc>
            </a:pPr>
            <a:r>
              <a:rPr lang="en-US" sz="2000">
                <a:solidFill>
                  <a:srgbClr val="532418"/>
                </a:solidFill>
                <a:latin typeface="Times New Roman"/>
                <a:ea typeface="Times New Roman"/>
                <a:cs typeface="Times New Roman"/>
                <a:sym typeface="Times New Roman"/>
              </a:rPr>
              <a:t>Project Summary</a:t>
            </a:r>
          </a:p>
        </p:txBody>
      </p:sp>
      <p:sp>
        <p:nvSpPr>
          <p:cNvPr name="TextBox 19" id="19"/>
          <p:cNvSpPr txBox="true"/>
          <p:nvPr/>
        </p:nvSpPr>
        <p:spPr>
          <a:xfrm rot="0">
            <a:off x="989559" y="8490049"/>
            <a:ext cx="9592121" cy="260350"/>
          </a:xfrm>
          <a:prstGeom prst="rect">
            <a:avLst/>
          </a:prstGeom>
        </p:spPr>
        <p:txBody>
          <a:bodyPr anchor="t" rtlCol="false" tIns="0" lIns="0" bIns="0" rIns="0">
            <a:spAutoFit/>
          </a:bodyPr>
          <a:lstStyle/>
          <a:p>
            <a:pPr algn="l" marL="226219" indent="-113109" lvl="1">
              <a:lnSpc>
                <a:spcPts val="2000"/>
              </a:lnSpc>
              <a:buFont typeface="Arial"/>
              <a:buChar char="•"/>
            </a:pPr>
            <a:r>
              <a:rPr lang="en-US" sz="1500">
                <a:solidFill>
                  <a:srgbClr val="67534F"/>
                </a:solidFill>
                <a:latin typeface="Times New Roman"/>
                <a:ea typeface="Times New Roman"/>
                <a:cs typeface="Times New Roman"/>
                <a:sym typeface="Times New Roman"/>
              </a:rPr>
              <a:t>Successfully achieved the automation of data acquisition.</a:t>
            </a:r>
          </a:p>
        </p:txBody>
      </p:sp>
      <p:sp>
        <p:nvSpPr>
          <p:cNvPr name="TextBox 20" id="20"/>
          <p:cNvSpPr txBox="true"/>
          <p:nvPr/>
        </p:nvSpPr>
        <p:spPr>
          <a:xfrm rot="0">
            <a:off x="989559" y="8816579"/>
            <a:ext cx="9592121" cy="260350"/>
          </a:xfrm>
          <a:prstGeom prst="rect">
            <a:avLst/>
          </a:prstGeom>
        </p:spPr>
        <p:txBody>
          <a:bodyPr anchor="t" rtlCol="false" tIns="0" lIns="0" bIns="0" rIns="0">
            <a:spAutoFit/>
          </a:bodyPr>
          <a:lstStyle/>
          <a:p>
            <a:pPr algn="l" marL="226219" indent="-113109" lvl="1">
              <a:lnSpc>
                <a:spcPts val="2000"/>
              </a:lnSpc>
              <a:buFont typeface="Arial"/>
              <a:buChar char="•"/>
            </a:pPr>
            <a:r>
              <a:rPr lang="en-US" sz="1500">
                <a:solidFill>
                  <a:srgbClr val="67534F"/>
                </a:solidFill>
                <a:latin typeface="Times New Roman"/>
                <a:ea typeface="Times New Roman"/>
                <a:cs typeface="Times New Roman"/>
                <a:sym typeface="Times New Roman"/>
              </a:rPr>
              <a:t>Enhanced resilience through defensive programming.</a:t>
            </a:r>
          </a:p>
        </p:txBody>
      </p:sp>
      <p:sp>
        <p:nvSpPr>
          <p:cNvPr name="TextBox 21" id="21"/>
          <p:cNvSpPr txBox="true"/>
          <p:nvPr/>
        </p:nvSpPr>
        <p:spPr>
          <a:xfrm rot="0">
            <a:off x="989559" y="9143108"/>
            <a:ext cx="9592121" cy="260350"/>
          </a:xfrm>
          <a:prstGeom prst="rect">
            <a:avLst/>
          </a:prstGeom>
        </p:spPr>
        <p:txBody>
          <a:bodyPr anchor="t" rtlCol="false" tIns="0" lIns="0" bIns="0" rIns="0">
            <a:spAutoFit/>
          </a:bodyPr>
          <a:lstStyle/>
          <a:p>
            <a:pPr algn="l" marL="226219" indent="-113109" lvl="1">
              <a:lnSpc>
                <a:spcPts val="2000"/>
              </a:lnSpc>
              <a:buFont typeface="Arial"/>
              <a:buChar char="•"/>
            </a:pPr>
            <a:r>
              <a:rPr lang="en-US" sz="1500">
                <a:solidFill>
                  <a:srgbClr val="67534F"/>
                </a:solidFill>
                <a:latin typeface="Times New Roman"/>
                <a:ea typeface="Times New Roman"/>
                <a:cs typeface="Times New Roman"/>
                <a:sym typeface="Times New Roman"/>
              </a:rPr>
              <a:t>Provided immediate data insight via visualization.</a:t>
            </a:r>
          </a:p>
        </p:txBody>
      </p:sp>
      <p:grpSp>
        <p:nvGrpSpPr>
          <p:cNvPr name="Group 22" id="22"/>
          <p:cNvGrpSpPr>
            <a:grpSpLocks noChangeAspect="true"/>
          </p:cNvGrpSpPr>
          <p:nvPr/>
        </p:nvGrpSpPr>
        <p:grpSpPr>
          <a:xfrm rot="0">
            <a:off x="12405882" y="2900957"/>
            <a:ext cx="4363640" cy="4363641"/>
            <a:chOff x="0" y="0"/>
            <a:chExt cx="5818187" cy="5818188"/>
          </a:xfrm>
        </p:grpSpPr>
        <p:sp>
          <p:nvSpPr>
            <p:cNvPr name="Freeform 23" id="23" descr="preencoded.png"/>
            <p:cNvSpPr/>
            <p:nvPr/>
          </p:nvSpPr>
          <p:spPr>
            <a:xfrm flipH="false" flipV="false" rot="0">
              <a:off x="0" y="0"/>
              <a:ext cx="5818124" cy="5818251"/>
            </a:xfrm>
            <a:custGeom>
              <a:avLst/>
              <a:gdLst/>
              <a:ahLst/>
              <a:cxnLst/>
              <a:rect r="r" b="b" t="t" l="l"/>
              <a:pathLst>
                <a:path h="5818251" w="5818124">
                  <a:moveTo>
                    <a:pt x="0" y="0"/>
                  </a:moveTo>
                  <a:lnTo>
                    <a:pt x="5818124" y="0"/>
                  </a:lnTo>
                  <a:lnTo>
                    <a:pt x="5818124" y="5818251"/>
                  </a:lnTo>
                  <a:lnTo>
                    <a:pt x="0" y="5818251"/>
                  </a:lnTo>
                  <a:lnTo>
                    <a:pt x="0" y="0"/>
                  </a:lnTo>
                  <a:close/>
                </a:path>
              </a:pathLst>
            </a:custGeom>
            <a:blipFill>
              <a:blip r:embed="rId3"/>
              <a:stretch>
                <a:fillRect l="0" t="0" r="-1" b="1"/>
              </a:stretch>
            </a:blipFill>
          </p:spPr>
        </p:sp>
      </p:grpSp>
      <p:sp>
        <p:nvSpPr>
          <p:cNvPr name="Freeform 24" id="24"/>
          <p:cNvSpPr/>
          <p:nvPr/>
        </p:nvSpPr>
        <p:spPr>
          <a:xfrm flipH="false" flipV="false" rot="-10800000">
            <a:off x="0" y="0"/>
            <a:ext cx="885361" cy="1140395"/>
          </a:xfrm>
          <a:custGeom>
            <a:avLst/>
            <a:gdLst/>
            <a:ahLst/>
            <a:cxnLst/>
            <a:rect r="r" b="b" t="t" l="l"/>
            <a:pathLst>
              <a:path h="1140395" w="885361">
                <a:moveTo>
                  <a:pt x="0" y="0"/>
                </a:moveTo>
                <a:lnTo>
                  <a:pt x="885361" y="0"/>
                </a:lnTo>
                <a:lnTo>
                  <a:pt x="885361" y="1140395"/>
                </a:lnTo>
                <a:lnTo>
                  <a:pt x="0" y="11403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0" y="9403458"/>
            <a:ext cx="631856" cy="813866"/>
          </a:xfrm>
          <a:custGeom>
            <a:avLst/>
            <a:gdLst/>
            <a:ahLst/>
            <a:cxnLst/>
            <a:rect r="r" b="b" t="t" l="l"/>
            <a:pathLst>
              <a:path h="813866" w="631856">
                <a:moveTo>
                  <a:pt x="0" y="0"/>
                </a:moveTo>
                <a:lnTo>
                  <a:pt x="631856" y="0"/>
                </a:lnTo>
                <a:lnTo>
                  <a:pt x="631856" y="813866"/>
                </a:lnTo>
                <a:lnTo>
                  <a:pt x="0" y="8138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C8AB"/>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4">
                <a:alpha val="90196"/>
              </a:srgbClr>
            </a:solidFill>
            <a:ln w="12700">
              <a:solidFill>
                <a:srgbClr val="000000"/>
              </a:solidFill>
            </a:ln>
          </p:spPr>
        </p:sp>
      </p:grpSp>
      <p:grpSp>
        <p:nvGrpSpPr>
          <p:cNvPr name="Group 6" id="6"/>
          <p:cNvGrpSpPr>
            <a:grpSpLocks noChangeAspect="true"/>
          </p:cNvGrpSpPr>
          <p:nvPr/>
        </p:nvGrpSpPr>
        <p:grpSpPr>
          <a:xfrm rot="0">
            <a:off x="11087100" y="0"/>
            <a:ext cx="7200900" cy="10287000"/>
            <a:chOff x="0" y="0"/>
            <a:chExt cx="9601200" cy="13716000"/>
          </a:xfrm>
        </p:grpSpPr>
        <p:sp>
          <p:nvSpPr>
            <p:cNvPr name="Freeform 7" id="7" descr="preencoded.png"/>
            <p:cNvSpPr/>
            <p:nvPr/>
          </p:nvSpPr>
          <p:spPr>
            <a:xfrm flipH="false" flipV="false" rot="0">
              <a:off x="0" y="0"/>
              <a:ext cx="9601200" cy="13716000"/>
            </a:xfrm>
            <a:custGeom>
              <a:avLst/>
              <a:gdLst/>
              <a:ahLst/>
              <a:cxnLst/>
              <a:rect r="r" b="b" t="t" l="l"/>
              <a:pathLst>
                <a:path h="13716000" w="9601200">
                  <a:moveTo>
                    <a:pt x="0" y="0"/>
                  </a:moveTo>
                  <a:lnTo>
                    <a:pt x="9601200" y="0"/>
                  </a:lnTo>
                  <a:lnTo>
                    <a:pt x="96012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992238" y="799059"/>
            <a:ext cx="9445526" cy="693513"/>
          </a:xfrm>
          <a:prstGeom prst="rect">
            <a:avLst/>
          </a:prstGeom>
        </p:spPr>
        <p:txBody>
          <a:bodyPr anchor="t" rtlCol="false" tIns="0" lIns="0" bIns="0" rIns="0">
            <a:spAutoFit/>
          </a:bodyPr>
          <a:lstStyle/>
          <a:p>
            <a:pPr algn="l">
              <a:lnSpc>
                <a:spcPts val="5429"/>
              </a:lnSpc>
            </a:pPr>
            <a:r>
              <a:rPr lang="en-US" sz="4200">
                <a:solidFill>
                  <a:srgbClr val="532418"/>
                </a:solidFill>
                <a:latin typeface="Times New Roman"/>
                <a:ea typeface="Times New Roman"/>
                <a:cs typeface="Times New Roman"/>
                <a:sym typeface="Times New Roman"/>
              </a:rPr>
              <a:t>Conclusion and Future Recommendations</a:t>
            </a:r>
          </a:p>
        </p:txBody>
      </p:sp>
      <p:sp>
        <p:nvSpPr>
          <p:cNvPr name="TextBox 9" id="9"/>
          <p:cNvSpPr txBox="true"/>
          <p:nvPr/>
        </p:nvSpPr>
        <p:spPr>
          <a:xfrm rot="0">
            <a:off x="992236" y="2080871"/>
            <a:ext cx="9445526" cy="1685471"/>
          </a:xfrm>
          <a:prstGeom prst="rect">
            <a:avLst/>
          </a:prstGeom>
        </p:spPr>
        <p:txBody>
          <a:bodyPr anchor="t" rtlCol="false" tIns="0" lIns="0" bIns="0" rIns="0">
            <a:spAutoFit/>
          </a:bodyPr>
          <a:lstStyle/>
          <a:p>
            <a:pPr algn="l">
              <a:lnSpc>
                <a:spcPts val="3303"/>
              </a:lnSpc>
            </a:pPr>
            <a:r>
              <a:rPr lang="en-US" sz="2499">
                <a:solidFill>
                  <a:srgbClr val="67534F"/>
                </a:solidFill>
                <a:latin typeface="Times New Roman"/>
                <a:ea typeface="Times New Roman"/>
                <a:cs typeface="Times New Roman"/>
                <a:sym typeface="Times New Roman"/>
              </a:rPr>
              <a:t>The FinSight project successfully delivered a complete, reliable, and modular financial time-series analysis framework, effectively applying Python techniques for API management, dataframes, and robust error handling.</a:t>
            </a:r>
          </a:p>
        </p:txBody>
      </p:sp>
      <p:grpSp>
        <p:nvGrpSpPr>
          <p:cNvPr name="Group 10" id="10"/>
          <p:cNvGrpSpPr>
            <a:grpSpLocks noChangeAspect="true"/>
          </p:cNvGrpSpPr>
          <p:nvPr/>
        </p:nvGrpSpPr>
        <p:grpSpPr>
          <a:xfrm rot="0">
            <a:off x="992238" y="4031456"/>
            <a:ext cx="1134070" cy="1603176"/>
            <a:chOff x="0" y="0"/>
            <a:chExt cx="1512093" cy="2137568"/>
          </a:xfrm>
        </p:grpSpPr>
        <p:sp>
          <p:nvSpPr>
            <p:cNvPr name="Freeform 11" id="11" descr="preencoded.png"/>
            <p:cNvSpPr/>
            <p:nvPr/>
          </p:nvSpPr>
          <p:spPr>
            <a:xfrm flipH="false" flipV="false" rot="0">
              <a:off x="0" y="0"/>
              <a:ext cx="1512062" cy="2137537"/>
            </a:xfrm>
            <a:custGeom>
              <a:avLst/>
              <a:gdLst/>
              <a:ahLst/>
              <a:cxnLst/>
              <a:rect r="r" b="b" t="t" l="l"/>
              <a:pathLst>
                <a:path h="2137537" w="1512062">
                  <a:moveTo>
                    <a:pt x="0" y="0"/>
                  </a:moveTo>
                  <a:lnTo>
                    <a:pt x="1512062" y="0"/>
                  </a:lnTo>
                  <a:lnTo>
                    <a:pt x="1512062" y="2137537"/>
                  </a:lnTo>
                  <a:lnTo>
                    <a:pt x="0" y="2137537"/>
                  </a:lnTo>
                  <a:lnTo>
                    <a:pt x="0" y="0"/>
                  </a:lnTo>
                  <a:close/>
                </a:path>
              </a:pathLst>
            </a:custGeom>
            <a:blipFill>
              <a:blip r:embed="rId4"/>
              <a:stretch>
                <a:fillRect l="-66" t="0" r="-68" b="-1"/>
              </a:stretch>
            </a:blipFill>
          </p:spPr>
        </p:sp>
      </p:grpSp>
      <p:sp>
        <p:nvSpPr>
          <p:cNvPr name="TextBox 12" id="12"/>
          <p:cNvSpPr txBox="true"/>
          <p:nvPr/>
        </p:nvSpPr>
        <p:spPr>
          <a:xfrm rot="0">
            <a:off x="2353121" y="4229695"/>
            <a:ext cx="3260526" cy="328884"/>
          </a:xfrm>
          <a:prstGeom prst="rect">
            <a:avLst/>
          </a:prstGeom>
        </p:spPr>
        <p:txBody>
          <a:bodyPr anchor="t" rtlCol="false" tIns="0" lIns="0" bIns="0" rIns="0">
            <a:spAutoFit/>
          </a:bodyPr>
          <a:lstStyle/>
          <a:p>
            <a:pPr algn="l">
              <a:lnSpc>
                <a:spcPts val="2585"/>
              </a:lnSpc>
            </a:pPr>
            <a:r>
              <a:rPr lang="en-US" sz="1999" b="true">
                <a:solidFill>
                  <a:srgbClr val="67534F"/>
                </a:solidFill>
                <a:latin typeface="Times New Roman Bold"/>
                <a:ea typeface="Times New Roman Bold"/>
                <a:cs typeface="Times New Roman Bold"/>
                <a:sym typeface="Times New Roman Bold"/>
              </a:rPr>
              <a:t>User Experience</a:t>
            </a:r>
          </a:p>
        </p:txBody>
      </p:sp>
      <p:sp>
        <p:nvSpPr>
          <p:cNvPr name="TextBox 13" id="13"/>
          <p:cNvSpPr txBox="true"/>
          <p:nvPr/>
        </p:nvSpPr>
        <p:spPr>
          <a:xfrm rot="0">
            <a:off x="2353121" y="4789586"/>
            <a:ext cx="8084641" cy="500743"/>
          </a:xfrm>
          <a:prstGeom prst="rect">
            <a:avLst/>
          </a:prstGeom>
        </p:spPr>
        <p:txBody>
          <a:bodyPr anchor="t" rtlCol="false" tIns="0" lIns="0" bIns="0" rIns="0">
            <a:spAutoFit/>
          </a:bodyPr>
          <a:lstStyle/>
          <a:p>
            <a:pPr algn="l">
              <a:lnSpc>
                <a:spcPts val="1982"/>
              </a:lnSpc>
            </a:pPr>
            <a:r>
              <a:rPr lang="en-US" sz="1500">
                <a:solidFill>
                  <a:srgbClr val="67534F"/>
                </a:solidFill>
                <a:latin typeface="Times New Roman"/>
                <a:ea typeface="Times New Roman"/>
                <a:cs typeface="Times New Roman"/>
                <a:sym typeface="Times New Roman"/>
              </a:rPr>
              <a:t>Transition from the current CLI to a GUI (e.g., Streamlit, Tkinter) to make FinSight more accessible for non-technical users.</a:t>
            </a:r>
          </a:p>
        </p:txBody>
      </p:sp>
      <p:grpSp>
        <p:nvGrpSpPr>
          <p:cNvPr name="Group 14" id="14"/>
          <p:cNvGrpSpPr>
            <a:grpSpLocks noChangeAspect="true"/>
          </p:cNvGrpSpPr>
          <p:nvPr/>
        </p:nvGrpSpPr>
        <p:grpSpPr>
          <a:xfrm rot="0">
            <a:off x="992238" y="5634632"/>
            <a:ext cx="1134070" cy="1898005"/>
            <a:chOff x="0" y="0"/>
            <a:chExt cx="1512093" cy="2530673"/>
          </a:xfrm>
        </p:grpSpPr>
        <p:sp>
          <p:nvSpPr>
            <p:cNvPr name="Freeform 15" id="15" descr="preencoded.png"/>
            <p:cNvSpPr/>
            <p:nvPr/>
          </p:nvSpPr>
          <p:spPr>
            <a:xfrm flipH="false" flipV="false" rot="0">
              <a:off x="0" y="0"/>
              <a:ext cx="1512062" cy="2530729"/>
            </a:xfrm>
            <a:custGeom>
              <a:avLst/>
              <a:gdLst/>
              <a:ahLst/>
              <a:cxnLst/>
              <a:rect r="r" b="b" t="t" l="l"/>
              <a:pathLst>
                <a:path h="2530729" w="1512062">
                  <a:moveTo>
                    <a:pt x="0" y="0"/>
                  </a:moveTo>
                  <a:lnTo>
                    <a:pt x="1512062" y="0"/>
                  </a:lnTo>
                  <a:lnTo>
                    <a:pt x="1512062" y="2530729"/>
                  </a:lnTo>
                  <a:lnTo>
                    <a:pt x="0" y="2530729"/>
                  </a:lnTo>
                  <a:lnTo>
                    <a:pt x="0" y="0"/>
                  </a:lnTo>
                  <a:close/>
                </a:path>
              </a:pathLst>
            </a:custGeom>
            <a:blipFill>
              <a:blip r:embed="rId5"/>
              <a:stretch>
                <a:fillRect l="-40" t="0" r="-42" b="2"/>
              </a:stretch>
            </a:blipFill>
          </p:spPr>
        </p:sp>
      </p:grpSp>
      <p:sp>
        <p:nvSpPr>
          <p:cNvPr name="TextBox 16" id="16"/>
          <p:cNvSpPr txBox="true"/>
          <p:nvPr/>
        </p:nvSpPr>
        <p:spPr>
          <a:xfrm rot="0">
            <a:off x="2353121" y="5832872"/>
            <a:ext cx="3260526" cy="328884"/>
          </a:xfrm>
          <a:prstGeom prst="rect">
            <a:avLst/>
          </a:prstGeom>
        </p:spPr>
        <p:txBody>
          <a:bodyPr anchor="t" rtlCol="false" tIns="0" lIns="0" bIns="0" rIns="0">
            <a:spAutoFit/>
          </a:bodyPr>
          <a:lstStyle/>
          <a:p>
            <a:pPr algn="l">
              <a:lnSpc>
                <a:spcPts val="2585"/>
              </a:lnSpc>
            </a:pPr>
            <a:r>
              <a:rPr lang="en-US" sz="2000" b="true">
                <a:solidFill>
                  <a:srgbClr val="67534F"/>
                </a:solidFill>
                <a:latin typeface="Times New Roman Bold"/>
                <a:ea typeface="Times New Roman Bold"/>
                <a:cs typeface="Times New Roman Bold"/>
                <a:sym typeface="Times New Roman Bold"/>
              </a:rPr>
              <a:t>Analytical Depth</a:t>
            </a:r>
          </a:p>
        </p:txBody>
      </p:sp>
      <p:sp>
        <p:nvSpPr>
          <p:cNvPr name="TextBox 17" id="17"/>
          <p:cNvSpPr txBox="true"/>
          <p:nvPr/>
        </p:nvSpPr>
        <p:spPr>
          <a:xfrm rot="0">
            <a:off x="2353121" y="6392764"/>
            <a:ext cx="8084641" cy="500743"/>
          </a:xfrm>
          <a:prstGeom prst="rect">
            <a:avLst/>
          </a:prstGeom>
        </p:spPr>
        <p:txBody>
          <a:bodyPr anchor="t" rtlCol="false" tIns="0" lIns="0" bIns="0" rIns="0">
            <a:spAutoFit/>
          </a:bodyPr>
          <a:lstStyle/>
          <a:p>
            <a:pPr algn="l">
              <a:lnSpc>
                <a:spcPts val="1982"/>
              </a:lnSpc>
            </a:pPr>
            <a:r>
              <a:rPr lang="en-US" sz="1500">
                <a:solidFill>
                  <a:srgbClr val="67534F"/>
                </a:solidFill>
                <a:latin typeface="Times New Roman"/>
                <a:ea typeface="Times New Roman"/>
                <a:cs typeface="Times New Roman"/>
                <a:sym typeface="Times New Roman"/>
              </a:rPr>
              <a:t>Integrate specialized libraries like TA-Lib to expand analytical capabilities with a wider range of technical indicators beyond SMA, such as RSI.</a:t>
            </a:r>
          </a:p>
        </p:txBody>
      </p:sp>
      <p:grpSp>
        <p:nvGrpSpPr>
          <p:cNvPr name="Group 18" id="18"/>
          <p:cNvGrpSpPr>
            <a:grpSpLocks noChangeAspect="true"/>
          </p:cNvGrpSpPr>
          <p:nvPr/>
        </p:nvGrpSpPr>
        <p:grpSpPr>
          <a:xfrm rot="0">
            <a:off x="992238" y="7532637"/>
            <a:ext cx="1134070" cy="1898005"/>
            <a:chOff x="0" y="0"/>
            <a:chExt cx="1512093" cy="2530673"/>
          </a:xfrm>
        </p:grpSpPr>
        <p:sp>
          <p:nvSpPr>
            <p:cNvPr name="Freeform 19" id="19" descr="preencoded.png"/>
            <p:cNvSpPr/>
            <p:nvPr/>
          </p:nvSpPr>
          <p:spPr>
            <a:xfrm flipH="false" flipV="false" rot="0">
              <a:off x="0" y="0"/>
              <a:ext cx="1512062" cy="2530729"/>
            </a:xfrm>
            <a:custGeom>
              <a:avLst/>
              <a:gdLst/>
              <a:ahLst/>
              <a:cxnLst/>
              <a:rect r="r" b="b" t="t" l="l"/>
              <a:pathLst>
                <a:path h="2530729" w="1512062">
                  <a:moveTo>
                    <a:pt x="0" y="0"/>
                  </a:moveTo>
                  <a:lnTo>
                    <a:pt x="1512062" y="0"/>
                  </a:lnTo>
                  <a:lnTo>
                    <a:pt x="1512062" y="2530729"/>
                  </a:lnTo>
                  <a:lnTo>
                    <a:pt x="0" y="2530729"/>
                  </a:lnTo>
                  <a:lnTo>
                    <a:pt x="0" y="0"/>
                  </a:lnTo>
                  <a:close/>
                </a:path>
              </a:pathLst>
            </a:custGeom>
            <a:blipFill>
              <a:blip r:embed="rId6"/>
              <a:stretch>
                <a:fillRect l="-40" t="0" r="-42" b="2"/>
              </a:stretch>
            </a:blipFill>
          </p:spPr>
        </p:sp>
      </p:grpSp>
      <p:sp>
        <p:nvSpPr>
          <p:cNvPr name="TextBox 20" id="20"/>
          <p:cNvSpPr txBox="true"/>
          <p:nvPr/>
        </p:nvSpPr>
        <p:spPr>
          <a:xfrm rot="0">
            <a:off x="2353121" y="7730877"/>
            <a:ext cx="3260526" cy="328884"/>
          </a:xfrm>
          <a:prstGeom prst="rect">
            <a:avLst/>
          </a:prstGeom>
        </p:spPr>
        <p:txBody>
          <a:bodyPr anchor="t" rtlCol="false" tIns="0" lIns="0" bIns="0" rIns="0">
            <a:spAutoFit/>
          </a:bodyPr>
          <a:lstStyle/>
          <a:p>
            <a:pPr algn="l">
              <a:lnSpc>
                <a:spcPts val="2585"/>
              </a:lnSpc>
            </a:pPr>
            <a:r>
              <a:rPr lang="en-US" sz="2000" b="true">
                <a:solidFill>
                  <a:srgbClr val="67534F"/>
                </a:solidFill>
                <a:latin typeface="Times New Roman Bold"/>
                <a:ea typeface="Times New Roman Bold"/>
                <a:cs typeface="Times New Roman Bold"/>
                <a:sym typeface="Times New Roman Bold"/>
              </a:rPr>
              <a:t>Real-Time Capabilities</a:t>
            </a:r>
          </a:p>
        </p:txBody>
      </p:sp>
      <p:sp>
        <p:nvSpPr>
          <p:cNvPr name="TextBox 21" id="21"/>
          <p:cNvSpPr txBox="true"/>
          <p:nvPr/>
        </p:nvSpPr>
        <p:spPr>
          <a:xfrm rot="0">
            <a:off x="2353121" y="8290769"/>
            <a:ext cx="8084641" cy="500743"/>
          </a:xfrm>
          <a:prstGeom prst="rect">
            <a:avLst/>
          </a:prstGeom>
        </p:spPr>
        <p:txBody>
          <a:bodyPr anchor="t" rtlCol="false" tIns="0" lIns="0" bIns="0" rIns="0">
            <a:spAutoFit/>
          </a:bodyPr>
          <a:lstStyle/>
          <a:p>
            <a:pPr algn="l">
              <a:lnSpc>
                <a:spcPts val="1982"/>
              </a:lnSpc>
            </a:pPr>
            <a:r>
              <a:rPr lang="en-US" sz="1500">
                <a:solidFill>
                  <a:srgbClr val="67534F"/>
                </a:solidFill>
                <a:latin typeface="Times New Roman"/>
                <a:ea typeface="Times New Roman"/>
                <a:cs typeface="Times New Roman"/>
                <a:sym typeface="Times New Roman"/>
              </a:rPr>
              <a:t>Implement WebSockets or frequent API polling for live data analysis, transforming FinSight into a high-performing real-time trading assistant.</a:t>
            </a:r>
          </a:p>
        </p:txBody>
      </p:sp>
      <p:sp>
        <p:nvSpPr>
          <p:cNvPr name="Freeform 22" id="22"/>
          <p:cNvSpPr/>
          <p:nvPr/>
        </p:nvSpPr>
        <p:spPr>
          <a:xfrm flipH="false" flipV="false" rot="0">
            <a:off x="7793742" y="9584539"/>
            <a:ext cx="1672526" cy="702461"/>
          </a:xfrm>
          <a:custGeom>
            <a:avLst/>
            <a:gdLst/>
            <a:ahLst/>
            <a:cxnLst/>
            <a:rect r="r" b="b" t="t" l="l"/>
            <a:pathLst>
              <a:path h="702461" w="1672526">
                <a:moveTo>
                  <a:pt x="0" y="0"/>
                </a:moveTo>
                <a:lnTo>
                  <a:pt x="1672526" y="0"/>
                </a:lnTo>
                <a:lnTo>
                  <a:pt x="1672526" y="702461"/>
                </a:lnTo>
                <a:lnTo>
                  <a:pt x="0" y="7024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C8AB"/>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4">
                <a:alpha val="90196"/>
              </a:srgbClr>
            </a:solidFill>
            <a:ln w="12700">
              <a:solidFill>
                <a:srgbClr val="000000"/>
              </a:solidFill>
            </a:ln>
          </p:spPr>
        </p:sp>
      </p:grpSp>
      <p:grpSp>
        <p:nvGrpSpPr>
          <p:cNvPr name="Group 6" id="6"/>
          <p:cNvGrpSpPr>
            <a:grpSpLocks noChangeAspect="true"/>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a:grpSpLocks noChangeAspect="true"/>
          </p:cNvGrpSpPr>
          <p:nvPr/>
        </p:nvGrpSpPr>
        <p:grpSpPr>
          <a:xfrm rot="0">
            <a:off x="0" y="0"/>
            <a:ext cx="18288000" cy="10287000"/>
            <a:chOff x="0" y="0"/>
            <a:chExt cx="24384000" cy="13716000"/>
          </a:xfrm>
        </p:grpSpPr>
        <p:sp>
          <p:nvSpPr>
            <p:cNvPr name="Freeform 9" id="9"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0" y="0"/>
            <a:ext cx="18288000" cy="10287000"/>
            <a:chOff x="0" y="0"/>
            <a:chExt cx="24384000" cy="13716000"/>
          </a:xfrm>
        </p:grpSpPr>
        <p:sp>
          <p:nvSpPr>
            <p:cNvPr name="Freeform 11" id="11"/>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4">
                <a:alpha val="72157"/>
              </a:srgbClr>
            </a:solidFill>
            <a:ln w="12700">
              <a:solidFill>
                <a:srgbClr val="000000"/>
              </a:solidFill>
            </a:ln>
          </p:spPr>
        </p:sp>
      </p:grpSp>
      <p:sp>
        <p:nvSpPr>
          <p:cNvPr name="TextBox 12" id="12"/>
          <p:cNvSpPr txBox="true"/>
          <p:nvPr/>
        </p:nvSpPr>
        <p:spPr>
          <a:xfrm rot="0">
            <a:off x="992237" y="3378845"/>
            <a:ext cx="16303229" cy="2071687"/>
          </a:xfrm>
          <a:prstGeom prst="rect">
            <a:avLst/>
          </a:prstGeom>
        </p:spPr>
        <p:txBody>
          <a:bodyPr anchor="t" rtlCol="false" tIns="0" lIns="0" bIns="0" rIns="0">
            <a:spAutoFit/>
          </a:bodyPr>
          <a:lstStyle/>
          <a:p>
            <a:pPr algn="ctr">
              <a:lnSpc>
                <a:spcPts val="16687"/>
              </a:lnSpc>
            </a:pPr>
            <a:r>
              <a:rPr lang="en-US" sz="12812">
                <a:solidFill>
                  <a:srgbClr val="532418"/>
                </a:solidFill>
                <a:latin typeface="Marcellus"/>
                <a:ea typeface="Marcellus"/>
                <a:cs typeface="Marcellus"/>
                <a:sym typeface="Marcellu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DAG7R_Gt_5Y</dc:identifier>
  <dcterms:modified xsi:type="dcterms:W3CDTF">2011-08-01T06:04:30Z</dcterms:modified>
  <cp:revision>1</cp:revision>
  <dc:title>FE 520.pptx</dc:title>
</cp:coreProperties>
</file>